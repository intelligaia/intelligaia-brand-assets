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jivkaul/Intelligaia-Brand-Assets/Intelligaia Slide Deck Skill/intelligaia-deck-design/assets/cover-arc-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20040"/>
            <a:ext cx="9601200" cy="6245352"/>
          </a:xfrm>
          <a:prstGeom prst="rect">
            <a:avLst/>
          </a:prstGeom>
        </p:spPr>
      </p:pic>
      <p:pic>
        <p:nvPicPr>
          <p:cNvPr id="3" name="Image 1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411480"/>
            <a:ext cx="201168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8056" y="205740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Readout &amp;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Templates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Client Readouts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48056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On-brand slide templates for project readouts, status updates, and OKR reviews — built to the IntelliGIA design system.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48056" y="5623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IntelliGIA Design Team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August 2026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 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v2 — updated cover &amp; typography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jivkaul/Intelligaia-Brand-Assets/Intelligaia Slide Deck Skill/intelligaia-deck-design/assets/arc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097280"/>
            <a:ext cx="6400800" cy="4160520"/>
          </a:xfrm>
          <a:prstGeom prst="rect">
            <a:avLst/>
          </a:prstGeom>
        </p:spPr>
      </p:pic>
      <p:pic>
        <p:nvPicPr>
          <p:cNvPr id="3" name="Image 1" descr="/Users/rajivkaul/Intelligaia-Brand-Assets/Intelligaia Slide Deck Skill/intelligaia-deck-design/assets/starburst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4028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0372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spc="200" kern="0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Shape 1"/>
          <p:cNvSpPr/>
          <p:nvPr/>
        </p:nvSpPr>
        <p:spPr>
          <a:xfrm>
            <a:off x="448056" y="105156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6" name="Text 2"/>
          <p:cNvSpPr/>
          <p:nvPr/>
        </p:nvSpPr>
        <p:spPr>
          <a:xfrm>
            <a:off x="448056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88136" y="1051560"/>
            <a:ext cx="5586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 — Action Items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88136" y="1380744"/>
            <a:ext cx="5586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Who owns what, by when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48056" y="201168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0" name="Text 6"/>
          <p:cNvSpPr/>
          <p:nvPr/>
        </p:nvSpPr>
        <p:spPr>
          <a:xfrm>
            <a:off x="448056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88136" y="2011680"/>
            <a:ext cx="5586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Update — Initiative Cards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088136" y="2340864"/>
            <a:ext cx="5586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Traffic-light view across workstreams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8056" y="297180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4" name="Text 10"/>
          <p:cNvSpPr/>
          <p:nvPr/>
        </p:nvSpPr>
        <p:spPr>
          <a:xfrm>
            <a:off x="448056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88136" y="2971800"/>
            <a:ext cx="5586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Update — Initiative Table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088136" y="3300984"/>
            <a:ext cx="5586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Structured table with due dates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8056" y="393192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088136" y="3931920"/>
            <a:ext cx="5586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 Tracker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1088136" y="4261104"/>
            <a:ext cx="5586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Priority, owner, completion 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48056" y="489204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2" name="Text 18"/>
          <p:cNvSpPr/>
          <p:nvPr/>
        </p:nvSpPr>
        <p:spPr>
          <a:xfrm>
            <a:off x="448056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88136" y="4892040"/>
            <a:ext cx="5586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Task Register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1088136" y="5221224"/>
            <a:ext cx="5586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Full task log with notes &amp; blockers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48056" y="585216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6" name="Text 22"/>
          <p:cNvSpPr/>
          <p:nvPr/>
        </p:nvSpPr>
        <p:spPr>
          <a:xfrm>
            <a:off x="448056" y="5852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088136" y="5852160"/>
            <a:ext cx="5586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OKRs &amp; Key Milestones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1088136" y="6181344"/>
            <a:ext cx="5586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Objectives, key results, and timeline</a:t>
            </a:r>
            <a:endParaRPr lang="en-US" sz="1200" dirty="0"/>
          </a:p>
        </p:txBody>
      </p:sp>
      <p:pic>
        <p:nvPicPr>
          <p:cNvPr id="29" name="Image 2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30" name="Image 3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2286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READOUT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056" y="502920"/>
            <a:ext cx="1130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 &amp; Action Items</a:t>
            </a:r>
            <a:endParaRPr lang="en-US" sz="3200" dirty="0"/>
          </a:p>
        </p:txBody>
      </p:sp>
      <p:pic>
        <p:nvPicPr>
          <p:cNvPr id="4" name="Image 0" descr="/Users/rajivkaul/Intelligaia-Brand-Assets/Intelligaia Slide Deck Skill/intelligaia-deck-design/assets/arc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3200400"/>
            <a:ext cx="5029200" cy="36576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" y="1234440"/>
          <a:ext cx="11301984" cy="4114800"/>
        </p:xfrm>
        <a:graphic>
          <a:graphicData uri="http://schemas.openxmlformats.org/drawingml/2006/table">
            <a:tbl>
              <a:tblPr/>
              <a:tblGrid>
                <a:gridCol w="2935224"/>
                <a:gridCol w="3959352"/>
                <a:gridCol w="2258568"/>
                <a:gridCol w="2148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Action Item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Description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Assigned To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Follow-up Date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Cost savings estimates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Verify preliminary cost savings estimates with HR and selected teams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Vendor evaluation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Complete vendor scoring matrix and shortlist top 3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Stakeholder alignment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Schedule alignment review with product, engineering, and design leads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Prototype feedback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Collect and synthesize user testing feedback from sprint 4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Risk register update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Refresh risk register with new items from latest review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[Insert 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48056" y="5943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7B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Source: [Insert source]</a:t>
            </a:r>
            <a:endParaRPr lang="en-US" sz="900" dirty="0"/>
          </a:p>
        </p:txBody>
      </p:sp>
      <p:pic>
        <p:nvPicPr>
          <p:cNvPr id="7" name="Image 1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8" name="Image 2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2286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 STATUS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056" y="502920"/>
            <a:ext cx="1130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Update — [Insert Date]</a:t>
            </a:r>
            <a:endParaRPr lang="en-US" sz="3200" dirty="0"/>
          </a:p>
        </p:txBody>
      </p:sp>
      <p:pic>
        <p:nvPicPr>
          <p:cNvPr id="4" name="Image 0" descr="/Users/rajivkaul/Intelligaia-Brand-Assets/Intelligaia Slide Deck Skill/intelligaia-deck-design/assets/arc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54864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" y="1280160"/>
            <a:ext cx="5422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4173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5A550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36776" y="138988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 &amp; Research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" y="17830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interviews complete; synthesizing personas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27648" y="1280160"/>
            <a:ext cx="5422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14173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5A550"/>
          </a:solidFill>
          <a:ln/>
        </p:spPr>
      </p:sp>
      <p:sp>
        <p:nvSpPr>
          <p:cNvPr id="12" name="Text 9"/>
          <p:cNvSpPr/>
          <p:nvPr/>
        </p:nvSpPr>
        <p:spPr>
          <a:xfrm>
            <a:off x="6464808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516368" y="138988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UX Design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64808" y="178308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Wireframes approved; hi-fi in progress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" y="2788920"/>
            <a:ext cx="5422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9260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RISK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36776" y="289864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Engineering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5216" y="329184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API integration blocked by auth service delay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27648" y="2788920"/>
            <a:ext cx="5422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4808" y="29260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5A550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516368" y="289864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Engineering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64808" y="329184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endpoints shipped; 2 remaining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8056" y="4297680"/>
            <a:ext cx="5422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5216" y="4434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46962"/>
          </a:solidFill>
          <a:ln/>
        </p:spPr>
      </p:sp>
      <p:sp>
        <p:nvSpPr>
          <p:cNvPr id="27" name="Text 24"/>
          <p:cNvSpPr/>
          <p:nvPr/>
        </p:nvSpPr>
        <p:spPr>
          <a:xfrm>
            <a:off x="585216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636776" y="440740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 &amp; Testing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5216" y="480060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Test coverage at 45% — needs ramp before release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27648" y="4297680"/>
            <a:ext cx="54223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64808" y="4434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5A550"/>
          </a:solidFill>
          <a:ln/>
        </p:spPr>
      </p:sp>
      <p:sp>
        <p:nvSpPr>
          <p:cNvPr id="32" name="Text 29"/>
          <p:cNvSpPr/>
          <p:nvPr/>
        </p:nvSpPr>
        <p:spPr>
          <a:xfrm>
            <a:off x="6464808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516368" y="440740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&amp; Deployment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64808" y="480060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Staging environment provisioned and healthy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48056" y="5897880"/>
            <a:ext cx="11301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Legend:  </a:t>
            </a:r>
            <a:pPr algn="l" indent="0" marL="0">
              <a:buNone/>
            </a:pPr>
            <a:r>
              <a:rPr lang="en-US" sz="1000" b="1" dirty="0">
                <a:solidFill>
                  <a:srgbClr val="05A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At risk</a:t>
            </a:r>
            <a:pPr algn="l" indent="0" marL="0">
              <a:buNone/>
            </a:pPr>
            <a:r>
              <a:rPr lang="en-US" sz="1000" b="1" dirty="0">
                <a:solidFill>
                  <a:srgbClr val="E469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Critical</a:t>
            </a:r>
            <a:endParaRPr lang="en-US" sz="1000" dirty="0"/>
          </a:p>
        </p:txBody>
      </p:sp>
      <p:pic>
        <p:nvPicPr>
          <p:cNvPr id="36" name="Image 1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37" name="Image 2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2286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 STATUS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056" y="502920"/>
            <a:ext cx="1130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Update — [Insert Date]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" y="1234440"/>
          <a:ext cx="11301984" cy="4297680"/>
        </p:xfrm>
        <a:graphic>
          <a:graphicData uri="http://schemas.openxmlformats.org/drawingml/2006/table">
            <a:tbl>
              <a:tblPr/>
              <a:tblGrid>
                <a:gridCol w="2258568"/>
                <a:gridCol w="4855464"/>
                <a:gridCol w="2029968"/>
                <a:gridCol w="2157984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Initiative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Update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Due Date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Discovery &amp; Research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User interviews complete; personas in synthesis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UX Design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Wireframes approved; hi-fi flows in progress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Frontend Engineering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API integration blocked — auth service delay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AT RISK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Backend Engineering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Core endpoints shipped; 2 remaining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QA &amp; Testing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Coverage at 45% — ramp needed before release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CRITICAL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96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DevOps &amp; Deploy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Staging provisioned and healthy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Stakeholder Review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Scheduled for end of sprint 5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48056" y="5897880"/>
            <a:ext cx="11301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Legend:  </a:t>
            </a:r>
            <a:pPr algn="l" indent="0" marL="0">
              <a:buNone/>
            </a:pPr>
            <a:r>
              <a:rPr lang="en-US" sz="1000" b="1" dirty="0">
                <a:solidFill>
                  <a:srgbClr val="05A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At risk</a:t>
            </a:r>
            <a:pPr algn="l" indent="0" marL="0">
              <a:buNone/>
            </a:pPr>
            <a:r>
              <a:rPr lang="en-US" sz="1000" b="1" dirty="0">
                <a:solidFill>
                  <a:srgbClr val="E469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Critical</a:t>
            </a:r>
            <a:endParaRPr lang="en-US" sz="1000" dirty="0"/>
          </a:p>
        </p:txBody>
      </p:sp>
      <p:pic>
        <p:nvPicPr>
          <p:cNvPr id="6" name="Image 0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7" name="Image 1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2286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056" y="502920"/>
            <a:ext cx="1130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 Tracker — [Insert Date]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" y="1234440"/>
          <a:ext cx="11301984" cy="4297680"/>
        </p:xfrm>
        <a:graphic>
          <a:graphicData uri="http://schemas.openxmlformats.org/drawingml/2006/table">
            <a:tbl>
              <a:tblPr/>
              <a:tblGrid>
                <a:gridCol w="3163824"/>
                <a:gridCol w="1133856"/>
                <a:gridCol w="1810512"/>
                <a:gridCol w="1353312"/>
                <a:gridCol w="2029968"/>
                <a:gridCol w="18105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Task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Priority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Assigned To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Due Date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Complete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Design system audit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HIGH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9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80%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API contract definition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HIGH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9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100%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DONE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Component library setup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MED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80%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Accessibility audit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MED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NOT STARTED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Integration testing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MED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100%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DONE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Documentation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LOW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100%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DONE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Performance optimization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LOW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60%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48056" y="5897880"/>
            <a:ext cx="11301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Legend:  </a:t>
            </a:r>
            <a:pPr algn="l" indent="0" marL="0">
              <a:buNone/>
            </a:pPr>
            <a:r>
              <a:rPr lang="en-US" sz="1000" b="1" dirty="0">
                <a:solidFill>
                  <a:srgbClr val="05A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pPr algn="l" indent="0" marL="0">
              <a:buNone/>
            </a:pPr>
            <a:r>
              <a:rPr lang="en-US" sz="1000" b="1" dirty="0">
                <a:solidFill>
                  <a:srgbClr val="2AAB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Done</a:t>
            </a:r>
            <a:pPr algn="l" indent="0" marL="0">
              <a:buNone/>
            </a:pPr>
            <a:r>
              <a:rPr lang="en-US" sz="1000" b="1" dirty="0">
                <a:solidFill>
                  <a:srgbClr val="E469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Overdue</a:t>
            </a:r>
            <a:pPr algn="l" indent="0" marL="0">
              <a:buNone/>
            </a:pPr>
            <a:r>
              <a:rPr lang="en-US" sz="1000" b="1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Not started</a:t>
            </a:r>
            <a:endParaRPr lang="en-US" sz="1000" dirty="0"/>
          </a:p>
        </p:txBody>
      </p:sp>
      <p:pic>
        <p:nvPicPr>
          <p:cNvPr id="6" name="Image 0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7" name="Image 1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2286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056" y="502920"/>
            <a:ext cx="1130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Task Register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" y="1234440"/>
          <a:ext cx="11301984" cy="4389120"/>
        </p:xfrm>
        <a:graphic>
          <a:graphicData uri="http://schemas.openxmlformats.org/drawingml/2006/table">
            <a:tbl>
              <a:tblPr/>
              <a:tblGrid>
                <a:gridCol w="448056"/>
                <a:gridCol w="1472184"/>
                <a:gridCol w="2487168"/>
                <a:gridCol w="1133856"/>
                <a:gridCol w="905256"/>
                <a:gridCol w="905256"/>
                <a:gridCol w="905256"/>
                <a:gridCol w="1014984"/>
                <a:gridCol w="202996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ID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Task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Description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Responsible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Priority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Due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% Done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Notes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Design system audit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Audit current component library against brand guidelines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HIGH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9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80%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Blocker: missing icon set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2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API contract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Define and document REST API contracts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HIGH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69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100%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Complete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3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Component library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Set up shared component library in Figma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MED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80%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In progress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4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Accessibility audit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WCAG 2.1 AA compliance audit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MED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Not started — dep on #3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5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Integration testing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End-to-end integration test suite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MED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100%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Complete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6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Documentation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Technical documentation and API docs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LOW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100%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Complete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7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Performance optimization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Bundle size and load time optimization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LOW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[Date]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60%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Ongoing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48056" y="5943600"/>
            <a:ext cx="11301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7B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Source: [Insert source]</a:t>
            </a:r>
            <a:endParaRPr lang="en-US" sz="900" dirty="0"/>
          </a:p>
        </p:txBody>
      </p:sp>
      <p:pic>
        <p:nvPicPr>
          <p:cNvPr id="6" name="Image 0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7" name="Image 1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2286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 &amp; KEY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056" y="502920"/>
            <a:ext cx="1130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OKRs Status — [Insert Date]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" y="1234440"/>
          <a:ext cx="11301984" cy="4297680"/>
        </p:xfrm>
        <a:graphic>
          <a:graphicData uri="http://schemas.openxmlformats.org/drawingml/2006/table">
            <a:tbl>
              <a:tblPr/>
              <a:tblGrid>
                <a:gridCol w="2148840"/>
                <a:gridCol w="2596896"/>
                <a:gridCol w="905256"/>
                <a:gridCol w="1133856"/>
                <a:gridCol w="3163824"/>
                <a:gridCol w="13533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Objective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Key Result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Owner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Notes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Result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Ship MVP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Complete core feature set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DONE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All P0 features shipped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1.0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Zero critical bugs at launch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2 bugs remaining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0.7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User testing with 10 participants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DONE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12 sessions completed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1.0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Scale platform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Support 10K concurrent users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Load testing at 8K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0.3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Reduce p95 latency to &lt;200ms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AT RISK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Currently 280ms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0.4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Set up monitoring &amp; alerting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DONE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B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Datadog integrated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1.0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Drive adoption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Onboard 5 pilot teams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3 teams onboarded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0.6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Collect 50 user feedback forms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ON TRACK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A5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32 responses so far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0.6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NPS score ≥ 40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[Name]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AT RISK</a:t>
                      </a:r>
                      <a:endParaRPr lang="en-US" sz="9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Current NPS: 28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2B5C"/>
                          </a:solidFill>
                          <a:latin typeface="Montserrat Medium" pitchFamily="34" charset="0"/>
                          <a:ea typeface="Montserrat Medium" pitchFamily="34" charset="-122"/>
                          <a:cs typeface="Montserrat Medium" pitchFamily="34" charset="-120"/>
                        </a:rPr>
                        <a:t>0.3</a:t>
                      </a:r>
                      <a:endParaRPr lang="en-US" sz="1000" dirty="0">
                        <a:latin typeface="Montserrat Medium" charset="0"/>
                        <a:ea typeface="Montserrat Medium" charset="0"/>
                        <a:cs typeface="Montserrat Medium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48056" y="5897880"/>
            <a:ext cx="11301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Legend:  </a:t>
            </a:r>
            <a:pPr algn="l" indent="0" marL="0">
              <a:buNone/>
            </a:pPr>
            <a:r>
              <a:rPr lang="en-US" sz="1000" b="1" dirty="0">
                <a:solidFill>
                  <a:srgbClr val="2AAB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Completed</a:t>
            </a:r>
            <a:pPr algn="l" indent="0" marL="0">
              <a:buNone/>
            </a:pPr>
            <a:r>
              <a:rPr lang="en-US" sz="1000" b="1" dirty="0">
                <a:solidFill>
                  <a:srgbClr val="05A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In progress</a:t>
            </a:r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At risk</a:t>
            </a:r>
            <a:pPr algn="l" indent="0" marL="0">
              <a:buNone/>
            </a:pPr>
            <a:r>
              <a:rPr lang="en-US" sz="1000" b="1" dirty="0">
                <a:solidFill>
                  <a:srgbClr val="E469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Blocked</a:t>
            </a:r>
            <a:pPr algn="l" indent="0" marL="0">
              <a:buNone/>
            </a:pPr>
            <a:r>
              <a:rPr lang="en-US" sz="1000" b="1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Moved</a:t>
            </a:r>
            <a:endParaRPr lang="en-US" sz="1000" dirty="0"/>
          </a:p>
        </p:txBody>
      </p:sp>
      <p:pic>
        <p:nvPicPr>
          <p:cNvPr id="6" name="Image 0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7" name="Image 1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228600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056" y="502920"/>
            <a:ext cx="1130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Milestones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89888" y="2834640"/>
            <a:ext cx="9418320" cy="914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" y="25968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2642616"/>
            <a:ext cx="475488" cy="475488"/>
          </a:xfrm>
          <a:prstGeom prst="ellipse">
            <a:avLst/>
          </a:prstGeom>
          <a:solidFill>
            <a:srgbClr val="2AAB66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44168" y="2834640"/>
            <a:ext cx="91440" cy="91440"/>
          </a:xfrm>
          <a:prstGeom prst="ellipse">
            <a:avLst/>
          </a:prstGeom>
          <a:solidFill>
            <a:srgbClr val="2AAB66"/>
          </a:solidFill>
          <a:ln/>
        </p:spPr>
      </p:sp>
      <p:sp>
        <p:nvSpPr>
          <p:cNvPr id="9" name="Text 7"/>
          <p:cNvSpPr/>
          <p:nvPr/>
        </p:nvSpPr>
        <p:spPr>
          <a:xfrm>
            <a:off x="511607" y="2011680"/>
            <a:ext cx="1756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28116" y="2331720"/>
            <a:ext cx="923544" cy="237744"/>
          </a:xfrm>
          <a:prstGeom prst="roundRect">
            <a:avLst>
              <a:gd name="adj" fmla="val 50000"/>
            </a:avLst>
          </a:prstGeom>
          <a:solidFill>
            <a:srgbClr val="2AAB66"/>
          </a:solidFill>
          <a:ln/>
        </p:spPr>
      </p:sp>
      <p:sp>
        <p:nvSpPr>
          <p:cNvPr id="11" name="Text 9"/>
          <p:cNvSpPr/>
          <p:nvPr/>
        </p:nvSpPr>
        <p:spPr>
          <a:xfrm>
            <a:off x="928116" y="2331720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11607" y="3291840"/>
            <a:ext cx="1756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Kickoff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1607" y="3630168"/>
            <a:ext cx="17565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Stakeholder alignment, scope definition, and team onboarding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90088" y="25968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035808" y="2642616"/>
            <a:ext cx="475488" cy="475488"/>
          </a:xfrm>
          <a:prstGeom prst="ellipse">
            <a:avLst/>
          </a:prstGeom>
          <a:solidFill>
            <a:srgbClr val="2AAB66"/>
          </a:solidFill>
          <a:ln/>
        </p:spPr>
      </p:sp>
      <p:sp>
        <p:nvSpPr>
          <p:cNvPr id="16" name="Shape 14"/>
          <p:cNvSpPr/>
          <p:nvPr/>
        </p:nvSpPr>
        <p:spPr>
          <a:xfrm>
            <a:off x="3090672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27832" y="2834640"/>
            <a:ext cx="91440" cy="91440"/>
          </a:xfrm>
          <a:prstGeom prst="ellipse">
            <a:avLst/>
          </a:prstGeom>
          <a:solidFill>
            <a:srgbClr val="2AAB66"/>
          </a:solidFill>
          <a:ln/>
        </p:spPr>
      </p:sp>
      <p:sp>
        <p:nvSpPr>
          <p:cNvPr id="18" name="Text 16"/>
          <p:cNvSpPr/>
          <p:nvPr/>
        </p:nvSpPr>
        <p:spPr>
          <a:xfrm>
            <a:off x="2395271" y="2011680"/>
            <a:ext cx="1756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Feb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11780" y="2331720"/>
            <a:ext cx="923544" cy="237744"/>
          </a:xfrm>
          <a:prstGeom prst="roundRect">
            <a:avLst>
              <a:gd name="adj" fmla="val 50000"/>
            </a:avLst>
          </a:prstGeom>
          <a:solidFill>
            <a:srgbClr val="2AAB66"/>
          </a:solidFill>
          <a:ln/>
        </p:spPr>
      </p:sp>
      <p:sp>
        <p:nvSpPr>
          <p:cNvPr id="20" name="Text 18"/>
          <p:cNvSpPr/>
          <p:nvPr/>
        </p:nvSpPr>
        <p:spPr>
          <a:xfrm>
            <a:off x="2811780" y="2331720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95271" y="3291840"/>
            <a:ext cx="1756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 Complete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95271" y="3630168"/>
            <a:ext cx="17565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research, competitive analysis, and requirements signed off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73752" y="25968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9472" y="2642616"/>
            <a:ext cx="475488" cy="475488"/>
          </a:xfrm>
          <a:prstGeom prst="ellipse">
            <a:avLst/>
          </a:prstGeom>
          <a:solidFill>
            <a:srgbClr val="2AAB66"/>
          </a:solidFill>
          <a:ln/>
        </p:spPr>
      </p:sp>
      <p:sp>
        <p:nvSpPr>
          <p:cNvPr id="25" name="Shape 23"/>
          <p:cNvSpPr/>
          <p:nvPr/>
        </p:nvSpPr>
        <p:spPr>
          <a:xfrm>
            <a:off x="4974336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11496" y="2834640"/>
            <a:ext cx="91440" cy="91440"/>
          </a:xfrm>
          <a:prstGeom prst="ellipse">
            <a:avLst/>
          </a:prstGeom>
          <a:solidFill>
            <a:srgbClr val="2AAB66"/>
          </a:solidFill>
          <a:ln/>
        </p:spPr>
      </p:sp>
      <p:sp>
        <p:nvSpPr>
          <p:cNvPr id="27" name="Text 25"/>
          <p:cNvSpPr/>
          <p:nvPr/>
        </p:nvSpPr>
        <p:spPr>
          <a:xfrm>
            <a:off x="4278935" y="2011680"/>
            <a:ext cx="1756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 2026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95444" y="2331720"/>
            <a:ext cx="923544" cy="237744"/>
          </a:xfrm>
          <a:prstGeom prst="roundRect">
            <a:avLst>
              <a:gd name="adj" fmla="val 50000"/>
            </a:avLst>
          </a:prstGeom>
          <a:solidFill>
            <a:srgbClr val="2AAB66"/>
          </a:solidFill>
          <a:ln/>
        </p:spPr>
      </p:sp>
      <p:sp>
        <p:nvSpPr>
          <p:cNvPr id="29" name="Text 27"/>
          <p:cNvSpPr/>
          <p:nvPr/>
        </p:nvSpPr>
        <p:spPr>
          <a:xfrm>
            <a:off x="4695444" y="2331720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278935" y="3291840"/>
            <a:ext cx="1756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System Shipped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78935" y="3630168"/>
            <a:ext cx="17565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Component library, tokens, and brand guidelines delivered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57416" y="25968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803136" y="2642616"/>
            <a:ext cx="475488" cy="475488"/>
          </a:xfrm>
          <a:prstGeom prst="ellipse">
            <a:avLst/>
          </a:prstGeom>
          <a:solidFill>
            <a:srgbClr val="05A550"/>
          </a:solidFill>
          <a:ln/>
        </p:spPr>
      </p:sp>
      <p:sp>
        <p:nvSpPr>
          <p:cNvPr id="34" name="Text 32"/>
          <p:cNvSpPr/>
          <p:nvPr/>
        </p:nvSpPr>
        <p:spPr>
          <a:xfrm>
            <a:off x="6162599" y="2011680"/>
            <a:ext cx="1756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 2026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79108" y="2331720"/>
            <a:ext cx="923544" cy="237744"/>
          </a:xfrm>
          <a:prstGeom prst="roundRect">
            <a:avLst>
              <a:gd name="adj" fmla="val 50000"/>
            </a:avLst>
          </a:prstGeom>
          <a:solidFill>
            <a:srgbClr val="05A550"/>
          </a:solidFill>
          <a:ln/>
        </p:spPr>
      </p:sp>
      <p:sp>
        <p:nvSpPr>
          <p:cNvPr id="36" name="Text 34"/>
          <p:cNvSpPr/>
          <p:nvPr/>
        </p:nvSpPr>
        <p:spPr>
          <a:xfrm>
            <a:off x="6579108" y="2331720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162599" y="3291840"/>
            <a:ext cx="1756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 Launch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62599" y="3630168"/>
            <a:ext cx="17565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features in production, pilot users onboarded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41080" y="25968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686800" y="2642616"/>
            <a:ext cx="475488" cy="47548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263" y="2011680"/>
            <a:ext cx="1756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 2026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62772" y="2331720"/>
            <a:ext cx="923544" cy="237744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43" name="Text 41"/>
          <p:cNvSpPr/>
          <p:nvPr/>
        </p:nvSpPr>
        <p:spPr>
          <a:xfrm>
            <a:off x="8462772" y="2331720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RISK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046263" y="3291840"/>
            <a:ext cx="1756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to 10K Users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46263" y="3630168"/>
            <a:ext cx="17565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Load testing, performance optimization, and monitoring rollout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524744" y="25968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70464" y="2642616"/>
            <a:ext cx="475488" cy="475488"/>
          </a:xfrm>
          <a:prstGeom prst="ellipse">
            <a:avLst/>
          </a:prstGeom>
          <a:solidFill>
            <a:srgbClr val="B7B7B7"/>
          </a:solidFill>
          <a:ln/>
        </p:spPr>
      </p:sp>
      <p:sp>
        <p:nvSpPr>
          <p:cNvPr id="48" name="Text 46"/>
          <p:cNvSpPr/>
          <p:nvPr/>
        </p:nvSpPr>
        <p:spPr>
          <a:xfrm>
            <a:off x="9929927" y="2011680"/>
            <a:ext cx="1756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 2026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346436" y="2331720"/>
            <a:ext cx="923544" cy="237744"/>
          </a:xfrm>
          <a:prstGeom prst="roundRect">
            <a:avLst>
              <a:gd name="adj" fmla="val 50000"/>
            </a:avLst>
          </a:prstGeom>
          <a:solidFill>
            <a:srgbClr val="B7B7B7"/>
          </a:solidFill>
          <a:ln/>
        </p:spPr>
      </p:sp>
      <p:sp>
        <p:nvSpPr>
          <p:cNvPr id="50" name="Text 48"/>
          <p:cNvSpPr/>
          <p:nvPr/>
        </p:nvSpPr>
        <p:spPr>
          <a:xfrm>
            <a:off x="10346436" y="2331720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UPCOMING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9929927" y="3291840"/>
            <a:ext cx="1756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Release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929927" y="3630168"/>
            <a:ext cx="17565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GA launch, documentation, and handoff to ops team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8056" y="5897880"/>
            <a:ext cx="11301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Legend:  </a:t>
            </a:r>
            <a:pPr algn="l" indent="0" marL="0">
              <a:buNone/>
            </a:pPr>
            <a:r>
              <a:rPr lang="en-US" sz="1000" b="1" dirty="0">
                <a:solidFill>
                  <a:srgbClr val="2AAB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</a:t>
            </a:r>
            <a:pPr algn="l" indent="0" marL="0">
              <a:buNone/>
            </a:pPr>
            <a:r>
              <a:rPr lang="en-US" sz="1000" b="1" dirty="0">
                <a:solidFill>
                  <a:srgbClr val="05A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On track</a:t>
            </a:r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At risk</a:t>
            </a:r>
            <a:pPr algn="l" indent="0" marL="0">
              <a:buNone/>
            </a:pPr>
            <a:r>
              <a:rPr lang="en-US" sz="1000" b="1" dirty="0">
                <a:solidFill>
                  <a:srgbClr val="B7B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Upcoming</a:t>
            </a:r>
            <a:endParaRPr lang="en-US" sz="1000" dirty="0"/>
          </a:p>
        </p:txBody>
      </p:sp>
      <p:pic>
        <p:nvPicPr>
          <p:cNvPr id="54" name="Image 0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6263640"/>
            <a:ext cx="1188720" cy="411480"/>
          </a:xfrm>
          <a:prstGeom prst="rect">
            <a:avLst/>
          </a:prstGeom>
        </p:spPr>
      </p:pic>
      <p:pic>
        <p:nvPicPr>
          <p:cNvPr id="55" name="Image 1" descr="/Users/rajivkaul/Intelligaia-Brand-Assets/Intelligaia Slide Deck Skill/intelligaia-deck-design/assets/deep-tech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26364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Got a Project? Let's Talk.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377440" y="1783080"/>
            <a:ext cx="420624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37744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rajiv@intelligaia.com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971800"/>
            <a:ext cx="384048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971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intelligaia.com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4160520"/>
            <a:ext cx="384048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4160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 (XXX) XXX-XXXX</a:t>
            </a:r>
            <a:endParaRPr lang="en-US" sz="1800" dirty="0"/>
          </a:p>
        </p:txBody>
      </p:sp>
      <p:pic>
        <p:nvPicPr>
          <p:cNvPr id="9" name="Image 0" descr="/Users/rajivkaul/Intelligaia-Brand-Assets/Intelligaia Slide Deck Skill/intelligaia-deck-design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5943600"/>
            <a:ext cx="1828800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2026-08-11T23:15:16Z</dcterms:created>
  <dcterms:modified xsi:type="dcterms:W3CDTF">2026-08-11T23:15:16Z</dcterms:modified>
</cp:coreProperties>
</file>