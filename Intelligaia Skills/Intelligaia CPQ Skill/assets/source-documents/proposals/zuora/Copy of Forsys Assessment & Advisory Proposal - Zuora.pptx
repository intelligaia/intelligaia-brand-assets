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Montserrat SemiBold"/>
      <p:regular r:id="rId30"/>
      <p:bold r:id="rId31"/>
      <p:italic r:id="rId32"/>
      <p:boldItalic r:id="rId33"/>
    </p:embeddedFont>
    <p:embeddedFont>
      <p:font typeface="Roboto"/>
      <p:regular r:id="rId34"/>
      <p:bold r:id="rId35"/>
      <p:italic r:id="rId36"/>
      <p:boldItalic r:id="rId37"/>
    </p:embeddedFont>
    <p:embeddedFont>
      <p:font typeface="Montserrat"/>
      <p:regular r:id="rId38"/>
      <p:bold r:id="rId39"/>
      <p:italic r:id="rId40"/>
      <p:boldItalic r:id="rId41"/>
    </p:embeddedFont>
    <p:embeddedFont>
      <p:font typeface="Montserrat Medium"/>
      <p:regular r:id="rId42"/>
      <p:bold r:id="rId43"/>
      <p:italic r:id="rId44"/>
      <p:boldItalic r:id="rId45"/>
    </p:embeddedFont>
    <p:embeddedFont>
      <p:font typeface="Century Gothic"/>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935">
          <p15:clr>
            <a:srgbClr val="747775"/>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876114-0284-437C-941D-8F7499022289}">
  <a:tblStyle styleId="{07876114-0284-437C-941D-8F749902228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507A6E1-4639-4C93-A315-86B896DA5E4F}"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D8A617B-5F9B-40CA-9DAC-21FBFD001285}"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35"/>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42" Type="http://schemas.openxmlformats.org/officeDocument/2006/relationships/font" Target="fonts/MontserratMedium-regular.fntdata"/><Relationship Id="rId41" Type="http://schemas.openxmlformats.org/officeDocument/2006/relationships/font" Target="fonts/Montserrat-boldItalic.fntdata"/><Relationship Id="rId44" Type="http://schemas.openxmlformats.org/officeDocument/2006/relationships/font" Target="fonts/MontserratMedium-italic.fntdata"/><Relationship Id="rId43" Type="http://schemas.openxmlformats.org/officeDocument/2006/relationships/font" Target="fonts/MontserratMedium-bold.fntdata"/><Relationship Id="rId46" Type="http://schemas.openxmlformats.org/officeDocument/2006/relationships/font" Target="fonts/CenturyGothic-regular.fntdata"/><Relationship Id="rId45" Type="http://schemas.openxmlformats.org/officeDocument/2006/relationships/font" Target="fonts/Montserrat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CenturyGothic-italic.fntdata"/><Relationship Id="rId47" Type="http://schemas.openxmlformats.org/officeDocument/2006/relationships/font" Target="fonts/CenturyGothic-bold.fntdata"/><Relationship Id="rId49"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SemiBold-bold.fntdata"/><Relationship Id="rId30" Type="http://schemas.openxmlformats.org/officeDocument/2006/relationships/font" Target="fonts/MontserratSemiBold-regular.fntdata"/><Relationship Id="rId33" Type="http://schemas.openxmlformats.org/officeDocument/2006/relationships/font" Target="fonts/MontserratSemiBold-boldItalic.fntdata"/><Relationship Id="rId32" Type="http://schemas.openxmlformats.org/officeDocument/2006/relationships/font" Target="fonts/MontserratSemiBold-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Montserrat-bold.fntdata"/><Relationship Id="rId38" Type="http://schemas.openxmlformats.org/officeDocument/2006/relationships/font" Target="fonts/Montserra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j9qjQlwCtSeMTm7ATWq8sl6SBizAtxDnKC_LewTCwP8/edit#gid=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j9qjQlwCtSeMTm7ATWq8sl6SBizAtxDnKC_LewTCwP8/edit#gid=0"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f13ea4aa00_1_569:notes"/>
          <p:cNvSpPr/>
          <p:nvPr>
            <p:ph idx="2" type="sldImg"/>
          </p:nvPr>
        </p:nvSpPr>
        <p:spPr>
          <a:xfrm>
            <a:off x="2271713" y="1142999"/>
            <a:ext cx="2314500" cy="3087600"/>
          </a:xfrm>
          <a:custGeom>
            <a:rect b="b" l="l" r="r" t="t"/>
            <a:pathLst>
              <a:path extrusionOk="0" h="120000" w="120000">
                <a:moveTo>
                  <a:pt x="0" y="0"/>
                </a:moveTo>
                <a:lnTo>
                  <a:pt x="120000" y="0"/>
                </a:lnTo>
                <a:lnTo>
                  <a:pt x="120000" y="120000"/>
                </a:lnTo>
                <a:lnTo>
                  <a:pt x="0" y="120000"/>
                </a:lnTo>
                <a:close/>
              </a:path>
            </a:pathLst>
          </a:custGeom>
        </p:spPr>
      </p:sp>
      <p:sp>
        <p:nvSpPr>
          <p:cNvPr id="97" name="Google Shape;97;g1f13ea4aa00_1_569:notes"/>
          <p:cNvSpPr txBox="1"/>
          <p:nvPr>
            <p:ph idx="1" type="body"/>
          </p:nvPr>
        </p:nvSpPr>
        <p:spPr>
          <a:xfrm>
            <a:off x="685800" y="4399844"/>
            <a:ext cx="5486400" cy="360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1f13ea4aa00_1_569:notes"/>
          <p:cNvSpPr txBox="1"/>
          <p:nvPr>
            <p:ph idx="12" type="sldNum"/>
          </p:nvPr>
        </p:nvSpPr>
        <p:spPr>
          <a:xfrm>
            <a:off x="3885009"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13ea4aa00_1_0:notes"/>
          <p:cNvSpPr/>
          <p:nvPr>
            <p:ph idx="2" type="sldImg"/>
          </p:nvPr>
        </p:nvSpPr>
        <p:spPr>
          <a:xfrm>
            <a:off x="685800" y="1143000"/>
            <a:ext cx="54864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1f13ea4aa0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 New location</a:t>
            </a:r>
            <a:endParaRPr/>
          </a:p>
        </p:txBody>
      </p:sp>
      <p:sp>
        <p:nvSpPr>
          <p:cNvPr id="104" name="Google Shape;104;g1f13ea4aa0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f13ea4aa00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f13ea4aa00_1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1f13ea4aa00_1_1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f13ea4aa00_1_6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f13ea4aa00_1_6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1f13ea4aa00_1_6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5e1b3d3099_0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5e1b3d3099_0_302: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5e1b3d3099_0_302: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e1b3d3099_0_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5e1b3d3099_0_33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25e1b3d3099_0_333: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5e1b3d3099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5e1b3d3099_0_359: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25e1b3d3099_0_359: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5e1b3d3099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5e1b3d3099_0_37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25e1b3d3099_0_373: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5e1b3d3099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5e1b3d3099_0_394: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25e1b3d3099_0_394: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4fc09a9b7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4fc09a9b7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24fc09a9b7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4e0e03e8d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4e0e03e8d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https://docs.google.com/spreadsheets/d/1j9qjQlwCtSeMTm7ATWq8sl6SBizAtxDnKC_LewTCwP8/edit#gid=0</a:t>
            </a:r>
            <a:endParaRPr/>
          </a:p>
          <a:p>
            <a:pPr indent="0" lvl="0" marL="0" rtl="0" algn="l">
              <a:spcBef>
                <a:spcPts val="0"/>
              </a:spcBef>
              <a:spcAft>
                <a:spcPts val="0"/>
              </a:spcAft>
              <a:buNone/>
            </a:pPr>
            <a:r>
              <a:t/>
            </a:r>
            <a:endParaRPr/>
          </a:p>
        </p:txBody>
      </p:sp>
      <p:sp>
        <p:nvSpPr>
          <p:cNvPr id="419" name="Google Shape;419;g24e0e03e8d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4fd68a34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4fd68a346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24fd68a346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4fc09a9b74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4fc09a9b74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https://docs.google.com/spreadsheets/d/1j9qjQlwCtSeMTm7ATWq8sl6SBizAtxDnKC_LewTCwP8/edit#gid=0</a:t>
            </a:r>
            <a:endParaRPr/>
          </a:p>
          <a:p>
            <a:pPr indent="0" lvl="0" marL="0" rtl="0" algn="l">
              <a:spcBef>
                <a:spcPts val="0"/>
              </a:spcBef>
              <a:spcAft>
                <a:spcPts val="0"/>
              </a:spcAft>
              <a:buNone/>
            </a:pPr>
            <a:r>
              <a:t/>
            </a:r>
            <a:endParaRPr/>
          </a:p>
        </p:txBody>
      </p:sp>
      <p:sp>
        <p:nvSpPr>
          <p:cNvPr id="462" name="Google Shape;462;g24fc09a9b74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6dd13b182c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6dd13b182c_0_18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26dd13b182c_0_183:notes"/>
          <p:cNvSpPr txBox="1"/>
          <p:nvPr>
            <p:ph idx="12" type="sldNum"/>
          </p:nvPr>
        </p:nvSpPr>
        <p:spPr>
          <a:xfrm>
            <a:off x="3884612"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Calibri"/>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6dd8a19532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6dd8a19532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26dd8a19532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6dd13b182c_0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6dd13b182c_0_1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https://docs.google.com/spreadsheets/d/1KTESzaRfHHNpe5BmQkkD2WdLw38KEhRokNYFhvatjVM/edit#gid=1863988966</a:t>
            </a:r>
            <a:endParaRPr/>
          </a:p>
        </p:txBody>
      </p:sp>
      <p:sp>
        <p:nvSpPr>
          <p:cNvPr id="491" name="Google Shape;491;g26dd13b182c_0_1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f13ea4aa0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1f13ea4aa0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g1f13ea4aa0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4fc09a9b74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4fc09a9b74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24fc09a9b74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4fc09a9b74_3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4fc09a9b74_3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24fc09a9b74_3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4fc09a9b74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4fc09a9b74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24fc09a9b74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4fc09a9b74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4fc09a9b74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g24fc09a9b74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4fc09a9b74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4fc09a9b74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g24fc09a9b74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4fc09a9b74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4fc09a9b74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24fc09a9b74_0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7.png"/><Relationship Id="rId7"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1 2">
  <p:cSld name="Title and Content 2_1_1">
    <p:spTree>
      <p:nvGrpSpPr>
        <p:cNvPr id="14" name="Shape 14"/>
        <p:cNvGrpSpPr/>
        <p:nvPr/>
      </p:nvGrpSpPr>
      <p:grpSpPr>
        <a:xfrm>
          <a:off x="0" y="0"/>
          <a:ext cx="0" cy="0"/>
          <a:chOff x="0" y="0"/>
          <a:chExt cx="0" cy="0"/>
        </a:xfrm>
      </p:grpSpPr>
      <p:sp>
        <p:nvSpPr>
          <p:cNvPr id="15" name="Google Shape;15;p2"/>
          <p:cNvSpPr txBox="1"/>
          <p:nvPr>
            <p:ph type="title"/>
          </p:nvPr>
        </p:nvSpPr>
        <p:spPr>
          <a:xfrm>
            <a:off x="-25" y="0"/>
            <a:ext cx="9144000" cy="6492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Clr>
                <a:srgbClr val="555555"/>
              </a:buClr>
              <a:buSzPts val="1400"/>
              <a:buNone/>
              <a:defRPr>
                <a:solidFill>
                  <a:srgbClr val="555555"/>
                </a:solidFill>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6" name="Google Shape;16;p2"/>
          <p:cNvSpPr txBox="1"/>
          <p:nvPr>
            <p:ph idx="1" type="body"/>
          </p:nvPr>
        </p:nvSpPr>
        <p:spPr>
          <a:xfrm>
            <a:off x="727050" y="795250"/>
            <a:ext cx="7788300" cy="3350700"/>
          </a:xfrm>
          <a:prstGeom prst="rect">
            <a:avLst/>
          </a:prstGeom>
          <a:noFill/>
          <a:ln>
            <a:noFill/>
          </a:ln>
        </p:spPr>
        <p:txBody>
          <a:bodyPr anchorCtr="0" anchor="t" bIns="34275" lIns="68575" spcFirstLastPara="1" rIns="68575" wrap="square" tIns="34275">
            <a:noAutofit/>
          </a:bodyPr>
          <a:lstStyle>
            <a:lvl1pPr indent="-342900" lvl="0" marL="457200" rtl="0" algn="l">
              <a:lnSpc>
                <a:spcPct val="90000"/>
              </a:lnSpc>
              <a:spcBef>
                <a:spcPts val="800"/>
              </a:spcBef>
              <a:spcAft>
                <a:spcPts val="0"/>
              </a:spcAft>
              <a:buClr>
                <a:schemeClr val="dk1"/>
              </a:buClr>
              <a:buSzPts val="1800"/>
              <a:buChar char="●"/>
              <a:defRPr sz="1800"/>
            </a:lvl1pPr>
            <a:lvl2pPr indent="-317500" lvl="1" marL="914400" rtl="0" algn="l">
              <a:lnSpc>
                <a:spcPct val="90000"/>
              </a:lnSpc>
              <a:spcBef>
                <a:spcPts val="400"/>
              </a:spcBef>
              <a:spcAft>
                <a:spcPts val="0"/>
              </a:spcAft>
              <a:buClr>
                <a:schemeClr val="dk1"/>
              </a:buClr>
              <a:buSzPts val="1400"/>
              <a:buChar char="○"/>
              <a:defRPr sz="1400"/>
            </a:lvl2pPr>
            <a:lvl3pPr indent="-304800" lvl="2" marL="1371600" rtl="0" algn="l">
              <a:lnSpc>
                <a:spcPct val="90000"/>
              </a:lnSpc>
              <a:spcBef>
                <a:spcPts val="400"/>
              </a:spcBef>
              <a:spcAft>
                <a:spcPts val="0"/>
              </a:spcAft>
              <a:buClr>
                <a:schemeClr val="dk1"/>
              </a:buClr>
              <a:buSzPts val="1200"/>
              <a:buChar char="■"/>
              <a:defRPr sz="1200"/>
            </a:lvl3pPr>
            <a:lvl4pPr indent="-304800" lvl="3" marL="1828800" rtl="0" algn="l">
              <a:lnSpc>
                <a:spcPct val="90000"/>
              </a:lnSpc>
              <a:spcBef>
                <a:spcPts val="400"/>
              </a:spcBef>
              <a:spcAft>
                <a:spcPts val="0"/>
              </a:spcAft>
              <a:buClr>
                <a:schemeClr val="dk1"/>
              </a:buClr>
              <a:buSzPts val="1200"/>
              <a:buChar char="●"/>
              <a:defRPr sz="1200"/>
            </a:lvl4pPr>
            <a:lvl5pPr indent="-298450" lvl="4" marL="2286000" rtl="0" algn="l">
              <a:lnSpc>
                <a:spcPct val="90000"/>
              </a:lnSpc>
              <a:spcBef>
                <a:spcPts val="400"/>
              </a:spcBef>
              <a:spcAft>
                <a:spcPts val="0"/>
              </a:spcAft>
              <a:buClr>
                <a:schemeClr val="dk1"/>
              </a:buClr>
              <a:buSzPts val="1100"/>
              <a:buChar char="○"/>
              <a:defRPr sz="1100"/>
            </a:lvl5pPr>
            <a:lvl6pPr indent="-298450" lvl="5" marL="2743200" rtl="0" algn="l">
              <a:lnSpc>
                <a:spcPct val="90000"/>
              </a:lnSpc>
              <a:spcBef>
                <a:spcPts val="400"/>
              </a:spcBef>
              <a:spcAft>
                <a:spcPts val="0"/>
              </a:spcAft>
              <a:buClr>
                <a:schemeClr val="dk1"/>
              </a:buClr>
              <a:buSzPts val="1100"/>
              <a:buChar char="■"/>
              <a:defRPr sz="1100"/>
            </a:lvl6pPr>
            <a:lvl7pPr indent="-292100" lvl="6" marL="3200400" rtl="0" algn="l">
              <a:lnSpc>
                <a:spcPct val="90000"/>
              </a:lnSpc>
              <a:spcBef>
                <a:spcPts val="400"/>
              </a:spcBef>
              <a:spcAft>
                <a:spcPts val="0"/>
              </a:spcAft>
              <a:buClr>
                <a:schemeClr val="dk1"/>
              </a:buClr>
              <a:buSzPts val="1000"/>
              <a:buChar char="●"/>
              <a:defRPr sz="1000"/>
            </a:lvl7pPr>
            <a:lvl8pPr indent="-292100" lvl="7" marL="3657600" rtl="0" algn="l">
              <a:lnSpc>
                <a:spcPct val="90000"/>
              </a:lnSpc>
              <a:spcBef>
                <a:spcPts val="400"/>
              </a:spcBef>
              <a:spcAft>
                <a:spcPts val="0"/>
              </a:spcAft>
              <a:buClr>
                <a:schemeClr val="dk1"/>
              </a:buClr>
              <a:buSzPts val="1000"/>
              <a:buChar char="○"/>
              <a:defRPr sz="1000"/>
            </a:lvl8pPr>
            <a:lvl9pPr indent="-285750" lvl="8" marL="4114800" rtl="0" algn="l">
              <a:lnSpc>
                <a:spcPct val="90000"/>
              </a:lnSpc>
              <a:spcBef>
                <a:spcPts val="400"/>
              </a:spcBef>
              <a:spcAft>
                <a:spcPts val="0"/>
              </a:spcAft>
              <a:buClr>
                <a:schemeClr val="dk1"/>
              </a:buClr>
              <a:buSzPts val="900"/>
              <a:buChar char="■"/>
              <a:defRPr sz="900"/>
            </a:lvl9pPr>
          </a:lstStyle>
          <a:p/>
        </p:txBody>
      </p:sp>
      <p:sp>
        <p:nvSpPr>
          <p:cNvPr id="17" name="Google Shape;17;p2"/>
          <p:cNvSpPr/>
          <p:nvPr/>
        </p:nvSpPr>
        <p:spPr>
          <a:xfrm>
            <a:off x="-5913" y="4794589"/>
            <a:ext cx="9155700" cy="348900"/>
          </a:xfrm>
          <a:prstGeom prst="rect">
            <a:avLst/>
          </a:prstGeom>
          <a:solidFill>
            <a:srgbClr val="E7E6E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cxnSp>
        <p:nvCxnSpPr>
          <p:cNvPr id="18" name="Google Shape;18;p2"/>
          <p:cNvCxnSpPr/>
          <p:nvPr/>
        </p:nvCxnSpPr>
        <p:spPr>
          <a:xfrm>
            <a:off x="-741" y="4794175"/>
            <a:ext cx="9148800" cy="0"/>
          </a:xfrm>
          <a:prstGeom prst="straightConnector1">
            <a:avLst/>
          </a:prstGeom>
          <a:noFill/>
          <a:ln cap="flat" cmpd="sng" w="9525">
            <a:solidFill>
              <a:srgbClr val="FF9200"/>
            </a:solidFill>
            <a:prstDash val="solid"/>
            <a:round/>
            <a:headEnd len="sm" w="sm" type="none"/>
            <a:tailEnd len="sm" w="sm" type="none"/>
          </a:ln>
        </p:spPr>
      </p:cxnSp>
      <p:sp>
        <p:nvSpPr>
          <p:cNvPr id="19" name="Google Shape;19;p2"/>
          <p:cNvSpPr txBox="1"/>
          <p:nvPr/>
        </p:nvSpPr>
        <p:spPr>
          <a:xfrm>
            <a:off x="91950" y="4842150"/>
            <a:ext cx="8960100" cy="253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sz="800">
                <a:solidFill>
                  <a:srgbClr val="7F7F7F"/>
                </a:solidFill>
                <a:latin typeface="Calibri"/>
                <a:ea typeface="Calibri"/>
                <a:cs typeface="Calibri"/>
                <a:sym typeface="Calibri"/>
              </a:rPr>
              <a:t>Copyright @ Forsys Inc.                                                                   	            						                  			            Confidential    |    For Internal Use Only </a:t>
            </a:r>
            <a:endParaRPr sz="800">
              <a:solidFill>
                <a:srgbClr val="7F7F7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lang="en-US" sz="600">
                <a:solidFill>
                  <a:srgbClr val="7F7F7F"/>
                </a:solidFill>
                <a:latin typeface="Calibri"/>
                <a:ea typeface="Calibri"/>
                <a:cs typeface="Calibri"/>
                <a:sym typeface="Calibri"/>
              </a:rPr>
              <a:t>FORSYS / UXD / T / 01     |     Date: 16-Dec-2019      |     Revision #: 00						</a:t>
            </a:r>
            <a:endParaRPr sz="600">
              <a:solidFill>
                <a:srgbClr val="7F7F7F"/>
              </a:solidFill>
              <a:latin typeface="Calibri"/>
              <a:ea typeface="Calibri"/>
              <a:cs typeface="Calibri"/>
              <a:sym typeface="Calibri"/>
            </a:endParaRPr>
          </a:p>
        </p:txBody>
      </p:sp>
      <p:sp>
        <p:nvSpPr>
          <p:cNvPr id="20" name="Google Shape;20;p2"/>
          <p:cNvSpPr txBox="1"/>
          <p:nvPr/>
        </p:nvSpPr>
        <p:spPr>
          <a:xfrm>
            <a:off x="4254225" y="4842152"/>
            <a:ext cx="635400" cy="25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US" sz="900">
                <a:solidFill>
                  <a:srgbClr val="7F7F7F"/>
                </a:solidFill>
                <a:latin typeface="Century Gothic"/>
                <a:ea typeface="Century Gothic"/>
                <a:cs typeface="Century Gothic"/>
                <a:sym typeface="Century Gothic"/>
              </a:rPr>
              <a:t>‹#›</a:t>
            </a:fld>
            <a:endParaRPr sz="900">
              <a:solidFill>
                <a:srgbClr val="7F7F7F"/>
              </a:solidFill>
              <a:latin typeface="Century Gothic"/>
              <a:ea typeface="Century Gothic"/>
              <a:cs typeface="Century Gothic"/>
              <a:sym typeface="Century Gothic"/>
            </a:endParaRPr>
          </a:p>
        </p:txBody>
      </p:sp>
      <p:pic>
        <p:nvPicPr>
          <p:cNvPr id="21" name="Google Shape;21;p2"/>
          <p:cNvPicPr preferRelativeResize="0"/>
          <p:nvPr/>
        </p:nvPicPr>
        <p:blipFill rotWithShape="1">
          <a:blip r:embed="rId2">
            <a:alphaModFix/>
          </a:blip>
          <a:srcRect b="0" l="0" r="0" t="0"/>
          <a:stretch/>
        </p:blipFill>
        <p:spPr>
          <a:xfrm>
            <a:off x="8542700" y="0"/>
            <a:ext cx="607075" cy="607075"/>
          </a:xfrm>
          <a:prstGeom prst="rect">
            <a:avLst/>
          </a:prstGeom>
          <a:noFill/>
          <a:ln>
            <a:noFill/>
          </a:ln>
          <a:effectLst>
            <a:outerShdw blurRad="200025" rotWithShape="0" algn="bl" dir="5400000" dist="19050">
              <a:srgbClr val="000000">
                <a:alpha val="20000"/>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2">
  <p:cSld name="Title and Content 3_2">
    <p:spTree>
      <p:nvGrpSpPr>
        <p:cNvPr id="22" name="Shape 22"/>
        <p:cNvGrpSpPr/>
        <p:nvPr/>
      </p:nvGrpSpPr>
      <p:grpSpPr>
        <a:xfrm>
          <a:off x="0" y="0"/>
          <a:ext cx="0" cy="0"/>
          <a:chOff x="0" y="0"/>
          <a:chExt cx="0" cy="0"/>
        </a:xfrm>
      </p:grpSpPr>
      <p:grpSp>
        <p:nvGrpSpPr>
          <p:cNvPr id="23" name="Google Shape;23;p3"/>
          <p:cNvGrpSpPr/>
          <p:nvPr/>
        </p:nvGrpSpPr>
        <p:grpSpPr>
          <a:xfrm>
            <a:off x="0" y="0"/>
            <a:ext cx="9144003" cy="5143500"/>
            <a:chOff x="0" y="0"/>
            <a:chExt cx="9144003" cy="5143500"/>
          </a:xfrm>
        </p:grpSpPr>
        <p:pic>
          <p:nvPicPr>
            <p:cNvPr id="24" name="Google Shape;24;p3"/>
            <p:cNvPicPr preferRelativeResize="0"/>
            <p:nvPr/>
          </p:nvPicPr>
          <p:blipFill rotWithShape="1">
            <a:blip r:embed="rId2">
              <a:alphaModFix/>
            </a:blip>
            <a:srcRect b="16094" l="0" r="0" t="8909"/>
            <a:stretch/>
          </p:blipFill>
          <p:spPr>
            <a:xfrm>
              <a:off x="0" y="0"/>
              <a:ext cx="9144003" cy="5143500"/>
            </a:xfrm>
            <a:prstGeom prst="rect">
              <a:avLst/>
            </a:prstGeom>
            <a:noFill/>
            <a:ln>
              <a:noFill/>
            </a:ln>
          </p:spPr>
        </p:pic>
        <p:sp>
          <p:nvSpPr>
            <p:cNvPr id="25" name="Google Shape;25;p3"/>
            <p:cNvSpPr/>
            <p:nvPr/>
          </p:nvSpPr>
          <p:spPr>
            <a:xfrm>
              <a:off x="0" y="0"/>
              <a:ext cx="9144000" cy="5143500"/>
            </a:xfrm>
            <a:prstGeom prst="rect">
              <a:avLst/>
            </a:prstGeom>
            <a:solidFill>
              <a:srgbClr val="012251">
                <a:alpha val="89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grpSp>
      <p:pic>
        <p:nvPicPr>
          <p:cNvPr id="26" name="Google Shape;26;p3"/>
          <p:cNvPicPr preferRelativeResize="0"/>
          <p:nvPr/>
        </p:nvPicPr>
        <p:blipFill rotWithShape="1">
          <a:blip r:embed="rId3">
            <a:alphaModFix/>
          </a:blip>
          <a:srcRect b="0" l="0" r="0" t="0"/>
          <a:stretch/>
        </p:blipFill>
        <p:spPr>
          <a:xfrm>
            <a:off x="8542700" y="0"/>
            <a:ext cx="607075" cy="607075"/>
          </a:xfrm>
          <a:prstGeom prst="rect">
            <a:avLst/>
          </a:prstGeom>
          <a:noFill/>
          <a:ln>
            <a:noFill/>
          </a:ln>
        </p:spPr>
      </p:pic>
      <p:sp>
        <p:nvSpPr>
          <p:cNvPr id="27" name="Google Shape;27;p3"/>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US" sz="900" u="none" cap="none" strike="noStrike">
                <a:solidFill>
                  <a:srgbClr val="FFFFFF"/>
                </a:solidFill>
                <a:latin typeface="Calibri"/>
                <a:ea typeface="Calibri"/>
                <a:cs typeface="Calibri"/>
                <a:sym typeface="Calibri"/>
              </a:rPr>
              <a:t>Copyright @ Forsys Inc.  |  Confidential</a:t>
            </a:r>
            <a:endParaRPr b="0" i="0" sz="700" u="none" cap="none" strike="noStrike">
              <a:solidFill>
                <a:srgbClr val="FFFFFF"/>
              </a:solidFill>
              <a:latin typeface="Calibri"/>
              <a:ea typeface="Calibri"/>
              <a:cs typeface="Calibri"/>
              <a:sym typeface="Calibri"/>
            </a:endParaRPr>
          </a:p>
        </p:txBody>
      </p:sp>
      <p:pic>
        <p:nvPicPr>
          <p:cNvPr id="29" name="Google Shape;29;p3"/>
          <p:cNvPicPr preferRelativeResize="0"/>
          <p:nvPr/>
        </p:nvPicPr>
        <p:blipFill rotWithShape="1">
          <a:blip r:embed="rId4">
            <a:alphaModFix/>
          </a:blip>
          <a:srcRect b="0" l="0" r="0" t="0"/>
          <a:stretch/>
        </p:blipFill>
        <p:spPr>
          <a:xfrm>
            <a:off x="44597" y="37156"/>
            <a:ext cx="289800" cy="289800"/>
          </a:xfrm>
          <a:prstGeom prst="rect">
            <a:avLst/>
          </a:prstGeom>
          <a:noFill/>
          <a:ln>
            <a:noFill/>
          </a:ln>
        </p:spPr>
      </p:pic>
      <p:sp>
        <p:nvSpPr>
          <p:cNvPr id="30" name="Google Shape;30;p3"/>
          <p:cNvSpPr txBox="1"/>
          <p:nvPr/>
        </p:nvSpPr>
        <p:spPr>
          <a:xfrm>
            <a:off x="34336" y="4804783"/>
            <a:ext cx="569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US" sz="1000">
                <a:solidFill>
                  <a:srgbClr val="65CDFF"/>
                </a:solidFill>
                <a:latin typeface="Montserrat"/>
                <a:ea typeface="Montserrat"/>
                <a:cs typeface="Montserrat"/>
                <a:sym typeface="Montserrat"/>
              </a:rPr>
              <a:t>‹#›</a:t>
            </a:fld>
            <a:endParaRPr sz="1000">
              <a:solidFill>
                <a:srgbClr val="65CDFF"/>
              </a:solidFill>
              <a:latin typeface="Montserrat"/>
              <a:ea typeface="Montserrat"/>
              <a:cs typeface="Montserrat"/>
              <a:sym typeface="Montserra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1" name="Shape 31"/>
        <p:cNvGrpSpPr/>
        <p:nvPr/>
      </p:nvGrpSpPr>
      <p:grpSpPr>
        <a:xfrm>
          <a:off x="0" y="0"/>
          <a:ext cx="0" cy="0"/>
          <a:chOff x="0" y="0"/>
          <a:chExt cx="0" cy="0"/>
        </a:xfrm>
      </p:grpSpPr>
      <p:pic>
        <p:nvPicPr>
          <p:cNvPr id="32" name="Google Shape;32;p4"/>
          <p:cNvPicPr preferRelativeResize="0"/>
          <p:nvPr/>
        </p:nvPicPr>
        <p:blipFill rotWithShape="1">
          <a:blip r:embed="rId2">
            <a:alphaModFix/>
          </a:blip>
          <a:srcRect b="0" l="0" r="0" t="0"/>
          <a:stretch/>
        </p:blipFill>
        <p:spPr>
          <a:xfrm>
            <a:off x="0" y="0"/>
            <a:ext cx="9143997" cy="5143490"/>
          </a:xfrm>
          <a:prstGeom prst="rect">
            <a:avLst/>
          </a:prstGeom>
          <a:noFill/>
          <a:ln>
            <a:noFill/>
          </a:ln>
        </p:spPr>
      </p:pic>
      <p:sp>
        <p:nvSpPr>
          <p:cNvPr id="33" name="Google Shape;33;p4"/>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US" sz="900" u="none" cap="none" strike="noStrike">
                <a:solidFill>
                  <a:srgbClr val="FFFFFF"/>
                </a:solidFill>
                <a:latin typeface="Calibri"/>
                <a:ea typeface="Calibri"/>
                <a:cs typeface="Calibri"/>
                <a:sym typeface="Calibri"/>
              </a:rPr>
              <a:t>Copyright @ Forsys Inc.  |  Confidential</a:t>
            </a:r>
            <a:endParaRPr b="0" i="0" sz="700" u="none" cap="none" strike="noStrike">
              <a:solidFill>
                <a:srgbClr val="FFFFFF"/>
              </a:solidFill>
              <a:latin typeface="Calibri"/>
              <a:ea typeface="Calibri"/>
              <a:cs typeface="Calibri"/>
              <a:sym typeface="Calibri"/>
            </a:endParaRPr>
          </a:p>
        </p:txBody>
      </p:sp>
      <p:pic>
        <p:nvPicPr>
          <p:cNvPr id="35" name="Google Shape;35;p4"/>
          <p:cNvPicPr preferRelativeResize="0"/>
          <p:nvPr/>
        </p:nvPicPr>
        <p:blipFill rotWithShape="1">
          <a:blip r:embed="rId3">
            <a:alphaModFix/>
          </a:blip>
          <a:srcRect b="0" l="0" r="0" t="0"/>
          <a:stretch/>
        </p:blipFill>
        <p:spPr>
          <a:xfrm>
            <a:off x="8795597" y="61156"/>
            <a:ext cx="289800" cy="289800"/>
          </a:xfrm>
          <a:prstGeom prst="rect">
            <a:avLst/>
          </a:prstGeom>
          <a:noFill/>
          <a:ln>
            <a:noFill/>
          </a:ln>
        </p:spPr>
      </p:pic>
      <p:sp>
        <p:nvSpPr>
          <p:cNvPr id="36" name="Google Shape;36;p4"/>
          <p:cNvSpPr txBox="1"/>
          <p:nvPr/>
        </p:nvSpPr>
        <p:spPr>
          <a:xfrm>
            <a:off x="34336" y="4804783"/>
            <a:ext cx="569400" cy="33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65CDFF"/>
                </a:solidFill>
                <a:latin typeface="Montserrat"/>
                <a:ea typeface="Montserrat"/>
                <a:cs typeface="Montserrat"/>
                <a:sym typeface="Montserrat"/>
              </a:rPr>
              <a:t>‹#›</a:t>
            </a:fld>
            <a:endParaRPr b="0" i="0" sz="1000" u="none" cap="none" strike="noStrike">
              <a:solidFill>
                <a:srgbClr val="65CDFF"/>
              </a:solidFill>
              <a:latin typeface="Montserrat"/>
              <a:ea typeface="Montserrat"/>
              <a:cs typeface="Montserrat"/>
              <a:sym typeface="Montserra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1 1 1">
  <p:cSld name="VERTICAL_TEXT_1_1_1">
    <p:spTree>
      <p:nvGrpSpPr>
        <p:cNvPr id="37" name="Shape 37"/>
        <p:cNvGrpSpPr/>
        <p:nvPr/>
      </p:nvGrpSpPr>
      <p:grpSpPr>
        <a:xfrm>
          <a:off x="0" y="0"/>
          <a:ext cx="0" cy="0"/>
          <a:chOff x="0" y="0"/>
          <a:chExt cx="0" cy="0"/>
        </a:xfrm>
      </p:grpSpPr>
      <p:pic>
        <p:nvPicPr>
          <p:cNvPr id="38" name="Google Shape;38;p5"/>
          <p:cNvPicPr preferRelativeResize="0"/>
          <p:nvPr/>
        </p:nvPicPr>
        <p:blipFill rotWithShape="1">
          <a:blip r:embed="rId2">
            <a:alphaModFix amt="22000"/>
          </a:blip>
          <a:srcRect b="0" l="0" r="0" t="0"/>
          <a:stretch/>
        </p:blipFill>
        <p:spPr>
          <a:xfrm>
            <a:off x="1438391" y="0"/>
            <a:ext cx="7705620" cy="5143501"/>
          </a:xfrm>
          <a:prstGeom prst="rect">
            <a:avLst/>
          </a:prstGeom>
          <a:noFill/>
          <a:ln>
            <a:noFill/>
          </a:ln>
        </p:spPr>
      </p:pic>
      <p:sp>
        <p:nvSpPr>
          <p:cNvPr id="39" name="Google Shape;39;p5"/>
          <p:cNvSpPr/>
          <p:nvPr/>
        </p:nvSpPr>
        <p:spPr>
          <a:xfrm>
            <a:off x="-7425" y="0"/>
            <a:ext cx="5010300" cy="5143500"/>
          </a:xfrm>
          <a:prstGeom prst="rect">
            <a:avLst/>
          </a:prstGeom>
          <a:gradFill>
            <a:gsLst>
              <a:gs pos="0">
                <a:srgbClr val="21A0DD"/>
              </a:gs>
              <a:gs pos="66000">
                <a:srgbClr val="FFFFFF">
                  <a:alpha val="0"/>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
          <p:cNvSpPr/>
          <p:nvPr/>
        </p:nvSpPr>
        <p:spPr>
          <a:xfrm>
            <a:off x="-7425" y="0"/>
            <a:ext cx="5010300" cy="5143500"/>
          </a:xfrm>
          <a:prstGeom prst="rect">
            <a:avLst/>
          </a:prstGeom>
          <a:gradFill>
            <a:gsLst>
              <a:gs pos="0">
                <a:srgbClr val="21A0DD"/>
              </a:gs>
              <a:gs pos="66000">
                <a:srgbClr val="FFFFFF">
                  <a:alpha val="0"/>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
          <p:cNvSpPr/>
          <p:nvPr/>
        </p:nvSpPr>
        <p:spPr>
          <a:xfrm>
            <a:off x="-7425" y="0"/>
            <a:ext cx="5010300" cy="5143500"/>
          </a:xfrm>
          <a:prstGeom prst="rect">
            <a:avLst/>
          </a:prstGeom>
          <a:gradFill>
            <a:gsLst>
              <a:gs pos="0">
                <a:srgbClr val="21A0DD"/>
              </a:gs>
              <a:gs pos="66000">
                <a:srgbClr val="FFFFFF">
                  <a:alpha val="0"/>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5"/>
          <p:cNvSpPr/>
          <p:nvPr/>
        </p:nvSpPr>
        <p:spPr>
          <a:xfrm>
            <a:off x="-7425" y="7425"/>
            <a:ext cx="5010300" cy="5143500"/>
          </a:xfrm>
          <a:prstGeom prst="rect">
            <a:avLst/>
          </a:prstGeom>
          <a:gradFill>
            <a:gsLst>
              <a:gs pos="0">
                <a:srgbClr val="21A0DD"/>
              </a:gs>
              <a:gs pos="66000">
                <a:srgbClr val="FFFFFF">
                  <a:alpha val="0"/>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 name="Google Shape;43;p5"/>
          <p:cNvPicPr preferRelativeResize="0"/>
          <p:nvPr/>
        </p:nvPicPr>
        <p:blipFill rotWithShape="1">
          <a:blip r:embed="rId3">
            <a:alphaModFix/>
          </a:blip>
          <a:srcRect b="0" l="0" r="0" t="0"/>
          <a:stretch/>
        </p:blipFill>
        <p:spPr>
          <a:xfrm>
            <a:off x="-7433" y="-7433"/>
            <a:ext cx="5381623" cy="3204700"/>
          </a:xfrm>
          <a:prstGeom prst="rect">
            <a:avLst/>
          </a:prstGeom>
          <a:noFill/>
          <a:ln>
            <a:noFill/>
          </a:ln>
        </p:spPr>
      </p:pic>
      <p:sp>
        <p:nvSpPr>
          <p:cNvPr id="44" name="Google Shape;44;p5"/>
          <p:cNvSpPr txBox="1"/>
          <p:nvPr/>
        </p:nvSpPr>
        <p:spPr>
          <a:xfrm>
            <a:off x="113750" y="4758200"/>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US" sz="900" u="none" cap="none" strike="noStrike">
                <a:solidFill>
                  <a:srgbClr val="FFFFFF"/>
                </a:solidFill>
                <a:latin typeface="Calibri"/>
                <a:ea typeface="Calibri"/>
                <a:cs typeface="Calibri"/>
                <a:sym typeface="Calibri"/>
              </a:rPr>
              <a:t>Copyright @ Forsys Inc.  |  Confidential</a:t>
            </a:r>
            <a:endParaRPr b="0" i="0" sz="700" u="none" cap="none" strike="noStrike">
              <a:solidFill>
                <a:srgbClr val="FFFFFF"/>
              </a:solidFill>
              <a:latin typeface="Calibri"/>
              <a:ea typeface="Calibri"/>
              <a:cs typeface="Calibri"/>
              <a:sym typeface="Calibri"/>
            </a:endParaRPr>
          </a:p>
        </p:txBody>
      </p:sp>
      <p:pic>
        <p:nvPicPr>
          <p:cNvPr id="45" name="Google Shape;45;p5"/>
          <p:cNvPicPr preferRelativeResize="0"/>
          <p:nvPr/>
        </p:nvPicPr>
        <p:blipFill rotWithShape="1">
          <a:blip r:embed="rId4">
            <a:alphaModFix amt="24000"/>
          </a:blip>
          <a:srcRect b="0" l="0" r="0" t="0"/>
          <a:stretch/>
        </p:blipFill>
        <p:spPr>
          <a:xfrm>
            <a:off x="7417150" y="228600"/>
            <a:ext cx="1498250" cy="1979675"/>
          </a:xfrm>
          <a:prstGeom prst="rect">
            <a:avLst/>
          </a:prstGeom>
          <a:noFill/>
          <a:ln>
            <a:noFill/>
          </a:ln>
        </p:spPr>
      </p:pic>
      <p:pic>
        <p:nvPicPr>
          <p:cNvPr id="46" name="Google Shape;46;p5"/>
          <p:cNvPicPr preferRelativeResize="0"/>
          <p:nvPr/>
        </p:nvPicPr>
        <p:blipFill rotWithShape="1">
          <a:blip r:embed="rId5">
            <a:alphaModFix/>
          </a:blip>
          <a:srcRect b="0" l="0" r="0" t="0"/>
          <a:stretch/>
        </p:blipFill>
        <p:spPr>
          <a:xfrm>
            <a:off x="8614527" y="96597"/>
            <a:ext cx="446000" cy="446000"/>
          </a:xfrm>
          <a:prstGeom prst="rect">
            <a:avLst/>
          </a:prstGeom>
          <a:noFill/>
          <a:ln>
            <a:noFill/>
          </a:ln>
        </p:spPr>
      </p:pic>
      <p:pic>
        <p:nvPicPr>
          <p:cNvPr id="47" name="Google Shape;47;p5"/>
          <p:cNvPicPr preferRelativeResize="0"/>
          <p:nvPr/>
        </p:nvPicPr>
        <p:blipFill rotWithShape="1">
          <a:blip r:embed="rId6">
            <a:alphaModFix/>
          </a:blip>
          <a:srcRect b="0" l="0" r="0" t="0"/>
          <a:stretch/>
        </p:blipFill>
        <p:spPr>
          <a:xfrm>
            <a:off x="1336150" y="463600"/>
            <a:ext cx="2118800" cy="1059425"/>
          </a:xfrm>
          <a:prstGeom prst="rect">
            <a:avLst/>
          </a:prstGeom>
          <a:noFill/>
          <a:ln>
            <a:noFill/>
          </a:ln>
        </p:spPr>
      </p:pic>
      <p:pic>
        <p:nvPicPr>
          <p:cNvPr id="48" name="Google Shape;48;p5"/>
          <p:cNvPicPr preferRelativeResize="0"/>
          <p:nvPr/>
        </p:nvPicPr>
        <p:blipFill>
          <a:blip r:embed="rId7">
            <a:alphaModFix amt="5000"/>
          </a:blip>
          <a:stretch>
            <a:fillRect/>
          </a:stretch>
        </p:blipFill>
        <p:spPr>
          <a:xfrm>
            <a:off x="499625" y="3517187"/>
            <a:ext cx="1193700" cy="1193700"/>
          </a:xfrm>
          <a:prstGeom prst="rect">
            <a:avLst/>
          </a:prstGeom>
          <a:noFill/>
          <a:ln>
            <a:noFill/>
          </a:ln>
        </p:spPr>
      </p:pic>
      <p:sp>
        <p:nvSpPr>
          <p:cNvPr id="49" name="Google Shape;49;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315">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1 2">
  <p:cSld name="VERTICAL_TEXT_1_2_1">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0" l="0" r="0" t="0"/>
          <a:stretch/>
        </p:blipFill>
        <p:spPr>
          <a:xfrm>
            <a:off x="-7500" y="-7450"/>
            <a:ext cx="9157274" cy="5150966"/>
          </a:xfrm>
          <a:prstGeom prst="rect">
            <a:avLst/>
          </a:prstGeom>
          <a:noFill/>
          <a:ln>
            <a:noFill/>
          </a:ln>
        </p:spPr>
      </p:pic>
      <p:pic>
        <p:nvPicPr>
          <p:cNvPr id="52" name="Google Shape;52;p6"/>
          <p:cNvPicPr preferRelativeResize="0"/>
          <p:nvPr/>
        </p:nvPicPr>
        <p:blipFill rotWithShape="1">
          <a:blip r:embed="rId3">
            <a:alphaModFix/>
          </a:blip>
          <a:srcRect b="0" l="0" r="0" t="0"/>
          <a:stretch/>
        </p:blipFill>
        <p:spPr>
          <a:xfrm>
            <a:off x="8542700" y="0"/>
            <a:ext cx="607075" cy="607075"/>
          </a:xfrm>
          <a:prstGeom prst="rect">
            <a:avLst/>
          </a:prstGeom>
          <a:noFill/>
          <a:ln>
            <a:noFill/>
          </a:ln>
        </p:spPr>
      </p:pic>
      <p:sp>
        <p:nvSpPr>
          <p:cNvPr id="53" name="Google Shape;53;p6"/>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6"/>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US" sz="900" u="none" cap="none" strike="noStrike">
                <a:solidFill>
                  <a:srgbClr val="FFFFFF"/>
                </a:solidFill>
                <a:latin typeface="Calibri"/>
                <a:ea typeface="Calibri"/>
                <a:cs typeface="Calibri"/>
                <a:sym typeface="Calibri"/>
              </a:rPr>
              <a:t>Copyright @ Forsys Inc.  |  Confidential</a:t>
            </a:r>
            <a:endParaRPr b="0" i="0" sz="700" u="none" cap="none" strike="noStrike">
              <a:solidFill>
                <a:srgbClr val="FFFFFF"/>
              </a:solidFill>
              <a:latin typeface="Calibri"/>
              <a:ea typeface="Calibri"/>
              <a:cs typeface="Calibri"/>
              <a:sym typeface="Calibri"/>
            </a:endParaRPr>
          </a:p>
        </p:txBody>
      </p:sp>
      <p:pic>
        <p:nvPicPr>
          <p:cNvPr id="55" name="Google Shape;55;p6"/>
          <p:cNvPicPr preferRelativeResize="0"/>
          <p:nvPr/>
        </p:nvPicPr>
        <p:blipFill rotWithShape="1">
          <a:blip r:embed="rId4">
            <a:alphaModFix/>
          </a:blip>
          <a:srcRect b="0" l="0" r="0" t="0"/>
          <a:stretch/>
        </p:blipFill>
        <p:spPr>
          <a:xfrm>
            <a:off x="44597" y="37156"/>
            <a:ext cx="289800" cy="289800"/>
          </a:xfrm>
          <a:prstGeom prst="rect">
            <a:avLst/>
          </a:prstGeom>
          <a:noFill/>
          <a:ln>
            <a:noFill/>
          </a:ln>
        </p:spPr>
      </p:pic>
      <p:sp>
        <p:nvSpPr>
          <p:cNvPr id="56" name="Google Shape;56;p6"/>
          <p:cNvSpPr txBox="1"/>
          <p:nvPr/>
        </p:nvSpPr>
        <p:spPr>
          <a:xfrm>
            <a:off x="34336" y="4804783"/>
            <a:ext cx="569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US" sz="1000">
                <a:solidFill>
                  <a:srgbClr val="65CDFF"/>
                </a:solidFill>
                <a:latin typeface="Montserrat"/>
                <a:ea typeface="Montserrat"/>
                <a:cs typeface="Montserrat"/>
                <a:sym typeface="Montserrat"/>
              </a:rPr>
              <a:t>‹#›</a:t>
            </a:fld>
            <a:endParaRPr sz="1000">
              <a:solidFill>
                <a:srgbClr val="65CDFF"/>
              </a:solidFill>
              <a:latin typeface="Montserrat"/>
              <a:ea typeface="Montserrat"/>
              <a:cs typeface="Montserrat"/>
              <a:sym typeface="Montserrat"/>
            </a:endParaRPr>
          </a:p>
        </p:txBody>
      </p:sp>
      <p:sp>
        <p:nvSpPr>
          <p:cNvPr id="57" name="Google Shape;57;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1 1">
  <p:cSld name="Title and Content 3_1">
    <p:spTree>
      <p:nvGrpSpPr>
        <p:cNvPr id="58" name="Shape 58"/>
        <p:cNvGrpSpPr/>
        <p:nvPr/>
      </p:nvGrpSpPr>
      <p:grpSpPr>
        <a:xfrm>
          <a:off x="0" y="0"/>
          <a:ext cx="0" cy="0"/>
          <a:chOff x="0" y="0"/>
          <a:chExt cx="0" cy="0"/>
        </a:xfrm>
      </p:grpSpPr>
      <p:sp>
        <p:nvSpPr>
          <p:cNvPr id="59" name="Google Shape;59;p7"/>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lang="en-US" sz="900">
                <a:solidFill>
                  <a:srgbClr val="FFFFFF"/>
                </a:solidFill>
                <a:latin typeface="Calibri"/>
                <a:ea typeface="Calibri"/>
                <a:cs typeface="Calibri"/>
                <a:sym typeface="Calibri"/>
              </a:rPr>
              <a:t>Copyright @ Forsys Inc.  |  Confidential</a:t>
            </a:r>
            <a:endParaRPr sz="700">
              <a:solidFill>
                <a:srgbClr val="FFFFFF"/>
              </a:solidFill>
              <a:latin typeface="Calibri"/>
              <a:ea typeface="Calibri"/>
              <a:cs typeface="Calibri"/>
              <a:sym typeface="Calibri"/>
            </a:endParaRPr>
          </a:p>
        </p:txBody>
      </p:sp>
      <p:pic>
        <p:nvPicPr>
          <p:cNvPr id="61" name="Google Shape;61;p7"/>
          <p:cNvPicPr preferRelativeResize="0"/>
          <p:nvPr/>
        </p:nvPicPr>
        <p:blipFill>
          <a:blip r:embed="rId2">
            <a:alphaModFix/>
          </a:blip>
          <a:stretch>
            <a:fillRect/>
          </a:stretch>
        </p:blipFill>
        <p:spPr>
          <a:xfrm>
            <a:off x="126276" y="96599"/>
            <a:ext cx="289800" cy="289800"/>
          </a:xfrm>
          <a:prstGeom prst="rect">
            <a:avLst/>
          </a:prstGeom>
          <a:noFill/>
          <a:ln>
            <a:noFill/>
          </a:ln>
        </p:spPr>
      </p:pic>
      <p:pic>
        <p:nvPicPr>
          <p:cNvPr id="62" name="Google Shape;62;p7"/>
          <p:cNvPicPr preferRelativeResize="0"/>
          <p:nvPr/>
        </p:nvPicPr>
        <p:blipFill rotWithShape="1">
          <a:blip r:embed="rId3">
            <a:alphaModFix/>
          </a:blip>
          <a:srcRect b="0" l="0" r="0" t="0"/>
          <a:stretch/>
        </p:blipFill>
        <p:spPr>
          <a:xfrm>
            <a:off x="8542700" y="0"/>
            <a:ext cx="607075" cy="607075"/>
          </a:xfrm>
          <a:prstGeom prst="rect">
            <a:avLst/>
          </a:prstGeom>
          <a:noFill/>
          <a:ln>
            <a:noFill/>
          </a:ln>
          <a:effectLst>
            <a:outerShdw blurRad="200025" rotWithShape="0" algn="bl" dir="5400000" dist="19050">
              <a:srgbClr val="000000">
                <a:alpha val="34000"/>
              </a:srgbClr>
            </a:outerShdw>
          </a:effectLst>
        </p:spPr>
      </p:pic>
      <p:sp>
        <p:nvSpPr>
          <p:cNvPr id="63" name="Google Shape;63;p7"/>
          <p:cNvSpPr txBox="1"/>
          <p:nvPr>
            <p:ph type="title"/>
          </p:nvPr>
        </p:nvSpPr>
        <p:spPr>
          <a:xfrm>
            <a:off x="496851" y="-21263"/>
            <a:ext cx="7886700" cy="649200"/>
          </a:xfrm>
          <a:prstGeom prst="rect">
            <a:avLst/>
          </a:prstGeom>
          <a:noFill/>
          <a:ln>
            <a:noFill/>
          </a:ln>
        </p:spPr>
        <p:txBody>
          <a:bodyPr anchorCtr="0" anchor="ctr" bIns="25700" lIns="51425" spcFirstLastPara="1" rIns="51425" wrap="square" tIns="25700">
            <a:noAutofit/>
          </a:bodyPr>
          <a:lstStyle>
            <a:lvl1pPr lvl="0" marR="0" rtl="0" algn="l">
              <a:lnSpc>
                <a:spcPct val="90000"/>
              </a:lnSpc>
              <a:spcBef>
                <a:spcPts val="0"/>
              </a:spcBef>
              <a:spcAft>
                <a:spcPts val="0"/>
              </a:spcAft>
              <a:buClr>
                <a:srgbClr val="21A0DD"/>
              </a:buClr>
              <a:buSzPts val="2000"/>
              <a:buFont typeface="Montserrat"/>
              <a:buNone/>
              <a:defRPr b="1" i="0" sz="2000" u="none" cap="none" strike="noStrike">
                <a:solidFill>
                  <a:srgbClr val="21A0DD"/>
                </a:solidFill>
                <a:latin typeface="Montserrat"/>
                <a:ea typeface="Montserrat"/>
                <a:cs typeface="Montserrat"/>
                <a:sym typeface="Montserrat"/>
              </a:defRPr>
            </a:lvl1pPr>
            <a:lvl2pPr lvl="1"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2pPr>
            <a:lvl3pPr lvl="2"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3pPr>
            <a:lvl4pPr lvl="3"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4pPr>
            <a:lvl5pPr lvl="4"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5pPr>
            <a:lvl6pPr lvl="5"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6pPr>
            <a:lvl7pPr lvl="6"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7pPr>
            <a:lvl8pPr lvl="7"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8pPr>
            <a:lvl9pPr lvl="8"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9pPr>
          </a:lstStyle>
          <a:p/>
        </p:txBody>
      </p:sp>
      <p:sp>
        <p:nvSpPr>
          <p:cNvPr id="64" name="Google Shape;64;p7"/>
          <p:cNvSpPr txBox="1"/>
          <p:nvPr/>
        </p:nvSpPr>
        <p:spPr>
          <a:xfrm>
            <a:off x="34336" y="4804783"/>
            <a:ext cx="569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US" sz="1000">
                <a:solidFill>
                  <a:srgbClr val="65CDFF"/>
                </a:solidFill>
                <a:latin typeface="Montserrat"/>
                <a:ea typeface="Montserrat"/>
                <a:cs typeface="Montserrat"/>
                <a:sym typeface="Montserrat"/>
              </a:rPr>
              <a:t>‹#›</a:t>
            </a:fld>
            <a:endParaRPr sz="1000">
              <a:solidFill>
                <a:srgbClr val="65CDFF"/>
              </a:solidFill>
              <a:latin typeface="Montserrat"/>
              <a:ea typeface="Montserrat"/>
              <a:cs typeface="Montserrat"/>
              <a:sym typeface="Montserrat"/>
            </a:endParaRPr>
          </a:p>
        </p:txBody>
      </p:sp>
      <p:sp>
        <p:nvSpPr>
          <p:cNvPr id="65" name="Google Shape;65;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1 1 1">
  <p:cSld name="Title and Content 3_1_2">
    <p:spTree>
      <p:nvGrpSpPr>
        <p:cNvPr id="66" name="Shape 66"/>
        <p:cNvGrpSpPr/>
        <p:nvPr/>
      </p:nvGrpSpPr>
      <p:grpSpPr>
        <a:xfrm>
          <a:off x="0" y="0"/>
          <a:ext cx="0" cy="0"/>
          <a:chOff x="0" y="0"/>
          <a:chExt cx="0" cy="0"/>
        </a:xfrm>
      </p:grpSpPr>
      <p:sp>
        <p:nvSpPr>
          <p:cNvPr id="67" name="Google Shape;67;p8"/>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lang="en-US" sz="900">
                <a:solidFill>
                  <a:srgbClr val="FFFFFF"/>
                </a:solidFill>
                <a:latin typeface="Calibri"/>
                <a:ea typeface="Calibri"/>
                <a:cs typeface="Calibri"/>
                <a:sym typeface="Calibri"/>
              </a:rPr>
              <a:t>Copyright @ Forsys Inc.  |  Confidential</a:t>
            </a:r>
            <a:endParaRPr sz="700">
              <a:solidFill>
                <a:srgbClr val="FFFFFF"/>
              </a:solidFill>
              <a:latin typeface="Calibri"/>
              <a:ea typeface="Calibri"/>
              <a:cs typeface="Calibri"/>
              <a:sym typeface="Calibri"/>
            </a:endParaRPr>
          </a:p>
        </p:txBody>
      </p:sp>
      <p:pic>
        <p:nvPicPr>
          <p:cNvPr id="69" name="Google Shape;69;p8"/>
          <p:cNvPicPr preferRelativeResize="0"/>
          <p:nvPr/>
        </p:nvPicPr>
        <p:blipFill>
          <a:blip r:embed="rId2">
            <a:alphaModFix/>
          </a:blip>
          <a:stretch>
            <a:fillRect/>
          </a:stretch>
        </p:blipFill>
        <p:spPr>
          <a:xfrm>
            <a:off x="126276" y="96599"/>
            <a:ext cx="289800" cy="289800"/>
          </a:xfrm>
          <a:prstGeom prst="rect">
            <a:avLst/>
          </a:prstGeom>
          <a:noFill/>
          <a:ln>
            <a:noFill/>
          </a:ln>
        </p:spPr>
      </p:pic>
      <p:pic>
        <p:nvPicPr>
          <p:cNvPr id="70" name="Google Shape;70;p8"/>
          <p:cNvPicPr preferRelativeResize="0"/>
          <p:nvPr/>
        </p:nvPicPr>
        <p:blipFill rotWithShape="1">
          <a:blip r:embed="rId3">
            <a:alphaModFix/>
          </a:blip>
          <a:srcRect b="0" l="0" r="0" t="0"/>
          <a:stretch/>
        </p:blipFill>
        <p:spPr>
          <a:xfrm>
            <a:off x="8542700" y="0"/>
            <a:ext cx="607075" cy="607075"/>
          </a:xfrm>
          <a:prstGeom prst="rect">
            <a:avLst/>
          </a:prstGeom>
          <a:noFill/>
          <a:ln>
            <a:noFill/>
          </a:ln>
          <a:effectLst>
            <a:outerShdw blurRad="200025" rotWithShape="0" algn="bl" dir="5400000" dist="19050">
              <a:srgbClr val="000000">
                <a:alpha val="34000"/>
              </a:srgbClr>
            </a:outerShdw>
          </a:effectLst>
        </p:spPr>
      </p:pic>
      <p:sp>
        <p:nvSpPr>
          <p:cNvPr id="71" name="Google Shape;71;p8"/>
          <p:cNvSpPr txBox="1"/>
          <p:nvPr>
            <p:ph type="title"/>
          </p:nvPr>
        </p:nvSpPr>
        <p:spPr>
          <a:xfrm>
            <a:off x="496851" y="-21263"/>
            <a:ext cx="7886700" cy="649200"/>
          </a:xfrm>
          <a:prstGeom prst="rect">
            <a:avLst/>
          </a:prstGeom>
          <a:noFill/>
          <a:ln>
            <a:noFill/>
          </a:ln>
        </p:spPr>
        <p:txBody>
          <a:bodyPr anchorCtr="0" anchor="ctr" bIns="25700" lIns="51425" spcFirstLastPara="1" rIns="51425" wrap="square" tIns="25700">
            <a:noAutofit/>
          </a:bodyPr>
          <a:lstStyle>
            <a:lvl1pPr lvl="0" marR="0" rtl="0" algn="l">
              <a:lnSpc>
                <a:spcPct val="90000"/>
              </a:lnSpc>
              <a:spcBef>
                <a:spcPts val="0"/>
              </a:spcBef>
              <a:spcAft>
                <a:spcPts val="0"/>
              </a:spcAft>
              <a:buClr>
                <a:srgbClr val="21A0DD"/>
              </a:buClr>
              <a:buSzPts val="2000"/>
              <a:buFont typeface="Montserrat"/>
              <a:buNone/>
              <a:defRPr b="1" i="0" sz="2000" u="none" cap="none" strike="noStrike">
                <a:solidFill>
                  <a:srgbClr val="21A0DD"/>
                </a:solidFill>
                <a:latin typeface="Montserrat"/>
                <a:ea typeface="Montserrat"/>
                <a:cs typeface="Montserrat"/>
                <a:sym typeface="Montserrat"/>
              </a:defRPr>
            </a:lvl1pPr>
            <a:lvl2pPr lvl="1"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2pPr>
            <a:lvl3pPr lvl="2"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3pPr>
            <a:lvl4pPr lvl="3"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4pPr>
            <a:lvl5pPr lvl="4"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5pPr>
            <a:lvl6pPr lvl="5"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6pPr>
            <a:lvl7pPr lvl="6"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7pPr>
            <a:lvl8pPr lvl="7"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8pPr>
            <a:lvl9pPr lvl="8" marR="0" rtl="0" algn="l">
              <a:lnSpc>
                <a:spcPct val="100000"/>
              </a:lnSpc>
              <a:spcBef>
                <a:spcPts val="0"/>
              </a:spcBef>
              <a:spcAft>
                <a:spcPts val="0"/>
              </a:spcAft>
              <a:buClr>
                <a:srgbClr val="21A0DD"/>
              </a:buClr>
              <a:buSzPts val="2000"/>
              <a:buFont typeface="Montserrat"/>
              <a:buNone/>
              <a:defRPr i="0" sz="2000" u="none" cap="none" strike="noStrike">
                <a:solidFill>
                  <a:srgbClr val="21A0DD"/>
                </a:solidFill>
                <a:latin typeface="Montserrat"/>
                <a:ea typeface="Montserrat"/>
                <a:cs typeface="Montserrat"/>
                <a:sym typeface="Montserrat"/>
              </a:defRPr>
            </a:lvl9pPr>
          </a:lstStyle>
          <a:p/>
        </p:txBody>
      </p:sp>
      <p:sp>
        <p:nvSpPr>
          <p:cNvPr id="72" name="Google Shape;72;p8"/>
          <p:cNvSpPr txBox="1"/>
          <p:nvPr/>
        </p:nvSpPr>
        <p:spPr>
          <a:xfrm>
            <a:off x="34336" y="4804783"/>
            <a:ext cx="569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US" sz="1000">
                <a:solidFill>
                  <a:srgbClr val="65CDFF"/>
                </a:solidFill>
                <a:latin typeface="Montserrat"/>
                <a:ea typeface="Montserrat"/>
                <a:cs typeface="Montserrat"/>
                <a:sym typeface="Montserrat"/>
              </a:rPr>
              <a:t>‹#›</a:t>
            </a:fld>
            <a:endParaRPr sz="1000">
              <a:solidFill>
                <a:srgbClr val="65CDFF"/>
              </a:solidFill>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Title and Content 3_3">
    <p:spTree>
      <p:nvGrpSpPr>
        <p:cNvPr id="73" name="Shape 73"/>
        <p:cNvGrpSpPr/>
        <p:nvPr/>
      </p:nvGrpSpPr>
      <p:grpSpPr>
        <a:xfrm>
          <a:off x="0" y="0"/>
          <a:ext cx="0" cy="0"/>
          <a:chOff x="0" y="0"/>
          <a:chExt cx="0" cy="0"/>
        </a:xfrm>
      </p:grpSpPr>
      <p:sp>
        <p:nvSpPr>
          <p:cNvPr id="74" name="Google Shape;74;p9"/>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lang="en-US" sz="900">
                <a:solidFill>
                  <a:srgbClr val="FFFFFF"/>
                </a:solidFill>
                <a:latin typeface="Calibri"/>
                <a:ea typeface="Calibri"/>
                <a:cs typeface="Calibri"/>
                <a:sym typeface="Calibri"/>
              </a:rPr>
              <a:t>Copyright @ Forsys Inc.  |  Confidential</a:t>
            </a:r>
            <a:endParaRPr sz="700">
              <a:solidFill>
                <a:srgbClr val="FFFFFF"/>
              </a:solidFill>
              <a:latin typeface="Calibri"/>
              <a:ea typeface="Calibri"/>
              <a:cs typeface="Calibri"/>
              <a:sym typeface="Calibri"/>
            </a:endParaRPr>
          </a:p>
        </p:txBody>
      </p:sp>
      <p:pic>
        <p:nvPicPr>
          <p:cNvPr id="76" name="Google Shape;76;p9"/>
          <p:cNvPicPr preferRelativeResize="0"/>
          <p:nvPr/>
        </p:nvPicPr>
        <p:blipFill>
          <a:blip r:embed="rId2">
            <a:alphaModFix/>
          </a:blip>
          <a:stretch>
            <a:fillRect/>
          </a:stretch>
        </p:blipFill>
        <p:spPr>
          <a:xfrm>
            <a:off x="126276" y="96599"/>
            <a:ext cx="289800" cy="289800"/>
          </a:xfrm>
          <a:prstGeom prst="rect">
            <a:avLst/>
          </a:prstGeom>
          <a:noFill/>
          <a:ln>
            <a:noFill/>
          </a:ln>
        </p:spPr>
      </p:pic>
      <p:pic>
        <p:nvPicPr>
          <p:cNvPr id="77" name="Google Shape;77;p9"/>
          <p:cNvPicPr preferRelativeResize="0"/>
          <p:nvPr/>
        </p:nvPicPr>
        <p:blipFill rotWithShape="1">
          <a:blip r:embed="rId3">
            <a:alphaModFix/>
          </a:blip>
          <a:srcRect b="0" l="0" r="0" t="0"/>
          <a:stretch/>
        </p:blipFill>
        <p:spPr>
          <a:xfrm>
            <a:off x="8542700" y="0"/>
            <a:ext cx="607075" cy="607075"/>
          </a:xfrm>
          <a:prstGeom prst="rect">
            <a:avLst/>
          </a:prstGeom>
          <a:noFill/>
          <a:ln>
            <a:noFill/>
          </a:ln>
          <a:effectLst>
            <a:outerShdw blurRad="200025" rotWithShape="0" algn="bl" dir="5400000" dist="19050">
              <a:srgbClr val="000000">
                <a:alpha val="34000"/>
              </a:srgbClr>
            </a:outerShdw>
          </a:effectLst>
        </p:spPr>
      </p:pic>
      <p:sp>
        <p:nvSpPr>
          <p:cNvPr id="78" name="Google Shape;78;p9"/>
          <p:cNvSpPr txBox="1"/>
          <p:nvPr>
            <p:ph idx="12" type="sldNum"/>
          </p:nvPr>
        </p:nvSpPr>
        <p:spPr>
          <a:xfrm>
            <a:off x="34336" y="4804783"/>
            <a:ext cx="569400" cy="3318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1 1 2">
  <p:cSld name="Title and Content 3_1_1">
    <p:spTree>
      <p:nvGrpSpPr>
        <p:cNvPr id="79" name="Shape 79"/>
        <p:cNvGrpSpPr/>
        <p:nvPr/>
      </p:nvGrpSpPr>
      <p:grpSpPr>
        <a:xfrm>
          <a:off x="0" y="0"/>
          <a:ext cx="0" cy="0"/>
          <a:chOff x="0" y="0"/>
          <a:chExt cx="0" cy="0"/>
        </a:xfrm>
      </p:grpSpPr>
      <p:sp>
        <p:nvSpPr>
          <p:cNvPr id="80" name="Google Shape;80;p10"/>
          <p:cNvSpPr/>
          <p:nvPr/>
        </p:nvSpPr>
        <p:spPr>
          <a:xfrm>
            <a:off x="0" y="0"/>
            <a:ext cx="9144000" cy="2058600"/>
          </a:xfrm>
          <a:prstGeom prst="rect">
            <a:avLst/>
          </a:prstGeom>
          <a:gradFill>
            <a:gsLst>
              <a:gs pos="0">
                <a:srgbClr val="21A0DD"/>
              </a:gs>
              <a:gs pos="100000">
                <a:srgbClr val="0B539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0"/>
          <p:cNvSpPr/>
          <p:nvPr/>
        </p:nvSpPr>
        <p:spPr>
          <a:xfrm>
            <a:off x="6957100" y="4861050"/>
            <a:ext cx="2333700" cy="289800"/>
          </a:xfrm>
          <a:prstGeom prst="roundRect">
            <a:avLst>
              <a:gd fmla="val 50000" name="adj"/>
            </a:avLst>
          </a:prstGeom>
          <a:gradFill>
            <a:gsLst>
              <a:gs pos="0">
                <a:srgbClr val="0D4582"/>
              </a:gs>
              <a:gs pos="50000">
                <a:srgbClr val="0B5394"/>
              </a:gs>
              <a:gs pos="100000">
                <a:srgbClr val="ED1E2E"/>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txBox="1"/>
          <p:nvPr/>
        </p:nvSpPr>
        <p:spPr>
          <a:xfrm>
            <a:off x="7080950" y="4831903"/>
            <a:ext cx="2286900" cy="2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lang="en-US" sz="900">
                <a:solidFill>
                  <a:srgbClr val="FFFFFF"/>
                </a:solidFill>
                <a:latin typeface="Calibri"/>
                <a:ea typeface="Calibri"/>
                <a:cs typeface="Calibri"/>
                <a:sym typeface="Calibri"/>
              </a:rPr>
              <a:t>Copyright @ Forsys Inc.  |  Confidential</a:t>
            </a:r>
            <a:endParaRPr sz="700">
              <a:solidFill>
                <a:srgbClr val="FFFFFF"/>
              </a:solidFill>
              <a:latin typeface="Calibri"/>
              <a:ea typeface="Calibri"/>
              <a:cs typeface="Calibri"/>
              <a:sym typeface="Calibri"/>
            </a:endParaRPr>
          </a:p>
        </p:txBody>
      </p:sp>
      <p:pic>
        <p:nvPicPr>
          <p:cNvPr id="83" name="Google Shape;83;p10"/>
          <p:cNvPicPr preferRelativeResize="0"/>
          <p:nvPr/>
        </p:nvPicPr>
        <p:blipFill>
          <a:blip r:embed="rId2">
            <a:alphaModFix/>
          </a:blip>
          <a:stretch>
            <a:fillRect/>
          </a:stretch>
        </p:blipFill>
        <p:spPr>
          <a:xfrm>
            <a:off x="126276" y="96599"/>
            <a:ext cx="289800" cy="2898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8542700" y="0"/>
            <a:ext cx="607075" cy="607075"/>
          </a:xfrm>
          <a:prstGeom prst="rect">
            <a:avLst/>
          </a:prstGeom>
          <a:noFill/>
          <a:ln>
            <a:noFill/>
          </a:ln>
          <a:effectLst>
            <a:outerShdw blurRad="200025" rotWithShape="0" algn="bl" dir="5400000" dist="19050">
              <a:srgbClr val="000000">
                <a:alpha val="34000"/>
              </a:srgbClr>
            </a:outerShdw>
          </a:effectLst>
        </p:spPr>
      </p:pic>
      <p:sp>
        <p:nvSpPr>
          <p:cNvPr id="85" name="Google Shape;85;p10"/>
          <p:cNvSpPr txBox="1"/>
          <p:nvPr>
            <p:ph idx="12" type="sldNum"/>
          </p:nvPr>
        </p:nvSpPr>
        <p:spPr>
          <a:xfrm>
            <a:off x="34336" y="4804783"/>
            <a:ext cx="569400" cy="3318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p11"/>
          <p:cNvSpPr txBox="1"/>
          <p:nvPr>
            <p:ph type="title"/>
          </p:nvPr>
        </p:nvSpPr>
        <p:spPr>
          <a:xfrm>
            <a:off x="727175" y="0"/>
            <a:ext cx="7788300" cy="649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rgbClr val="555555"/>
              </a:buClr>
              <a:buSzPts val="1400"/>
              <a:buNone/>
              <a:defRPr>
                <a:solidFill>
                  <a:srgbClr val="555555"/>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8" name="Google Shape;88;p11"/>
          <p:cNvSpPr/>
          <p:nvPr/>
        </p:nvSpPr>
        <p:spPr>
          <a:xfrm>
            <a:off x="-5911" y="-6675"/>
            <a:ext cx="635400" cy="584100"/>
          </a:xfrm>
          <a:prstGeom prst="rect">
            <a:avLst/>
          </a:prstGeom>
          <a:solidFill>
            <a:srgbClr val="FF92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9" name="Google Shape;89;p11"/>
          <p:cNvSpPr txBox="1"/>
          <p:nvPr/>
        </p:nvSpPr>
        <p:spPr>
          <a:xfrm>
            <a:off x="6903925" y="4834750"/>
            <a:ext cx="2169900" cy="298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Clr>
                <a:srgbClr val="000000"/>
              </a:buClr>
              <a:buSzPts val="900"/>
              <a:buFont typeface="Arial"/>
              <a:buNone/>
            </a:pPr>
            <a:r>
              <a:rPr b="0" i="0" lang="en-US" sz="900" u="none" cap="none" strike="noStrike">
                <a:solidFill>
                  <a:srgbClr val="7F7F7F"/>
                </a:solidFill>
                <a:latin typeface="Calibri"/>
                <a:ea typeface="Calibri"/>
                <a:cs typeface="Calibri"/>
                <a:sym typeface="Calibri"/>
              </a:rPr>
              <a:t>Forsysinc.com</a:t>
            </a:r>
            <a:endParaRPr b="0" i="0" sz="900" u="none" cap="none" strike="noStrike">
              <a:solidFill>
                <a:srgbClr val="7F7F7F"/>
              </a:solidFill>
              <a:latin typeface="Calibri"/>
              <a:ea typeface="Calibri"/>
              <a:cs typeface="Calibri"/>
              <a:sym typeface="Calibri"/>
            </a:endParaRPr>
          </a:p>
        </p:txBody>
      </p:sp>
      <p:sp>
        <p:nvSpPr>
          <p:cNvPr id="90" name="Google Shape;90;p11"/>
          <p:cNvSpPr txBox="1"/>
          <p:nvPr>
            <p:ph idx="12" type="sldNum"/>
          </p:nvPr>
        </p:nvSpPr>
        <p:spPr>
          <a:xfrm>
            <a:off x="-5927" y="88575"/>
            <a:ext cx="635400" cy="393600"/>
          </a:xfrm>
          <a:prstGeom prst="rect">
            <a:avLst/>
          </a:prstGeom>
        </p:spPr>
        <p:txBody>
          <a:bodyPr anchorCtr="0" anchor="t" bIns="91425" lIns="91425" spcFirstLastPara="1" rIns="91425" wrap="square" tIns="91425">
            <a:noAutofit/>
          </a:bodyPr>
          <a:lstStyle>
            <a:lvl1pPr lvl="0" rtl="0" algn="ctr">
              <a:buNone/>
              <a:defRPr>
                <a:solidFill>
                  <a:srgbClr val="FFFFFF"/>
                </a:solidFill>
                <a:latin typeface="Century Gothic"/>
                <a:ea typeface="Century Gothic"/>
                <a:cs typeface="Century Gothic"/>
                <a:sym typeface="Century Gothic"/>
              </a:defRPr>
            </a:lvl1pPr>
            <a:lvl2pPr lvl="1" rtl="0" algn="ctr">
              <a:buNone/>
              <a:defRPr>
                <a:solidFill>
                  <a:srgbClr val="FFFFFF"/>
                </a:solidFill>
                <a:latin typeface="Century Gothic"/>
                <a:ea typeface="Century Gothic"/>
                <a:cs typeface="Century Gothic"/>
                <a:sym typeface="Century Gothic"/>
              </a:defRPr>
            </a:lvl2pPr>
            <a:lvl3pPr lvl="2" rtl="0" algn="ctr">
              <a:buNone/>
              <a:defRPr>
                <a:solidFill>
                  <a:srgbClr val="FFFFFF"/>
                </a:solidFill>
                <a:latin typeface="Century Gothic"/>
                <a:ea typeface="Century Gothic"/>
                <a:cs typeface="Century Gothic"/>
                <a:sym typeface="Century Gothic"/>
              </a:defRPr>
            </a:lvl3pPr>
            <a:lvl4pPr lvl="3" rtl="0" algn="ctr">
              <a:buNone/>
              <a:defRPr>
                <a:solidFill>
                  <a:srgbClr val="FFFFFF"/>
                </a:solidFill>
                <a:latin typeface="Century Gothic"/>
                <a:ea typeface="Century Gothic"/>
                <a:cs typeface="Century Gothic"/>
                <a:sym typeface="Century Gothic"/>
              </a:defRPr>
            </a:lvl4pPr>
            <a:lvl5pPr lvl="4" rtl="0" algn="ctr">
              <a:buNone/>
              <a:defRPr>
                <a:solidFill>
                  <a:srgbClr val="FFFFFF"/>
                </a:solidFill>
                <a:latin typeface="Century Gothic"/>
                <a:ea typeface="Century Gothic"/>
                <a:cs typeface="Century Gothic"/>
                <a:sym typeface="Century Gothic"/>
              </a:defRPr>
            </a:lvl5pPr>
            <a:lvl6pPr lvl="5" rtl="0" algn="ctr">
              <a:buNone/>
              <a:defRPr>
                <a:solidFill>
                  <a:srgbClr val="FFFFFF"/>
                </a:solidFill>
                <a:latin typeface="Century Gothic"/>
                <a:ea typeface="Century Gothic"/>
                <a:cs typeface="Century Gothic"/>
                <a:sym typeface="Century Gothic"/>
              </a:defRPr>
            </a:lvl6pPr>
            <a:lvl7pPr lvl="6" rtl="0" algn="ctr">
              <a:buNone/>
              <a:defRPr>
                <a:solidFill>
                  <a:srgbClr val="FFFFFF"/>
                </a:solidFill>
                <a:latin typeface="Century Gothic"/>
                <a:ea typeface="Century Gothic"/>
                <a:cs typeface="Century Gothic"/>
                <a:sym typeface="Century Gothic"/>
              </a:defRPr>
            </a:lvl7pPr>
            <a:lvl8pPr lvl="7" rtl="0" algn="ctr">
              <a:buNone/>
              <a:defRPr>
                <a:solidFill>
                  <a:srgbClr val="FFFFFF"/>
                </a:solidFill>
                <a:latin typeface="Century Gothic"/>
                <a:ea typeface="Century Gothic"/>
                <a:cs typeface="Century Gothic"/>
                <a:sym typeface="Century Gothic"/>
              </a:defRPr>
            </a:lvl8pPr>
            <a:lvl9pPr lvl="8" rtl="0" algn="ctr">
              <a:buNone/>
              <a:defRPr>
                <a:solidFill>
                  <a:srgbClr val="FFFFF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91" name="Google Shape;91;p11"/>
          <p:cNvSpPr/>
          <p:nvPr/>
        </p:nvSpPr>
        <p:spPr>
          <a:xfrm>
            <a:off x="-5913" y="4809539"/>
            <a:ext cx="9155700" cy="348900"/>
          </a:xfrm>
          <a:prstGeom prst="rect">
            <a:avLst/>
          </a:prstGeom>
          <a:solidFill>
            <a:srgbClr val="E7E6E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cxnSp>
        <p:nvCxnSpPr>
          <p:cNvPr id="92" name="Google Shape;92;p11"/>
          <p:cNvCxnSpPr/>
          <p:nvPr/>
        </p:nvCxnSpPr>
        <p:spPr>
          <a:xfrm>
            <a:off x="-741" y="4809125"/>
            <a:ext cx="9148800" cy="0"/>
          </a:xfrm>
          <a:prstGeom prst="straightConnector1">
            <a:avLst/>
          </a:prstGeom>
          <a:noFill/>
          <a:ln cap="flat" cmpd="sng" w="9525">
            <a:solidFill>
              <a:srgbClr val="FF9200"/>
            </a:solidFill>
            <a:prstDash val="solid"/>
            <a:round/>
            <a:headEnd len="sm" w="sm" type="none"/>
            <a:tailEnd len="sm" w="sm" type="none"/>
          </a:ln>
        </p:spPr>
      </p:cxnSp>
      <p:pic>
        <p:nvPicPr>
          <p:cNvPr id="93" name="Google Shape;93;p11"/>
          <p:cNvPicPr preferRelativeResize="0"/>
          <p:nvPr/>
        </p:nvPicPr>
        <p:blipFill rotWithShape="1">
          <a:blip r:embed="rId2">
            <a:alphaModFix/>
          </a:blip>
          <a:srcRect b="0" l="0" r="0" t="0"/>
          <a:stretch/>
        </p:blipFill>
        <p:spPr>
          <a:xfrm>
            <a:off x="152449" y="4830649"/>
            <a:ext cx="597050" cy="298550"/>
          </a:xfrm>
          <a:prstGeom prst="rect">
            <a:avLst/>
          </a:prstGeom>
          <a:noFill/>
          <a:ln>
            <a:noFill/>
          </a:ln>
        </p:spPr>
      </p:pic>
      <p:sp>
        <p:nvSpPr>
          <p:cNvPr id="94" name="Google Shape;94;p11"/>
          <p:cNvSpPr txBox="1"/>
          <p:nvPr/>
        </p:nvSpPr>
        <p:spPr>
          <a:xfrm>
            <a:off x="843200" y="4779011"/>
            <a:ext cx="8078100" cy="3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US" sz="750">
                <a:solidFill>
                  <a:srgbClr val="7F7F7F"/>
                </a:solidFill>
                <a:latin typeface="Calibri"/>
                <a:ea typeface="Calibri"/>
                <a:cs typeface="Calibri"/>
                <a:sym typeface="Calibri"/>
              </a:rPr>
              <a:t>Copyright @ Forsys Inc.                                                                    	            						                  		Confidential    |    Restricted Use </a:t>
            </a:r>
            <a:endParaRPr sz="750">
              <a:solidFill>
                <a:srgbClr val="7F7F7F"/>
              </a:solidFill>
              <a:latin typeface="Calibri"/>
              <a:ea typeface="Calibri"/>
              <a:cs typeface="Calibri"/>
              <a:sym typeface="Calibri"/>
            </a:endParaRPr>
          </a:p>
          <a:p>
            <a:pPr indent="0" lvl="0" marL="0" rtl="0" algn="l">
              <a:lnSpc>
                <a:spcPct val="115000"/>
              </a:lnSpc>
              <a:spcBef>
                <a:spcPts val="0"/>
              </a:spcBef>
              <a:spcAft>
                <a:spcPts val="0"/>
              </a:spcAft>
              <a:buClr>
                <a:srgbClr val="000000"/>
              </a:buClr>
              <a:buSzPts val="1100"/>
              <a:buFont typeface="Arial"/>
              <a:buNone/>
            </a:pPr>
            <a:r>
              <a:rPr lang="en-US" sz="600">
                <a:solidFill>
                  <a:srgbClr val="7F7F7F"/>
                </a:solidFill>
                <a:latin typeface="Calibri"/>
                <a:ea typeface="Calibri"/>
                <a:cs typeface="Calibri"/>
                <a:sym typeface="Calibri"/>
              </a:rPr>
              <a:t>FORSYS / UXD / T / 01     |     Date: 16-Dec-2019      |     Revision #: 00						</a:t>
            </a:r>
            <a:endParaRPr sz="750">
              <a:solidFill>
                <a:srgbClr val="7F7F7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0"/>
            <a:ext cx="7886700" cy="649200"/>
          </a:xfrm>
          <a:prstGeom prst="rect">
            <a:avLst/>
          </a:prstGeom>
          <a:noFill/>
          <a:ln>
            <a:noFill/>
          </a:ln>
        </p:spPr>
        <p:txBody>
          <a:bodyPr anchorCtr="0" anchor="ctr" bIns="25700" lIns="51425" spcFirstLastPara="1" rIns="51425" wrap="square" tIns="25700">
            <a:noAutofit/>
          </a:bodyPr>
          <a:lstStyle>
            <a:lvl1pPr lvl="0" marR="0" rtl="0" algn="l">
              <a:lnSpc>
                <a:spcPct val="90000"/>
              </a:lnSpc>
              <a:spcBef>
                <a:spcPts val="0"/>
              </a:spcBef>
              <a:spcAft>
                <a:spcPts val="0"/>
              </a:spcAft>
              <a:buClr>
                <a:srgbClr val="555555"/>
              </a:buClr>
              <a:buSzPts val="2000"/>
              <a:buFont typeface="Montserrat"/>
              <a:buNone/>
              <a:defRPr b="1" i="0" sz="2000" u="none" cap="none" strike="noStrike">
                <a:solidFill>
                  <a:srgbClr val="555555"/>
                </a:solidFill>
                <a:latin typeface="Montserrat"/>
                <a:ea typeface="Montserrat"/>
                <a:cs typeface="Montserrat"/>
                <a:sym typeface="Montserrat"/>
              </a:defRPr>
            </a:lvl1pPr>
            <a:lvl2pPr lvl="1"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2pPr>
            <a:lvl3pPr lvl="2"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3pPr>
            <a:lvl4pPr lvl="3"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4pPr>
            <a:lvl5pPr lvl="4"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5pPr>
            <a:lvl6pPr lvl="5"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6pPr>
            <a:lvl7pPr lvl="6"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7pPr>
            <a:lvl8pPr lvl="7"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8pPr>
            <a:lvl9pPr lvl="8" marR="0" rtl="0" algn="l">
              <a:lnSpc>
                <a:spcPct val="100000"/>
              </a:lnSpc>
              <a:spcBef>
                <a:spcPts val="0"/>
              </a:spcBef>
              <a:spcAft>
                <a:spcPts val="0"/>
              </a:spcAft>
              <a:buClr>
                <a:srgbClr val="555555"/>
              </a:buClr>
              <a:buSzPts val="2000"/>
              <a:buFont typeface="Montserrat"/>
              <a:buNone/>
              <a:defRPr i="0" sz="2000" u="none" cap="none" strike="noStrike">
                <a:solidFill>
                  <a:srgbClr val="555555"/>
                </a:solidFill>
                <a:latin typeface="Montserrat"/>
                <a:ea typeface="Montserrat"/>
                <a:cs typeface="Montserrat"/>
                <a:sym typeface="Montserrat"/>
              </a:defRPr>
            </a:lvl9pPr>
          </a:lstStyle>
          <a:p/>
        </p:txBody>
      </p:sp>
      <p:sp>
        <p:nvSpPr>
          <p:cNvPr id="11" name="Google Shape;11;p1"/>
          <p:cNvSpPr txBox="1"/>
          <p:nvPr>
            <p:ph idx="1" type="body"/>
          </p:nvPr>
        </p:nvSpPr>
        <p:spPr>
          <a:xfrm>
            <a:off x="727050" y="795250"/>
            <a:ext cx="7788300" cy="3350700"/>
          </a:xfrm>
          <a:prstGeom prst="rect">
            <a:avLst/>
          </a:prstGeom>
          <a:noFill/>
          <a:ln>
            <a:noFill/>
          </a:ln>
        </p:spPr>
        <p:txBody>
          <a:bodyPr anchorCtr="0" anchor="t" bIns="25700" lIns="51425" spcFirstLastPara="1" rIns="51425" wrap="square" tIns="25700">
            <a:noAutofit/>
          </a:bodyPr>
          <a:lstStyle>
            <a:lvl1pPr indent="-317500" lvl="0" marL="457200" marR="0" rtl="0" algn="l">
              <a:lnSpc>
                <a:spcPct val="90000"/>
              </a:lnSpc>
              <a:spcBef>
                <a:spcPts val="600"/>
              </a:spcBef>
              <a:spcAft>
                <a:spcPts val="0"/>
              </a:spcAft>
              <a:buClr>
                <a:srgbClr val="434343"/>
              </a:buClr>
              <a:buSzPts val="1400"/>
              <a:buFont typeface="Calibri"/>
              <a:buChar char="●"/>
              <a:defRPr b="0" i="0" sz="1400" u="none" cap="none" strike="noStrike">
                <a:solidFill>
                  <a:srgbClr val="434343"/>
                </a:solidFill>
                <a:latin typeface="Calibri"/>
                <a:ea typeface="Calibri"/>
                <a:cs typeface="Calibri"/>
                <a:sym typeface="Calibri"/>
              </a:defRPr>
            </a:lvl1pPr>
            <a:lvl2pPr indent="-298450" lvl="1" marL="914400" marR="0" rtl="0" algn="l">
              <a:lnSpc>
                <a:spcPct val="90000"/>
              </a:lnSpc>
              <a:spcBef>
                <a:spcPts val="300"/>
              </a:spcBef>
              <a:spcAft>
                <a:spcPts val="0"/>
              </a:spcAft>
              <a:buClr>
                <a:srgbClr val="434343"/>
              </a:buClr>
              <a:buSzPts val="1100"/>
              <a:buFont typeface="Calibri"/>
              <a:buChar char="○"/>
              <a:defRPr b="0" i="0" sz="1100" u="none" cap="none" strike="noStrike">
                <a:solidFill>
                  <a:srgbClr val="434343"/>
                </a:solidFill>
                <a:latin typeface="Calibri"/>
                <a:ea typeface="Calibri"/>
                <a:cs typeface="Calibri"/>
                <a:sym typeface="Calibri"/>
              </a:defRPr>
            </a:lvl2pPr>
            <a:lvl3pPr indent="-285750" lvl="2" marL="1371600" marR="0" rtl="0" algn="l">
              <a:lnSpc>
                <a:spcPct val="90000"/>
              </a:lnSpc>
              <a:spcBef>
                <a:spcPts val="300"/>
              </a:spcBef>
              <a:spcAft>
                <a:spcPts val="0"/>
              </a:spcAft>
              <a:buClr>
                <a:srgbClr val="434343"/>
              </a:buClr>
              <a:buSzPts val="900"/>
              <a:buFont typeface="Calibri"/>
              <a:buChar char="■"/>
              <a:defRPr b="0" i="0" sz="900" u="none" cap="none" strike="noStrike">
                <a:solidFill>
                  <a:srgbClr val="434343"/>
                </a:solidFill>
                <a:latin typeface="Calibri"/>
                <a:ea typeface="Calibri"/>
                <a:cs typeface="Calibri"/>
                <a:sym typeface="Calibri"/>
              </a:defRPr>
            </a:lvl3pPr>
            <a:lvl4pPr indent="-285750" lvl="3" marL="1828800" marR="0" rtl="0" algn="l">
              <a:lnSpc>
                <a:spcPct val="90000"/>
              </a:lnSpc>
              <a:spcBef>
                <a:spcPts val="300"/>
              </a:spcBef>
              <a:spcAft>
                <a:spcPts val="0"/>
              </a:spcAft>
              <a:buClr>
                <a:srgbClr val="434343"/>
              </a:buClr>
              <a:buSzPts val="900"/>
              <a:buFont typeface="Calibri"/>
              <a:buChar char="●"/>
              <a:defRPr b="0" i="0" sz="900" u="none" cap="none" strike="noStrike">
                <a:solidFill>
                  <a:srgbClr val="434343"/>
                </a:solidFill>
                <a:latin typeface="Calibri"/>
                <a:ea typeface="Calibri"/>
                <a:cs typeface="Calibri"/>
                <a:sym typeface="Calibri"/>
              </a:defRPr>
            </a:lvl4pPr>
            <a:lvl5pPr indent="-279400" lvl="4" marL="2286000" marR="0" rtl="0" algn="l">
              <a:lnSpc>
                <a:spcPct val="90000"/>
              </a:lnSpc>
              <a:spcBef>
                <a:spcPts val="300"/>
              </a:spcBef>
              <a:spcAft>
                <a:spcPts val="0"/>
              </a:spcAft>
              <a:buClr>
                <a:srgbClr val="434343"/>
              </a:buClr>
              <a:buSzPts val="800"/>
              <a:buFont typeface="Calibri"/>
              <a:buChar char="○"/>
              <a:defRPr b="0" i="0" sz="800" u="none" cap="none" strike="noStrike">
                <a:solidFill>
                  <a:srgbClr val="434343"/>
                </a:solidFill>
                <a:latin typeface="Calibri"/>
                <a:ea typeface="Calibri"/>
                <a:cs typeface="Calibri"/>
                <a:sym typeface="Calibri"/>
              </a:defRPr>
            </a:lvl5pPr>
            <a:lvl6pPr indent="-279400" lvl="5" marL="2743200" marR="0" rtl="0" algn="l">
              <a:lnSpc>
                <a:spcPct val="90000"/>
              </a:lnSpc>
              <a:spcBef>
                <a:spcPts val="300"/>
              </a:spcBef>
              <a:spcAft>
                <a:spcPts val="0"/>
              </a:spcAft>
              <a:buClr>
                <a:srgbClr val="434343"/>
              </a:buClr>
              <a:buSzPts val="800"/>
              <a:buFont typeface="Calibri"/>
              <a:buChar char="■"/>
              <a:defRPr b="0" i="0" sz="800" u="none" cap="none" strike="noStrike">
                <a:solidFill>
                  <a:srgbClr val="434343"/>
                </a:solidFill>
                <a:latin typeface="Calibri"/>
                <a:ea typeface="Calibri"/>
                <a:cs typeface="Calibri"/>
                <a:sym typeface="Calibri"/>
              </a:defRPr>
            </a:lvl6pPr>
            <a:lvl7pPr indent="-279400" lvl="6" marL="3200400" marR="0" rtl="0" algn="l">
              <a:lnSpc>
                <a:spcPct val="90000"/>
              </a:lnSpc>
              <a:spcBef>
                <a:spcPts val="300"/>
              </a:spcBef>
              <a:spcAft>
                <a:spcPts val="0"/>
              </a:spcAft>
              <a:buClr>
                <a:srgbClr val="434343"/>
              </a:buClr>
              <a:buSzPts val="800"/>
              <a:buFont typeface="Calibri"/>
              <a:buChar char="●"/>
              <a:defRPr b="0" i="0" sz="800" u="none" cap="none" strike="noStrike">
                <a:solidFill>
                  <a:srgbClr val="434343"/>
                </a:solidFill>
                <a:latin typeface="Calibri"/>
                <a:ea typeface="Calibri"/>
                <a:cs typeface="Calibri"/>
                <a:sym typeface="Calibri"/>
              </a:defRPr>
            </a:lvl7pPr>
            <a:lvl8pPr indent="-279400" lvl="7" marL="3657600" marR="0" rtl="0" algn="l">
              <a:lnSpc>
                <a:spcPct val="90000"/>
              </a:lnSpc>
              <a:spcBef>
                <a:spcPts val="300"/>
              </a:spcBef>
              <a:spcAft>
                <a:spcPts val="0"/>
              </a:spcAft>
              <a:buClr>
                <a:srgbClr val="434343"/>
              </a:buClr>
              <a:buSzPts val="800"/>
              <a:buFont typeface="Calibri"/>
              <a:buChar char="○"/>
              <a:defRPr b="0" i="0" sz="800" u="none" cap="none" strike="noStrike">
                <a:solidFill>
                  <a:srgbClr val="434343"/>
                </a:solidFill>
                <a:latin typeface="Calibri"/>
                <a:ea typeface="Calibri"/>
                <a:cs typeface="Calibri"/>
                <a:sym typeface="Calibri"/>
              </a:defRPr>
            </a:lvl8pPr>
            <a:lvl9pPr indent="-273050" lvl="8" marL="4114800" marR="0" rtl="0" algn="l">
              <a:lnSpc>
                <a:spcPct val="90000"/>
              </a:lnSpc>
              <a:spcBef>
                <a:spcPts val="300"/>
              </a:spcBef>
              <a:spcAft>
                <a:spcPts val="0"/>
              </a:spcAft>
              <a:buClr>
                <a:srgbClr val="434343"/>
              </a:buClr>
              <a:buSzPts val="700"/>
              <a:buFont typeface="Calibri"/>
              <a:buChar char="■"/>
              <a:defRPr b="0" i="0" sz="700" u="none" cap="none" strike="noStrike">
                <a:solidFill>
                  <a:srgbClr val="434343"/>
                </a:solidFill>
                <a:latin typeface="Calibri"/>
                <a:ea typeface="Calibri"/>
                <a:cs typeface="Calibri"/>
                <a:sym typeface="Calibri"/>
              </a:defRPr>
            </a:lvl9pPr>
          </a:lstStyle>
          <a:p/>
        </p:txBody>
      </p:sp>
      <p:sp>
        <p:nvSpPr>
          <p:cNvPr id="12" name="Google Shape;12;p1"/>
          <p:cNvSpPr txBox="1"/>
          <p:nvPr/>
        </p:nvSpPr>
        <p:spPr>
          <a:xfrm>
            <a:off x="4254225" y="4842152"/>
            <a:ext cx="635400" cy="25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US" sz="1100">
                <a:solidFill>
                  <a:srgbClr val="7F7F7F"/>
                </a:solidFill>
                <a:latin typeface="Century Gothic"/>
                <a:ea typeface="Century Gothic"/>
                <a:cs typeface="Century Gothic"/>
                <a:sym typeface="Century Gothic"/>
              </a:rPr>
              <a:t>‹#›</a:t>
            </a:fld>
            <a:endParaRPr sz="900">
              <a:solidFill>
                <a:srgbClr val="7F7F7F"/>
              </a:solidFill>
              <a:latin typeface="Century Gothic"/>
              <a:ea typeface="Century Gothic"/>
              <a:cs typeface="Century Gothic"/>
              <a:sym typeface="Century Gothic"/>
            </a:endParaRPr>
          </a:p>
        </p:txBody>
      </p:sp>
      <p:sp>
        <p:nvSpPr>
          <p:cNvPr id="13" name="Google Shape;13;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rgbClr val="434343"/>
                </a:solidFill>
                <a:latin typeface="Calibri"/>
                <a:ea typeface="Calibri"/>
                <a:cs typeface="Calibri"/>
                <a:sym typeface="Calibri"/>
              </a:defRPr>
            </a:lvl1pPr>
            <a:lvl2pPr lvl="1" algn="r">
              <a:buNone/>
              <a:defRPr sz="1300">
                <a:solidFill>
                  <a:srgbClr val="434343"/>
                </a:solidFill>
                <a:latin typeface="Calibri"/>
                <a:ea typeface="Calibri"/>
                <a:cs typeface="Calibri"/>
                <a:sym typeface="Calibri"/>
              </a:defRPr>
            </a:lvl2pPr>
            <a:lvl3pPr lvl="2" algn="r">
              <a:buNone/>
              <a:defRPr sz="1300">
                <a:solidFill>
                  <a:srgbClr val="434343"/>
                </a:solidFill>
                <a:latin typeface="Calibri"/>
                <a:ea typeface="Calibri"/>
                <a:cs typeface="Calibri"/>
                <a:sym typeface="Calibri"/>
              </a:defRPr>
            </a:lvl3pPr>
            <a:lvl4pPr lvl="3" algn="r">
              <a:buNone/>
              <a:defRPr sz="1300">
                <a:solidFill>
                  <a:srgbClr val="434343"/>
                </a:solidFill>
                <a:latin typeface="Calibri"/>
                <a:ea typeface="Calibri"/>
                <a:cs typeface="Calibri"/>
                <a:sym typeface="Calibri"/>
              </a:defRPr>
            </a:lvl4pPr>
            <a:lvl5pPr lvl="4" algn="r">
              <a:buNone/>
              <a:defRPr sz="1300">
                <a:solidFill>
                  <a:srgbClr val="434343"/>
                </a:solidFill>
                <a:latin typeface="Calibri"/>
                <a:ea typeface="Calibri"/>
                <a:cs typeface="Calibri"/>
                <a:sym typeface="Calibri"/>
              </a:defRPr>
            </a:lvl5pPr>
            <a:lvl6pPr lvl="5" algn="r">
              <a:buNone/>
              <a:defRPr sz="1300">
                <a:solidFill>
                  <a:srgbClr val="434343"/>
                </a:solidFill>
                <a:latin typeface="Calibri"/>
                <a:ea typeface="Calibri"/>
                <a:cs typeface="Calibri"/>
                <a:sym typeface="Calibri"/>
              </a:defRPr>
            </a:lvl6pPr>
            <a:lvl7pPr lvl="6" algn="r">
              <a:buNone/>
              <a:defRPr sz="1300">
                <a:solidFill>
                  <a:srgbClr val="434343"/>
                </a:solidFill>
                <a:latin typeface="Calibri"/>
                <a:ea typeface="Calibri"/>
                <a:cs typeface="Calibri"/>
                <a:sym typeface="Calibri"/>
              </a:defRPr>
            </a:lvl7pPr>
            <a:lvl8pPr lvl="7" algn="r">
              <a:buNone/>
              <a:defRPr sz="1300">
                <a:solidFill>
                  <a:srgbClr val="434343"/>
                </a:solidFill>
                <a:latin typeface="Calibri"/>
                <a:ea typeface="Calibri"/>
                <a:cs typeface="Calibri"/>
                <a:sym typeface="Calibri"/>
              </a:defRPr>
            </a:lvl8pPr>
            <a:lvl9pPr lvl="8" algn="r">
              <a:buNone/>
              <a:defRPr sz="1300">
                <a:solidFill>
                  <a:srgbClr val="4343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4.png"/><Relationship Id="rId10" Type="http://schemas.openxmlformats.org/officeDocument/2006/relationships/image" Target="../media/image17.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4.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8.png"/><Relationship Id="rId7" Type="http://schemas.openxmlformats.org/officeDocument/2006/relationships/image" Target="../media/image33.png"/><Relationship Id="rId8"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37.png"/><Relationship Id="rId11" Type="http://schemas.openxmlformats.org/officeDocument/2006/relationships/image" Target="../media/image40.png"/><Relationship Id="rId10" Type="http://schemas.openxmlformats.org/officeDocument/2006/relationships/image" Target="../media/image42.png"/><Relationship Id="rId12" Type="http://schemas.openxmlformats.org/officeDocument/2006/relationships/image" Target="../media/image29.png"/><Relationship Id="rId9" Type="http://schemas.openxmlformats.org/officeDocument/2006/relationships/image" Target="../media/image43.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9.png"/><Relationship Id="rId8"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47.png"/><Relationship Id="rId5" Type="http://schemas.openxmlformats.org/officeDocument/2006/relationships/image" Target="../media/image46.png"/><Relationship Id="rId6"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51.png"/><Relationship Id="rId6" Type="http://schemas.openxmlformats.org/officeDocument/2006/relationships/image" Target="../media/image50.png"/><Relationship Id="rId7"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1" Type="http://schemas.openxmlformats.org/officeDocument/2006/relationships/image" Target="../media/image61.png"/><Relationship Id="rId10" Type="http://schemas.openxmlformats.org/officeDocument/2006/relationships/image" Target="../media/image60.png"/><Relationship Id="rId13" Type="http://schemas.openxmlformats.org/officeDocument/2006/relationships/image" Target="../media/image65.png"/><Relationship Id="rId12" Type="http://schemas.openxmlformats.org/officeDocument/2006/relationships/image" Target="../media/image64.png"/><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2.png"/><Relationship Id="rId4" Type="http://schemas.openxmlformats.org/officeDocument/2006/relationships/image" Target="../media/image57.png"/><Relationship Id="rId9" Type="http://schemas.openxmlformats.org/officeDocument/2006/relationships/image" Target="../media/image59.png"/><Relationship Id="rId14" Type="http://schemas.openxmlformats.org/officeDocument/2006/relationships/image" Target="../media/image66.png"/><Relationship Id="rId5" Type="http://schemas.openxmlformats.org/officeDocument/2006/relationships/image" Target="../media/image54.png"/><Relationship Id="rId6" Type="http://schemas.openxmlformats.org/officeDocument/2006/relationships/image" Target="../media/image58.png"/><Relationship Id="rId7" Type="http://schemas.openxmlformats.org/officeDocument/2006/relationships/image" Target="../media/image55.png"/><Relationship Id="rId8" Type="http://schemas.openxmlformats.org/officeDocument/2006/relationships/image" Target="../media/image56.png"/></Relationships>
</file>

<file path=ppt/slides/_rels/slide9.xml.rels><?xml version="1.0" encoding="UTF-8" standalone="yes"?><Relationships xmlns="http://schemas.openxmlformats.org/package/2006/relationships"><Relationship Id="rId20" Type="http://schemas.openxmlformats.org/officeDocument/2006/relationships/image" Target="../media/image80.png"/><Relationship Id="rId11" Type="http://schemas.openxmlformats.org/officeDocument/2006/relationships/image" Target="../media/image73.png"/><Relationship Id="rId10" Type="http://schemas.openxmlformats.org/officeDocument/2006/relationships/image" Target="../media/image71.png"/><Relationship Id="rId13" Type="http://schemas.openxmlformats.org/officeDocument/2006/relationships/image" Target="../media/image85.png"/><Relationship Id="rId12" Type="http://schemas.openxmlformats.org/officeDocument/2006/relationships/image" Target="../media/image75.png"/><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63.png"/><Relationship Id="rId4" Type="http://schemas.openxmlformats.org/officeDocument/2006/relationships/image" Target="../media/image68.png"/><Relationship Id="rId9" Type="http://schemas.openxmlformats.org/officeDocument/2006/relationships/image" Target="../media/image72.png"/><Relationship Id="rId15" Type="http://schemas.openxmlformats.org/officeDocument/2006/relationships/image" Target="../media/image77.png"/><Relationship Id="rId14" Type="http://schemas.openxmlformats.org/officeDocument/2006/relationships/image" Target="../media/image78.png"/><Relationship Id="rId17" Type="http://schemas.openxmlformats.org/officeDocument/2006/relationships/image" Target="../media/image79.png"/><Relationship Id="rId16" Type="http://schemas.openxmlformats.org/officeDocument/2006/relationships/image" Target="../media/image76.png"/><Relationship Id="rId5" Type="http://schemas.openxmlformats.org/officeDocument/2006/relationships/image" Target="../media/image67.png"/><Relationship Id="rId19" Type="http://schemas.openxmlformats.org/officeDocument/2006/relationships/image" Target="../media/image84.png"/><Relationship Id="rId6" Type="http://schemas.openxmlformats.org/officeDocument/2006/relationships/image" Target="../media/image70.png"/><Relationship Id="rId18" Type="http://schemas.openxmlformats.org/officeDocument/2006/relationships/image" Target="../media/image83.png"/><Relationship Id="rId7" Type="http://schemas.openxmlformats.org/officeDocument/2006/relationships/image" Target="../media/image69.png"/><Relationship Id="rId8" Type="http://schemas.openxmlformats.org/officeDocument/2006/relationships/image" Target="../media/image74.png"/></Relationships>
</file>

<file path=ppt/slides/_rels/slide10.xml.rels><?xml version="1.0" encoding="UTF-8" standalone="yes"?><Relationships xmlns="http://schemas.openxmlformats.org/package/2006/relationships"><Relationship Id="rId10" Type="http://schemas.openxmlformats.org/officeDocument/2006/relationships/image" Target="../media/image91.png"/><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81.png"/><Relationship Id="rId4" Type="http://schemas.openxmlformats.org/officeDocument/2006/relationships/image" Target="../media/image82.png"/><Relationship Id="rId9" Type="http://schemas.openxmlformats.org/officeDocument/2006/relationships/image" Target="../media/image90.png"/><Relationship Id="rId5" Type="http://schemas.openxmlformats.org/officeDocument/2006/relationships/image" Target="../media/image86.png"/><Relationship Id="rId6" Type="http://schemas.openxmlformats.org/officeDocument/2006/relationships/image" Target="../media/image89.png"/><Relationship Id="rId7" Type="http://schemas.openxmlformats.org/officeDocument/2006/relationships/image" Target="../media/image87.png"/><Relationship Id="rId8" Type="http://schemas.openxmlformats.org/officeDocument/2006/relationships/image" Target="../media/image8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4.png"/><Relationship Id="rId4" Type="http://schemas.openxmlformats.org/officeDocument/2006/relationships/image" Target="../media/image96.png"/></Relationships>
</file>

<file path=ppt/slides/_rels/slide12.xml.rels><?xml version="1.0" encoding="UTF-8" standalone="yes"?><Relationships xmlns="http://schemas.openxmlformats.org/package/2006/relationships"><Relationship Id="rId10" Type="http://schemas.openxmlformats.org/officeDocument/2006/relationships/image" Target="../media/image91.png"/><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81.png"/><Relationship Id="rId4" Type="http://schemas.openxmlformats.org/officeDocument/2006/relationships/image" Target="../media/image82.png"/><Relationship Id="rId9" Type="http://schemas.openxmlformats.org/officeDocument/2006/relationships/image" Target="../media/image90.png"/><Relationship Id="rId5" Type="http://schemas.openxmlformats.org/officeDocument/2006/relationships/image" Target="../media/image86.png"/><Relationship Id="rId6" Type="http://schemas.openxmlformats.org/officeDocument/2006/relationships/image" Target="../media/image89.png"/><Relationship Id="rId7" Type="http://schemas.openxmlformats.org/officeDocument/2006/relationships/image" Target="../media/image87.png"/><Relationship Id="rId8" Type="http://schemas.openxmlformats.org/officeDocument/2006/relationships/image" Target="../media/image8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4.png"/><Relationship Id="rId4" Type="http://schemas.openxmlformats.org/officeDocument/2006/relationships/image" Target="../media/image9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0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2"/>
          <p:cNvSpPr txBox="1"/>
          <p:nvPr/>
        </p:nvSpPr>
        <p:spPr>
          <a:xfrm>
            <a:off x="3666401" y="3024896"/>
            <a:ext cx="5196300" cy="664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3200">
                <a:solidFill>
                  <a:srgbClr val="002253"/>
                </a:solidFill>
                <a:latin typeface="Montserrat"/>
                <a:ea typeface="Montserrat"/>
                <a:cs typeface="Montserrat"/>
                <a:sym typeface="Montserrat"/>
              </a:rPr>
              <a:t>Quoting (CPQ)</a:t>
            </a:r>
            <a:endParaRPr b="1" sz="3200">
              <a:solidFill>
                <a:srgbClr val="002253"/>
              </a:solidFill>
              <a:latin typeface="Montserrat"/>
              <a:ea typeface="Montserrat"/>
              <a:cs typeface="Montserrat"/>
              <a:sym typeface="Montserrat"/>
            </a:endParaRPr>
          </a:p>
          <a:p>
            <a:pPr indent="0" lvl="0" marL="0" rtl="0" algn="ctr">
              <a:lnSpc>
                <a:spcPct val="115000"/>
              </a:lnSpc>
              <a:spcBef>
                <a:spcPts val="0"/>
              </a:spcBef>
              <a:spcAft>
                <a:spcPts val="0"/>
              </a:spcAft>
              <a:buNone/>
            </a:pPr>
            <a:r>
              <a:rPr b="1" lang="en-US" sz="3200">
                <a:solidFill>
                  <a:srgbClr val="002253"/>
                </a:solidFill>
                <a:latin typeface="Montserrat"/>
                <a:ea typeface="Montserrat"/>
                <a:cs typeface="Montserrat"/>
                <a:sym typeface="Montserrat"/>
              </a:rPr>
              <a:t>&amp; Salesforce </a:t>
            </a:r>
            <a:endParaRPr b="1" sz="3200">
              <a:solidFill>
                <a:srgbClr val="002253"/>
              </a:solidFill>
              <a:latin typeface="Montserrat"/>
              <a:ea typeface="Montserrat"/>
              <a:cs typeface="Montserrat"/>
              <a:sym typeface="Montserrat"/>
            </a:endParaRPr>
          </a:p>
          <a:p>
            <a:pPr indent="0" lvl="0" marL="0" rtl="0" algn="ctr">
              <a:lnSpc>
                <a:spcPct val="115000"/>
              </a:lnSpc>
              <a:spcBef>
                <a:spcPts val="0"/>
              </a:spcBef>
              <a:spcAft>
                <a:spcPts val="0"/>
              </a:spcAft>
              <a:buNone/>
            </a:pPr>
            <a:r>
              <a:rPr lang="en-US" sz="1800">
                <a:solidFill>
                  <a:srgbClr val="002253"/>
                </a:solidFill>
                <a:latin typeface="Montserrat"/>
                <a:ea typeface="Montserrat"/>
                <a:cs typeface="Montserrat"/>
                <a:sym typeface="Montserrat"/>
              </a:rPr>
              <a:t>Assessment &amp; Advisory</a:t>
            </a:r>
            <a:endParaRPr sz="1800">
              <a:solidFill>
                <a:srgbClr val="002253"/>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3"/>
          <p:cNvPicPr preferRelativeResize="0"/>
          <p:nvPr/>
        </p:nvPicPr>
        <p:blipFill rotWithShape="1">
          <a:blip r:embed="rId3">
            <a:alphaModFix/>
          </a:blip>
          <a:srcRect b="0" l="0" r="0" t="0"/>
          <a:stretch/>
        </p:blipFill>
        <p:spPr>
          <a:xfrm>
            <a:off x="8542700" y="0"/>
            <a:ext cx="607075" cy="607075"/>
          </a:xfrm>
          <a:prstGeom prst="rect">
            <a:avLst/>
          </a:prstGeom>
          <a:noFill/>
          <a:ln>
            <a:noFill/>
          </a:ln>
        </p:spPr>
      </p:pic>
      <p:sp>
        <p:nvSpPr>
          <p:cNvPr id="107" name="Google Shape;107;p13"/>
          <p:cNvSpPr/>
          <p:nvPr/>
        </p:nvSpPr>
        <p:spPr>
          <a:xfrm>
            <a:off x="3997355" y="1064691"/>
            <a:ext cx="1570800" cy="526200"/>
          </a:xfrm>
          <a:prstGeom prst="rect">
            <a:avLst/>
          </a:prstGeom>
          <a:noFill/>
          <a:ln>
            <a:noFill/>
          </a:ln>
        </p:spPr>
        <p:txBody>
          <a:bodyPr anchorCtr="0" anchor="t" bIns="81275" lIns="162550" spcFirstLastPara="1" rIns="162550" wrap="square" tIns="0">
            <a:noAutofit/>
          </a:bodyPr>
          <a:lstStyle/>
          <a:p>
            <a:pPr indent="0" lvl="0" marL="0" rtl="0" algn="r">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2015</a:t>
            </a:r>
            <a:endParaRPr sz="2000">
              <a:solidFill>
                <a:srgbClr val="21A0DD"/>
              </a:solidFill>
              <a:latin typeface="Montserrat"/>
              <a:ea typeface="Montserrat"/>
              <a:cs typeface="Montserrat"/>
              <a:sym typeface="Montserrat"/>
            </a:endParaRPr>
          </a:p>
          <a:p>
            <a:pPr indent="0" lvl="0" marL="0" rtl="0" algn="r">
              <a:lnSpc>
                <a:spcPct val="115000"/>
              </a:lnSpc>
              <a:spcBef>
                <a:spcPts val="300"/>
              </a:spcBef>
              <a:spcAft>
                <a:spcPts val="0"/>
              </a:spcAft>
              <a:buClr>
                <a:srgbClr val="FFFFFF"/>
              </a:buClr>
              <a:buSzPts val="1400"/>
              <a:buFont typeface="Calibri"/>
              <a:buNone/>
            </a:pPr>
            <a:r>
              <a:rPr lang="en-US" sz="1100">
                <a:solidFill>
                  <a:srgbClr val="FFFFFF"/>
                </a:solidFill>
                <a:latin typeface="Calibri"/>
                <a:ea typeface="Calibri"/>
                <a:cs typeface="Calibri"/>
                <a:sym typeface="Calibri"/>
              </a:rPr>
              <a:t>Established</a:t>
            </a:r>
            <a:endParaRPr b="1" sz="1100">
              <a:solidFill>
                <a:srgbClr val="FFFFFF"/>
              </a:solidFill>
              <a:latin typeface="Calibri"/>
              <a:ea typeface="Calibri"/>
              <a:cs typeface="Calibri"/>
              <a:sym typeface="Calibri"/>
            </a:endParaRPr>
          </a:p>
        </p:txBody>
      </p:sp>
      <p:pic>
        <p:nvPicPr>
          <p:cNvPr id="108" name="Google Shape;108;p13"/>
          <p:cNvPicPr preferRelativeResize="0"/>
          <p:nvPr/>
        </p:nvPicPr>
        <p:blipFill>
          <a:blip r:embed="rId4">
            <a:alphaModFix/>
          </a:blip>
          <a:stretch>
            <a:fillRect/>
          </a:stretch>
        </p:blipFill>
        <p:spPr>
          <a:xfrm>
            <a:off x="5534286" y="1121350"/>
            <a:ext cx="236247" cy="236247"/>
          </a:xfrm>
          <a:prstGeom prst="rect">
            <a:avLst/>
          </a:prstGeom>
          <a:noFill/>
          <a:ln>
            <a:noFill/>
          </a:ln>
        </p:spPr>
      </p:pic>
      <p:sp>
        <p:nvSpPr>
          <p:cNvPr id="109" name="Google Shape;109;p13"/>
          <p:cNvSpPr/>
          <p:nvPr/>
        </p:nvSpPr>
        <p:spPr>
          <a:xfrm>
            <a:off x="4043711" y="2413413"/>
            <a:ext cx="1524600" cy="730200"/>
          </a:xfrm>
          <a:prstGeom prst="rect">
            <a:avLst/>
          </a:prstGeom>
          <a:noFill/>
          <a:ln>
            <a:noFill/>
          </a:ln>
        </p:spPr>
        <p:txBody>
          <a:bodyPr anchorCtr="0" anchor="t" bIns="81275" lIns="162550" spcFirstLastPara="1" rIns="162550" wrap="square" tIns="0">
            <a:noAutofit/>
          </a:bodyPr>
          <a:lstStyle/>
          <a:p>
            <a:pPr indent="0" lvl="0" marL="0" rtl="0" algn="r">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500+</a:t>
            </a:r>
            <a:endParaRPr sz="2000">
              <a:solidFill>
                <a:srgbClr val="FF8C00"/>
              </a:solidFill>
              <a:latin typeface="Calibri"/>
              <a:ea typeface="Calibri"/>
              <a:cs typeface="Calibri"/>
              <a:sym typeface="Calibri"/>
            </a:endParaRPr>
          </a:p>
          <a:p>
            <a:pPr indent="0" lvl="0" marL="0" rtl="0" algn="r">
              <a:lnSpc>
                <a:spcPct val="115000"/>
              </a:lnSpc>
              <a:spcBef>
                <a:spcPts val="300"/>
              </a:spcBef>
              <a:spcAft>
                <a:spcPts val="0"/>
              </a:spcAft>
              <a:buClr>
                <a:srgbClr val="000000"/>
              </a:buClr>
              <a:buSzPts val="1100"/>
              <a:buFont typeface="Arial"/>
              <a:buNone/>
            </a:pPr>
            <a:r>
              <a:rPr lang="en-US" sz="1100">
                <a:solidFill>
                  <a:srgbClr val="FFFFFF"/>
                </a:solidFill>
                <a:latin typeface="Calibri"/>
                <a:ea typeface="Calibri"/>
                <a:cs typeface="Calibri"/>
                <a:sym typeface="Calibri"/>
              </a:rPr>
              <a:t>Global Workforce</a:t>
            </a:r>
            <a:endParaRPr b="1" sz="1100">
              <a:solidFill>
                <a:srgbClr val="FFFFFF"/>
              </a:solidFill>
              <a:latin typeface="Calibri"/>
              <a:ea typeface="Calibri"/>
              <a:cs typeface="Calibri"/>
              <a:sym typeface="Calibri"/>
            </a:endParaRPr>
          </a:p>
        </p:txBody>
      </p:sp>
      <p:sp>
        <p:nvSpPr>
          <p:cNvPr id="110" name="Google Shape;110;p13"/>
          <p:cNvSpPr/>
          <p:nvPr/>
        </p:nvSpPr>
        <p:spPr>
          <a:xfrm>
            <a:off x="6355374" y="2413414"/>
            <a:ext cx="1636200" cy="730200"/>
          </a:xfrm>
          <a:prstGeom prst="rect">
            <a:avLst/>
          </a:prstGeom>
          <a:noFill/>
          <a:ln>
            <a:noFill/>
          </a:ln>
        </p:spPr>
        <p:txBody>
          <a:bodyPr anchorCtr="0" anchor="t" bIns="81275" lIns="162550" spcFirstLastPara="1" rIns="162550" wrap="square" tIns="0">
            <a:noAutofit/>
          </a:bodyPr>
          <a:lstStyle/>
          <a:p>
            <a:pPr indent="0" lvl="0" marL="0" rtl="0" algn="l">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100+</a:t>
            </a:r>
            <a:endParaRPr sz="2000">
              <a:solidFill>
                <a:srgbClr val="FF8C00"/>
              </a:solidFill>
              <a:latin typeface="Calibri"/>
              <a:ea typeface="Calibri"/>
              <a:cs typeface="Calibri"/>
              <a:sym typeface="Calibri"/>
            </a:endParaRPr>
          </a:p>
          <a:p>
            <a:pPr indent="0" lvl="0" marL="0" rtl="0" algn="l">
              <a:lnSpc>
                <a:spcPct val="115000"/>
              </a:lnSpc>
              <a:spcBef>
                <a:spcPts val="300"/>
              </a:spcBef>
              <a:spcAft>
                <a:spcPts val="0"/>
              </a:spcAft>
              <a:buClr>
                <a:srgbClr val="000000"/>
              </a:buClr>
              <a:buSzPts val="1100"/>
              <a:buFont typeface="Arial"/>
              <a:buNone/>
            </a:pPr>
            <a:r>
              <a:rPr lang="en-US" sz="1100">
                <a:solidFill>
                  <a:srgbClr val="FFFFFF"/>
                </a:solidFill>
                <a:latin typeface="Calibri"/>
                <a:ea typeface="Calibri"/>
                <a:cs typeface="Calibri"/>
                <a:sym typeface="Calibri"/>
              </a:rPr>
              <a:t>Global Customers</a:t>
            </a:r>
            <a:endParaRPr b="1" sz="1100">
              <a:solidFill>
                <a:srgbClr val="FFFFFF"/>
              </a:solidFill>
              <a:latin typeface="Calibri"/>
              <a:ea typeface="Calibri"/>
              <a:cs typeface="Calibri"/>
              <a:sym typeface="Calibri"/>
            </a:endParaRPr>
          </a:p>
        </p:txBody>
      </p:sp>
      <p:pic>
        <p:nvPicPr>
          <p:cNvPr id="111" name="Google Shape;111;p13"/>
          <p:cNvPicPr preferRelativeResize="0"/>
          <p:nvPr/>
        </p:nvPicPr>
        <p:blipFill>
          <a:blip r:embed="rId5">
            <a:alphaModFix/>
          </a:blip>
          <a:stretch>
            <a:fillRect/>
          </a:stretch>
        </p:blipFill>
        <p:spPr>
          <a:xfrm>
            <a:off x="6168706" y="2464319"/>
            <a:ext cx="236247" cy="236247"/>
          </a:xfrm>
          <a:prstGeom prst="rect">
            <a:avLst/>
          </a:prstGeom>
          <a:noFill/>
          <a:ln>
            <a:noFill/>
          </a:ln>
        </p:spPr>
      </p:pic>
      <p:sp>
        <p:nvSpPr>
          <p:cNvPr id="112" name="Google Shape;112;p13"/>
          <p:cNvSpPr/>
          <p:nvPr/>
        </p:nvSpPr>
        <p:spPr>
          <a:xfrm>
            <a:off x="3652780" y="3579965"/>
            <a:ext cx="1915500" cy="730200"/>
          </a:xfrm>
          <a:prstGeom prst="rect">
            <a:avLst/>
          </a:prstGeom>
          <a:noFill/>
          <a:ln>
            <a:noFill/>
          </a:ln>
        </p:spPr>
        <p:txBody>
          <a:bodyPr anchorCtr="0" anchor="t" bIns="81275" lIns="162550" spcFirstLastPara="1" rIns="162550" wrap="square" tIns="0">
            <a:noAutofit/>
          </a:bodyPr>
          <a:lstStyle/>
          <a:p>
            <a:pPr indent="0" lvl="0" marL="0" rtl="0" algn="r">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Partnerships</a:t>
            </a:r>
            <a:endParaRPr sz="1700">
              <a:solidFill>
                <a:srgbClr val="FF8C00"/>
              </a:solidFill>
              <a:latin typeface="Calibri"/>
              <a:ea typeface="Calibri"/>
              <a:cs typeface="Calibri"/>
              <a:sym typeface="Calibri"/>
            </a:endParaRPr>
          </a:p>
          <a:p>
            <a:pPr indent="0" lvl="0" marL="0" rtl="0" algn="r">
              <a:lnSpc>
                <a:spcPct val="115000"/>
              </a:lnSpc>
              <a:spcBef>
                <a:spcPts val="300"/>
              </a:spcBef>
              <a:spcAft>
                <a:spcPts val="0"/>
              </a:spcAft>
              <a:buClr>
                <a:srgbClr val="000000"/>
              </a:buClr>
              <a:buSzPts val="1100"/>
              <a:buFont typeface="Arial"/>
              <a:buNone/>
            </a:pPr>
            <a:r>
              <a:rPr lang="en-US" sz="1100">
                <a:solidFill>
                  <a:srgbClr val="FFFFFF"/>
                </a:solidFill>
                <a:latin typeface="Calibri"/>
                <a:ea typeface="Calibri"/>
                <a:cs typeface="Calibri"/>
                <a:sym typeface="Calibri"/>
              </a:rPr>
              <a:t>Salesforce, Conga, Oracle, NetSuite</a:t>
            </a:r>
            <a:endParaRPr b="1" sz="1100">
              <a:solidFill>
                <a:srgbClr val="FFFFFF"/>
              </a:solidFill>
              <a:latin typeface="Calibri"/>
              <a:ea typeface="Calibri"/>
              <a:cs typeface="Calibri"/>
              <a:sym typeface="Calibri"/>
            </a:endParaRPr>
          </a:p>
        </p:txBody>
      </p:sp>
      <p:sp>
        <p:nvSpPr>
          <p:cNvPr id="113" name="Google Shape;113;p13"/>
          <p:cNvSpPr/>
          <p:nvPr/>
        </p:nvSpPr>
        <p:spPr>
          <a:xfrm>
            <a:off x="6355373" y="3576715"/>
            <a:ext cx="2328300" cy="936000"/>
          </a:xfrm>
          <a:prstGeom prst="rect">
            <a:avLst/>
          </a:prstGeom>
          <a:noFill/>
          <a:ln>
            <a:noFill/>
          </a:ln>
        </p:spPr>
        <p:txBody>
          <a:bodyPr anchorCtr="0" anchor="t" bIns="81275" lIns="162550" spcFirstLastPara="1" rIns="162550" wrap="square" tIns="0">
            <a:noAutofit/>
          </a:bodyPr>
          <a:lstStyle/>
          <a:p>
            <a:pPr indent="0" lvl="0" marL="0" rtl="0" algn="l">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Industry Verticals</a:t>
            </a:r>
            <a:endParaRPr sz="2000">
              <a:solidFill>
                <a:srgbClr val="FF8C00"/>
              </a:solidFill>
              <a:latin typeface="Calibri"/>
              <a:ea typeface="Calibri"/>
              <a:cs typeface="Calibri"/>
              <a:sym typeface="Calibri"/>
            </a:endParaRPr>
          </a:p>
          <a:p>
            <a:pPr indent="0" lvl="0" marL="0" rtl="0" algn="l">
              <a:lnSpc>
                <a:spcPct val="115000"/>
              </a:lnSpc>
              <a:spcBef>
                <a:spcPts val="300"/>
              </a:spcBef>
              <a:spcAft>
                <a:spcPts val="0"/>
              </a:spcAft>
              <a:buClr>
                <a:srgbClr val="000000"/>
              </a:buClr>
              <a:buSzPts val="1100"/>
              <a:buFont typeface="Arial"/>
              <a:buNone/>
            </a:pPr>
            <a:r>
              <a:rPr lang="en-US" sz="1100">
                <a:solidFill>
                  <a:srgbClr val="FFFFFF"/>
                </a:solidFill>
                <a:latin typeface="Calibri"/>
                <a:ea typeface="Calibri"/>
                <a:cs typeface="Calibri"/>
                <a:sym typeface="Calibri"/>
              </a:rPr>
              <a:t>Hi-Tech &amp; Manufacturing, Healthcare &amp; Lifesciences, Public Sector</a:t>
            </a:r>
            <a:endParaRPr b="1" sz="1100">
              <a:solidFill>
                <a:srgbClr val="FFFFFF"/>
              </a:solidFill>
              <a:latin typeface="Calibri"/>
              <a:ea typeface="Calibri"/>
              <a:cs typeface="Calibri"/>
              <a:sym typeface="Calibri"/>
            </a:endParaRPr>
          </a:p>
        </p:txBody>
      </p:sp>
      <p:pic>
        <p:nvPicPr>
          <p:cNvPr id="114" name="Google Shape;114;p13"/>
          <p:cNvPicPr preferRelativeResize="0"/>
          <p:nvPr/>
        </p:nvPicPr>
        <p:blipFill>
          <a:blip r:embed="rId6">
            <a:alphaModFix/>
          </a:blip>
          <a:stretch>
            <a:fillRect/>
          </a:stretch>
        </p:blipFill>
        <p:spPr>
          <a:xfrm>
            <a:off x="5534286" y="3627632"/>
            <a:ext cx="236247" cy="236247"/>
          </a:xfrm>
          <a:prstGeom prst="rect">
            <a:avLst/>
          </a:prstGeom>
          <a:noFill/>
          <a:ln>
            <a:noFill/>
          </a:ln>
        </p:spPr>
      </p:pic>
      <p:pic>
        <p:nvPicPr>
          <p:cNvPr id="115" name="Google Shape;115;p13"/>
          <p:cNvPicPr preferRelativeResize="0"/>
          <p:nvPr/>
        </p:nvPicPr>
        <p:blipFill>
          <a:blip r:embed="rId7">
            <a:alphaModFix/>
          </a:blip>
          <a:stretch>
            <a:fillRect/>
          </a:stretch>
        </p:blipFill>
        <p:spPr>
          <a:xfrm>
            <a:off x="6168706" y="3627628"/>
            <a:ext cx="236247" cy="236247"/>
          </a:xfrm>
          <a:prstGeom prst="rect">
            <a:avLst/>
          </a:prstGeom>
          <a:noFill/>
          <a:ln>
            <a:noFill/>
          </a:ln>
        </p:spPr>
      </p:pic>
      <p:sp>
        <p:nvSpPr>
          <p:cNvPr id="116" name="Google Shape;116;p13"/>
          <p:cNvSpPr txBox="1"/>
          <p:nvPr/>
        </p:nvSpPr>
        <p:spPr>
          <a:xfrm>
            <a:off x="881882" y="1122661"/>
            <a:ext cx="2241900" cy="730200"/>
          </a:xfrm>
          <a:prstGeom prst="rect">
            <a:avLst/>
          </a:prstGeom>
          <a:noFill/>
          <a:ln>
            <a:noFill/>
          </a:ln>
        </p:spPr>
        <p:txBody>
          <a:bodyPr anchorCtr="0" anchor="t" bIns="34275" lIns="0" spcFirstLastPara="1" rIns="68575" wrap="square" tIns="34275">
            <a:noAutofit/>
          </a:bodyPr>
          <a:lstStyle/>
          <a:p>
            <a:pPr indent="0" lvl="0" marL="0" rtl="0" algn="l">
              <a:lnSpc>
                <a:spcPct val="100000"/>
              </a:lnSpc>
              <a:spcBef>
                <a:spcPts val="0"/>
              </a:spcBef>
              <a:spcAft>
                <a:spcPts val="0"/>
              </a:spcAft>
              <a:buNone/>
            </a:pPr>
            <a:r>
              <a:rPr b="1" lang="en-US" sz="1800">
                <a:solidFill>
                  <a:srgbClr val="FFFFFF"/>
                </a:solidFill>
                <a:latin typeface="Montserrat"/>
                <a:ea typeface="Montserrat"/>
                <a:cs typeface="Montserrat"/>
                <a:sym typeface="Montserrat"/>
              </a:rPr>
              <a:t>The Force Driving Your Revenue</a:t>
            </a:r>
            <a:endParaRPr b="1" sz="1800">
              <a:solidFill>
                <a:srgbClr val="FFFFFF"/>
              </a:solidFill>
              <a:latin typeface="Montserrat"/>
              <a:ea typeface="Montserrat"/>
              <a:cs typeface="Montserrat"/>
              <a:sym typeface="Montserrat"/>
            </a:endParaRPr>
          </a:p>
        </p:txBody>
      </p:sp>
      <p:cxnSp>
        <p:nvCxnSpPr>
          <p:cNvPr id="117" name="Google Shape;117;p13"/>
          <p:cNvCxnSpPr/>
          <p:nvPr/>
        </p:nvCxnSpPr>
        <p:spPr>
          <a:xfrm>
            <a:off x="882053" y="2007113"/>
            <a:ext cx="2241900" cy="13800"/>
          </a:xfrm>
          <a:prstGeom prst="straightConnector1">
            <a:avLst/>
          </a:prstGeom>
          <a:noFill/>
          <a:ln cap="flat" cmpd="sng" w="19050">
            <a:solidFill>
              <a:srgbClr val="21A0DD"/>
            </a:solidFill>
            <a:prstDash val="solid"/>
            <a:round/>
            <a:headEnd len="med" w="med" type="none"/>
            <a:tailEnd len="med" w="med" type="none"/>
          </a:ln>
        </p:spPr>
      </p:cxnSp>
      <p:sp>
        <p:nvSpPr>
          <p:cNvPr id="118" name="Google Shape;118;p13"/>
          <p:cNvSpPr txBox="1"/>
          <p:nvPr/>
        </p:nvSpPr>
        <p:spPr>
          <a:xfrm>
            <a:off x="881830" y="2175161"/>
            <a:ext cx="2328300" cy="13446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sz="1600">
                <a:solidFill>
                  <a:srgbClr val="FFFFFF"/>
                </a:solidFill>
                <a:latin typeface="Calibri"/>
                <a:ea typeface="Calibri"/>
                <a:cs typeface="Calibri"/>
                <a:sym typeface="Calibri"/>
              </a:rPr>
              <a:t>Forsys focuses exclusively on Lead-to-Revenue bringing our clients end-to-end consulting, services and technologies to help transform their Revenue lifecycle.</a:t>
            </a:r>
            <a:endParaRPr sz="1600">
              <a:solidFill>
                <a:srgbClr val="FFFFFF"/>
              </a:solidFill>
              <a:latin typeface="Calibri"/>
              <a:ea typeface="Calibri"/>
              <a:cs typeface="Calibri"/>
              <a:sym typeface="Calibri"/>
            </a:endParaRPr>
          </a:p>
          <a:p>
            <a:pPr indent="0" lvl="0" marL="0" marR="0" rtl="0" algn="l">
              <a:lnSpc>
                <a:spcPct val="100000"/>
              </a:lnSpc>
              <a:spcBef>
                <a:spcPts val="1000"/>
              </a:spcBef>
              <a:spcAft>
                <a:spcPts val="0"/>
              </a:spcAft>
              <a:buClr>
                <a:schemeClr val="dk1"/>
              </a:buClr>
              <a:buSzPts val="1100"/>
              <a:buFont typeface="Arial"/>
              <a:buNone/>
            </a:pPr>
            <a:r>
              <a:t/>
            </a:r>
            <a:endParaRPr sz="1600">
              <a:solidFill>
                <a:srgbClr val="FFFFFF"/>
              </a:solidFill>
              <a:latin typeface="Calibri"/>
              <a:ea typeface="Calibri"/>
              <a:cs typeface="Calibri"/>
              <a:sym typeface="Calibri"/>
            </a:endParaRPr>
          </a:p>
          <a:p>
            <a:pPr indent="0" lvl="0" marL="0" marR="0" rtl="0" algn="l">
              <a:lnSpc>
                <a:spcPct val="100000"/>
              </a:lnSpc>
              <a:spcBef>
                <a:spcPts val="1000"/>
              </a:spcBef>
              <a:spcAft>
                <a:spcPts val="1000"/>
              </a:spcAft>
              <a:buNone/>
            </a:pPr>
            <a:r>
              <a:t/>
            </a:r>
            <a:endParaRPr sz="1600">
              <a:solidFill>
                <a:srgbClr val="FFFFFF"/>
              </a:solidFill>
              <a:latin typeface="Calibri"/>
              <a:ea typeface="Calibri"/>
              <a:cs typeface="Calibri"/>
              <a:sym typeface="Calibri"/>
            </a:endParaRPr>
          </a:p>
        </p:txBody>
      </p:sp>
      <p:pic>
        <p:nvPicPr>
          <p:cNvPr id="119" name="Google Shape;119;p13"/>
          <p:cNvPicPr preferRelativeResize="0"/>
          <p:nvPr/>
        </p:nvPicPr>
        <p:blipFill>
          <a:blip r:embed="rId8">
            <a:alphaModFix/>
          </a:blip>
          <a:stretch>
            <a:fillRect/>
          </a:stretch>
        </p:blipFill>
        <p:spPr>
          <a:xfrm>
            <a:off x="5534286" y="2464318"/>
            <a:ext cx="236247" cy="236247"/>
          </a:xfrm>
          <a:prstGeom prst="rect">
            <a:avLst/>
          </a:prstGeom>
          <a:noFill/>
          <a:ln>
            <a:noFill/>
          </a:ln>
        </p:spPr>
      </p:pic>
      <p:sp>
        <p:nvSpPr>
          <p:cNvPr id="120" name="Google Shape;120;p13"/>
          <p:cNvSpPr/>
          <p:nvPr/>
        </p:nvSpPr>
        <p:spPr>
          <a:xfrm>
            <a:off x="6355382" y="1067791"/>
            <a:ext cx="1963200" cy="851100"/>
          </a:xfrm>
          <a:prstGeom prst="rect">
            <a:avLst/>
          </a:prstGeom>
          <a:noFill/>
          <a:ln>
            <a:noFill/>
          </a:ln>
        </p:spPr>
        <p:txBody>
          <a:bodyPr anchorCtr="0" anchor="t" bIns="81275" lIns="162550" spcFirstLastPara="1" rIns="162550" wrap="square" tIns="0">
            <a:noAutofit/>
          </a:bodyPr>
          <a:lstStyle/>
          <a:p>
            <a:pPr indent="0" lvl="0" marL="0" rtl="0" algn="l">
              <a:spcBef>
                <a:spcPts val="0"/>
              </a:spcBef>
              <a:spcAft>
                <a:spcPts val="0"/>
              </a:spcAft>
              <a:buClr>
                <a:srgbClr val="000000"/>
              </a:buClr>
              <a:buSzPts val="3200"/>
              <a:buFont typeface="Arial"/>
              <a:buNone/>
            </a:pPr>
            <a:r>
              <a:rPr b="1" lang="en-US" sz="1700">
                <a:solidFill>
                  <a:srgbClr val="21A0DD"/>
                </a:solidFill>
                <a:latin typeface="Montserrat"/>
                <a:ea typeface="Montserrat"/>
                <a:cs typeface="Montserrat"/>
                <a:sym typeface="Montserrat"/>
              </a:rPr>
              <a:t>Locations</a:t>
            </a:r>
            <a:endParaRPr sz="2000">
              <a:solidFill>
                <a:srgbClr val="FF8C00"/>
              </a:solidFill>
              <a:latin typeface="Calibri"/>
              <a:ea typeface="Calibri"/>
              <a:cs typeface="Calibri"/>
              <a:sym typeface="Calibri"/>
            </a:endParaRPr>
          </a:p>
          <a:p>
            <a:pPr indent="0" lvl="0" marL="0" rtl="0" algn="l">
              <a:lnSpc>
                <a:spcPct val="115000"/>
              </a:lnSpc>
              <a:spcBef>
                <a:spcPts val="300"/>
              </a:spcBef>
              <a:spcAft>
                <a:spcPts val="0"/>
              </a:spcAft>
              <a:buClr>
                <a:srgbClr val="000000"/>
              </a:buClr>
              <a:buSzPts val="1100"/>
              <a:buFont typeface="Arial"/>
              <a:buNone/>
            </a:pPr>
            <a:r>
              <a:rPr lang="en-US" sz="1100">
                <a:solidFill>
                  <a:srgbClr val="FFFFFF"/>
                </a:solidFill>
                <a:latin typeface="Calibri"/>
                <a:ea typeface="Calibri"/>
                <a:cs typeface="Calibri"/>
                <a:sym typeface="Calibri"/>
              </a:rPr>
              <a:t>US / India / Colombia / Brazil / UK / </a:t>
            </a:r>
            <a:r>
              <a:rPr lang="en-US" sz="1100">
                <a:solidFill>
                  <a:srgbClr val="FFFFFF"/>
                </a:solidFill>
                <a:latin typeface="Calibri"/>
                <a:ea typeface="Calibri"/>
                <a:cs typeface="Calibri"/>
                <a:sym typeface="Calibri"/>
              </a:rPr>
              <a:t>Australia</a:t>
            </a:r>
            <a:r>
              <a:rPr lang="en-US" sz="1100">
                <a:solidFill>
                  <a:srgbClr val="FFFFFF"/>
                </a:solidFill>
                <a:latin typeface="Calibri"/>
                <a:ea typeface="Calibri"/>
                <a:cs typeface="Calibri"/>
                <a:sym typeface="Calibri"/>
              </a:rPr>
              <a:t>*</a:t>
            </a:r>
            <a:endParaRPr b="1" sz="1100">
              <a:solidFill>
                <a:srgbClr val="FFFFFF"/>
              </a:solidFill>
              <a:latin typeface="Calibri"/>
              <a:ea typeface="Calibri"/>
              <a:cs typeface="Calibri"/>
              <a:sym typeface="Calibri"/>
            </a:endParaRPr>
          </a:p>
        </p:txBody>
      </p:sp>
      <p:pic>
        <p:nvPicPr>
          <p:cNvPr id="121" name="Google Shape;121;p13"/>
          <p:cNvPicPr preferRelativeResize="0"/>
          <p:nvPr/>
        </p:nvPicPr>
        <p:blipFill>
          <a:blip r:embed="rId9">
            <a:alphaModFix/>
          </a:blip>
          <a:stretch>
            <a:fillRect/>
          </a:stretch>
        </p:blipFill>
        <p:spPr>
          <a:xfrm>
            <a:off x="6168706" y="1122663"/>
            <a:ext cx="236247" cy="236247"/>
          </a:xfrm>
          <a:prstGeom prst="rect">
            <a:avLst/>
          </a:prstGeom>
          <a:noFill/>
          <a:ln>
            <a:noFill/>
          </a:ln>
        </p:spPr>
      </p:pic>
      <p:cxnSp>
        <p:nvCxnSpPr>
          <p:cNvPr id="122" name="Google Shape;122;p13"/>
          <p:cNvCxnSpPr/>
          <p:nvPr/>
        </p:nvCxnSpPr>
        <p:spPr>
          <a:xfrm>
            <a:off x="5986468" y="1122540"/>
            <a:ext cx="0" cy="3303600"/>
          </a:xfrm>
          <a:prstGeom prst="straightConnector1">
            <a:avLst/>
          </a:prstGeom>
          <a:noFill/>
          <a:ln cap="flat" cmpd="sng" w="9525">
            <a:solidFill>
              <a:srgbClr val="21A0DD"/>
            </a:solidFill>
            <a:prstDash val="dot"/>
            <a:round/>
            <a:headEnd len="med" w="med" type="none"/>
            <a:tailEnd len="med" w="med" type="none"/>
          </a:ln>
        </p:spPr>
      </p:cxnSp>
      <p:cxnSp>
        <p:nvCxnSpPr>
          <p:cNvPr id="123" name="Google Shape;123;p13"/>
          <p:cNvCxnSpPr/>
          <p:nvPr/>
        </p:nvCxnSpPr>
        <p:spPr>
          <a:xfrm>
            <a:off x="3943230" y="3246066"/>
            <a:ext cx="4527900" cy="0"/>
          </a:xfrm>
          <a:prstGeom prst="straightConnector1">
            <a:avLst/>
          </a:prstGeom>
          <a:noFill/>
          <a:ln cap="flat" cmpd="sng" w="9525">
            <a:solidFill>
              <a:srgbClr val="21A0DD"/>
            </a:solidFill>
            <a:prstDash val="dot"/>
            <a:round/>
            <a:headEnd len="med" w="med" type="none"/>
            <a:tailEnd len="med" w="med" type="none"/>
          </a:ln>
        </p:spPr>
      </p:cxnSp>
      <p:cxnSp>
        <p:nvCxnSpPr>
          <p:cNvPr id="124" name="Google Shape;124;p13"/>
          <p:cNvCxnSpPr/>
          <p:nvPr/>
        </p:nvCxnSpPr>
        <p:spPr>
          <a:xfrm>
            <a:off x="3943230" y="2093266"/>
            <a:ext cx="4539900" cy="0"/>
          </a:xfrm>
          <a:prstGeom prst="straightConnector1">
            <a:avLst/>
          </a:prstGeom>
          <a:noFill/>
          <a:ln cap="flat" cmpd="sng" w="9525">
            <a:solidFill>
              <a:srgbClr val="21A0DD"/>
            </a:solidFill>
            <a:prstDash val="dot"/>
            <a:round/>
            <a:headEnd len="med" w="med" type="none"/>
            <a:tailEnd len="med" w="med" type="none"/>
          </a:ln>
        </p:spPr>
      </p:cxnSp>
      <p:pic>
        <p:nvPicPr>
          <p:cNvPr id="125" name="Google Shape;125;p13"/>
          <p:cNvPicPr preferRelativeResize="0"/>
          <p:nvPr/>
        </p:nvPicPr>
        <p:blipFill>
          <a:blip r:embed="rId10">
            <a:alphaModFix/>
          </a:blip>
          <a:stretch>
            <a:fillRect/>
          </a:stretch>
        </p:blipFill>
        <p:spPr>
          <a:xfrm>
            <a:off x="805706" y="402360"/>
            <a:ext cx="1324625" cy="662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4"/>
          <p:cNvPicPr preferRelativeResize="0"/>
          <p:nvPr/>
        </p:nvPicPr>
        <p:blipFill>
          <a:blip r:embed="rId3">
            <a:alphaModFix amt="70000"/>
          </a:blip>
          <a:stretch>
            <a:fillRect/>
          </a:stretch>
        </p:blipFill>
        <p:spPr>
          <a:xfrm>
            <a:off x="0" y="116818"/>
            <a:ext cx="9144003" cy="1308200"/>
          </a:xfrm>
          <a:prstGeom prst="rect">
            <a:avLst/>
          </a:prstGeom>
          <a:noFill/>
          <a:ln>
            <a:noFill/>
          </a:ln>
        </p:spPr>
      </p:pic>
      <p:sp>
        <p:nvSpPr>
          <p:cNvPr id="132" name="Google Shape;132;p14"/>
          <p:cNvSpPr txBox="1"/>
          <p:nvPr/>
        </p:nvSpPr>
        <p:spPr>
          <a:xfrm>
            <a:off x="429423" y="2099197"/>
            <a:ext cx="1929600" cy="38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1100"/>
              <a:buFont typeface="Calibri"/>
              <a:buNone/>
            </a:pPr>
            <a:r>
              <a:rPr b="1" i="0" lang="en-US" sz="1200" u="none" cap="none" strike="noStrike">
                <a:solidFill>
                  <a:srgbClr val="0D4582"/>
                </a:solidFill>
                <a:latin typeface="Calibri"/>
                <a:ea typeface="Calibri"/>
                <a:cs typeface="Calibri"/>
                <a:sym typeface="Calibri"/>
              </a:rPr>
              <a:t>Customer Relationship Management</a:t>
            </a:r>
            <a:endParaRPr b="1" i="0" sz="1200" u="none" cap="none" strike="noStrike">
              <a:solidFill>
                <a:srgbClr val="0D4582"/>
              </a:solidFill>
              <a:latin typeface="Calibri"/>
              <a:ea typeface="Calibri"/>
              <a:cs typeface="Calibri"/>
              <a:sym typeface="Calibri"/>
            </a:endParaRPr>
          </a:p>
        </p:txBody>
      </p:sp>
      <p:pic>
        <p:nvPicPr>
          <p:cNvPr id="133" name="Google Shape;133;p14"/>
          <p:cNvPicPr preferRelativeResize="0"/>
          <p:nvPr/>
        </p:nvPicPr>
        <p:blipFill rotWithShape="1">
          <a:blip r:embed="rId4">
            <a:alphaModFix/>
          </a:blip>
          <a:srcRect b="0" l="0" r="0" t="0"/>
          <a:stretch/>
        </p:blipFill>
        <p:spPr>
          <a:xfrm>
            <a:off x="1274589" y="4236983"/>
            <a:ext cx="510392" cy="510456"/>
          </a:xfrm>
          <a:prstGeom prst="rect">
            <a:avLst/>
          </a:prstGeom>
          <a:noFill/>
          <a:ln>
            <a:noFill/>
          </a:ln>
        </p:spPr>
      </p:pic>
      <p:sp>
        <p:nvSpPr>
          <p:cNvPr id="134" name="Google Shape;134;p14"/>
          <p:cNvSpPr txBox="1"/>
          <p:nvPr/>
        </p:nvSpPr>
        <p:spPr>
          <a:xfrm>
            <a:off x="2953372" y="2071391"/>
            <a:ext cx="1280400" cy="35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1100"/>
              <a:buFont typeface="Calibri"/>
              <a:buNone/>
            </a:pPr>
            <a:r>
              <a:rPr b="1" lang="en-US" sz="1200">
                <a:solidFill>
                  <a:srgbClr val="0D4582"/>
                </a:solidFill>
                <a:latin typeface="Calibri"/>
                <a:ea typeface="Calibri"/>
                <a:cs typeface="Calibri"/>
                <a:sym typeface="Calibri"/>
              </a:rPr>
              <a:t>Quote To Cash</a:t>
            </a:r>
            <a:endParaRPr b="1" i="0" sz="1200" u="none" cap="none" strike="noStrike">
              <a:solidFill>
                <a:srgbClr val="0D4582"/>
              </a:solidFill>
              <a:latin typeface="Calibri"/>
              <a:ea typeface="Calibri"/>
              <a:cs typeface="Calibri"/>
              <a:sym typeface="Calibri"/>
            </a:endParaRPr>
          </a:p>
        </p:txBody>
      </p:sp>
      <p:sp>
        <p:nvSpPr>
          <p:cNvPr id="135" name="Google Shape;135;p14"/>
          <p:cNvSpPr txBox="1"/>
          <p:nvPr/>
        </p:nvSpPr>
        <p:spPr>
          <a:xfrm>
            <a:off x="2953373" y="2303299"/>
            <a:ext cx="2766900" cy="35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34343"/>
              </a:buClr>
              <a:buSzPts val="800"/>
              <a:buFont typeface="Calibri"/>
              <a:buNone/>
            </a:pPr>
            <a:r>
              <a:rPr b="1" i="0" lang="en-US" sz="900" u="none" cap="none" strike="noStrike">
                <a:solidFill>
                  <a:srgbClr val="434343"/>
                </a:solidFill>
                <a:latin typeface="Calibri"/>
                <a:ea typeface="Calibri"/>
                <a:cs typeface="Calibri"/>
                <a:sym typeface="Calibri"/>
              </a:rPr>
              <a:t>CPQ  |  CLM  |  Order Management &amp; Billing |  Revenue Recognition  |  B2B eCommerce</a:t>
            </a:r>
            <a:endParaRPr b="1" i="0" sz="900" u="none" cap="none" strike="noStrike">
              <a:solidFill>
                <a:srgbClr val="434343"/>
              </a:solidFill>
              <a:latin typeface="Calibri"/>
              <a:ea typeface="Calibri"/>
              <a:cs typeface="Calibri"/>
              <a:sym typeface="Calibri"/>
            </a:endParaRPr>
          </a:p>
        </p:txBody>
      </p:sp>
      <p:sp>
        <p:nvSpPr>
          <p:cNvPr id="136" name="Google Shape;136;p14"/>
          <p:cNvSpPr txBox="1"/>
          <p:nvPr/>
        </p:nvSpPr>
        <p:spPr>
          <a:xfrm>
            <a:off x="2953375" y="2740197"/>
            <a:ext cx="2691300" cy="137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50">
                <a:solidFill>
                  <a:srgbClr val="434343"/>
                </a:solidFill>
                <a:latin typeface="Calibri"/>
                <a:ea typeface="Calibri"/>
                <a:cs typeface="Calibri"/>
                <a:sym typeface="Calibri"/>
              </a:rPr>
              <a:t>100</a:t>
            </a:r>
            <a:r>
              <a:rPr i="0" lang="en-US" sz="1050" u="none" cap="none" strike="noStrike">
                <a:solidFill>
                  <a:srgbClr val="434343"/>
                </a:solidFill>
                <a:latin typeface="Calibri"/>
                <a:ea typeface="Calibri"/>
                <a:cs typeface="Calibri"/>
                <a:sym typeface="Calibri"/>
              </a:rPr>
              <a:t>+ CPQ</a:t>
            </a:r>
            <a:r>
              <a:rPr lang="en-US" sz="1050">
                <a:solidFill>
                  <a:srgbClr val="434343"/>
                </a:solidFill>
                <a:latin typeface="Calibri"/>
                <a:ea typeface="Calibri"/>
                <a:cs typeface="Calibri"/>
                <a:sym typeface="Calibri"/>
              </a:rPr>
              <a:t> &amp; Billing</a:t>
            </a:r>
            <a:r>
              <a:rPr i="0" lang="en-US" sz="1050" u="none" cap="none" strike="noStrike">
                <a:solidFill>
                  <a:srgbClr val="434343"/>
                </a:solidFill>
                <a:latin typeface="Calibri"/>
                <a:ea typeface="Calibri"/>
                <a:cs typeface="Calibri"/>
                <a:sym typeface="Calibri"/>
              </a:rPr>
              <a:t> Implementations for Hi-Tech and Manufacturing companies</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i="0" lang="en-US" sz="1050" u="none" cap="none" strike="noStrike">
                <a:solidFill>
                  <a:srgbClr val="434343"/>
                </a:solidFill>
                <a:latin typeface="Calibri"/>
                <a:ea typeface="Calibri"/>
                <a:cs typeface="Calibri"/>
                <a:sym typeface="Calibri"/>
              </a:rPr>
              <a:t>20+ B2B </a:t>
            </a:r>
            <a:r>
              <a:rPr lang="en-US" sz="1050">
                <a:solidFill>
                  <a:srgbClr val="434343"/>
                </a:solidFill>
                <a:latin typeface="Calibri"/>
                <a:ea typeface="Calibri"/>
                <a:cs typeface="Calibri"/>
                <a:sym typeface="Calibri"/>
              </a:rPr>
              <a:t>Digital C</a:t>
            </a:r>
            <a:r>
              <a:rPr i="0" lang="en-US" sz="1050" u="none" cap="none" strike="noStrike">
                <a:solidFill>
                  <a:srgbClr val="434343"/>
                </a:solidFill>
                <a:latin typeface="Calibri"/>
                <a:ea typeface="Calibri"/>
                <a:cs typeface="Calibri"/>
                <a:sym typeface="Calibri"/>
              </a:rPr>
              <a:t>ommerce Implementations with APTTUS</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lang="en-US" sz="1050">
                <a:solidFill>
                  <a:srgbClr val="434343"/>
                </a:solidFill>
                <a:latin typeface="Calibri"/>
                <a:ea typeface="Calibri"/>
                <a:cs typeface="Calibri"/>
                <a:sym typeface="Calibri"/>
              </a:rPr>
              <a:t>Ayara - Revenue Intelligence &amp; Automated</a:t>
            </a:r>
            <a:r>
              <a:rPr i="0" lang="en-US" sz="1050" u="none" cap="none" strike="noStrike">
                <a:solidFill>
                  <a:srgbClr val="434343"/>
                </a:solidFill>
                <a:latin typeface="Calibri"/>
                <a:ea typeface="Calibri"/>
                <a:cs typeface="Calibri"/>
                <a:sym typeface="Calibri"/>
              </a:rPr>
              <a:t> Revenue Management </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600"/>
              </a:spcAft>
              <a:buNone/>
            </a:pPr>
            <a:r>
              <a:rPr i="0" lang="en-US" sz="1050" u="none" cap="none" strike="noStrike">
                <a:solidFill>
                  <a:srgbClr val="434343"/>
                </a:solidFill>
                <a:latin typeface="Calibri"/>
                <a:ea typeface="Calibri"/>
                <a:cs typeface="Calibri"/>
                <a:sym typeface="Calibri"/>
              </a:rPr>
              <a:t>Rise – eCommerce Store Builder on CPQ</a:t>
            </a:r>
            <a:endParaRPr i="0" sz="1050" u="none" cap="none" strike="noStrike">
              <a:solidFill>
                <a:srgbClr val="434343"/>
              </a:solidFill>
              <a:latin typeface="Calibri"/>
              <a:ea typeface="Calibri"/>
              <a:cs typeface="Calibri"/>
              <a:sym typeface="Calibri"/>
            </a:endParaRPr>
          </a:p>
        </p:txBody>
      </p:sp>
      <p:sp>
        <p:nvSpPr>
          <p:cNvPr id="137" name="Google Shape;137;p14"/>
          <p:cNvSpPr txBox="1"/>
          <p:nvPr/>
        </p:nvSpPr>
        <p:spPr>
          <a:xfrm>
            <a:off x="6376843" y="2090008"/>
            <a:ext cx="1929600" cy="38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lang="en-US" sz="1200">
                <a:solidFill>
                  <a:srgbClr val="0D4582"/>
                </a:solidFill>
                <a:latin typeface="Calibri"/>
                <a:ea typeface="Calibri"/>
                <a:cs typeface="Calibri"/>
                <a:sym typeface="Calibri"/>
              </a:rPr>
              <a:t>Supply Chain &amp; </a:t>
            </a:r>
            <a:br>
              <a:rPr b="1" lang="en-US" sz="1200">
                <a:solidFill>
                  <a:srgbClr val="0D4582"/>
                </a:solidFill>
                <a:latin typeface="Calibri"/>
                <a:ea typeface="Calibri"/>
                <a:cs typeface="Calibri"/>
                <a:sym typeface="Calibri"/>
              </a:rPr>
            </a:br>
            <a:r>
              <a:rPr b="1" lang="en-US" sz="1200">
                <a:solidFill>
                  <a:srgbClr val="0D4582"/>
                </a:solidFill>
                <a:latin typeface="Calibri"/>
                <a:ea typeface="Calibri"/>
                <a:cs typeface="Calibri"/>
                <a:sym typeface="Calibri"/>
              </a:rPr>
              <a:t>Financial Management</a:t>
            </a:r>
            <a:endParaRPr b="1" i="0" sz="1200" u="none" cap="none" strike="noStrike">
              <a:solidFill>
                <a:srgbClr val="0D4582"/>
              </a:solidFill>
              <a:latin typeface="Calibri"/>
              <a:ea typeface="Calibri"/>
              <a:cs typeface="Calibri"/>
              <a:sym typeface="Calibri"/>
            </a:endParaRPr>
          </a:p>
        </p:txBody>
      </p:sp>
      <p:sp>
        <p:nvSpPr>
          <p:cNvPr id="138" name="Google Shape;138;p14"/>
          <p:cNvSpPr txBox="1"/>
          <p:nvPr/>
        </p:nvSpPr>
        <p:spPr>
          <a:xfrm>
            <a:off x="6397173" y="2720247"/>
            <a:ext cx="2094300" cy="14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1050" u="none" cap="none" strike="noStrike">
                <a:solidFill>
                  <a:srgbClr val="434343"/>
                </a:solidFill>
                <a:latin typeface="Calibri"/>
                <a:ea typeface="Calibri"/>
                <a:cs typeface="Calibri"/>
                <a:sym typeface="Calibri"/>
              </a:rPr>
              <a:t>20+ years in implementing ERP Financials &amp; SCM</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i="0" lang="en-US" sz="1050" u="none" cap="none" strike="noStrike">
                <a:solidFill>
                  <a:srgbClr val="434343"/>
                </a:solidFill>
                <a:latin typeface="Calibri"/>
                <a:ea typeface="Calibri"/>
                <a:cs typeface="Calibri"/>
                <a:sym typeface="Calibri"/>
              </a:rPr>
              <a:t>Co-Development Partner for SCM and Adv. Pricing</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i="0" lang="en-US" sz="1050" u="none" cap="none" strike="noStrike">
                <a:solidFill>
                  <a:srgbClr val="434343"/>
                </a:solidFill>
                <a:latin typeface="Calibri"/>
                <a:ea typeface="Calibri"/>
                <a:cs typeface="Calibri"/>
                <a:sym typeface="Calibri"/>
              </a:rPr>
              <a:t>Certified Cloud Implementation Partner </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600"/>
              </a:spcAft>
              <a:buNone/>
            </a:pPr>
            <a:r>
              <a:rPr i="0" lang="en-US" sz="1050" u="none" cap="none" strike="noStrike">
                <a:solidFill>
                  <a:srgbClr val="434343"/>
                </a:solidFill>
                <a:latin typeface="Calibri"/>
                <a:ea typeface="Calibri"/>
                <a:cs typeface="Calibri"/>
                <a:sym typeface="Calibri"/>
              </a:rPr>
              <a:t>100+ Oracle Certified resources </a:t>
            </a:r>
            <a:endParaRPr i="0" sz="1050" u="none" cap="none" strike="noStrike">
              <a:solidFill>
                <a:srgbClr val="434343"/>
              </a:solidFill>
              <a:latin typeface="Calibri"/>
              <a:ea typeface="Calibri"/>
              <a:cs typeface="Calibri"/>
              <a:sym typeface="Calibri"/>
            </a:endParaRPr>
          </a:p>
        </p:txBody>
      </p:sp>
      <p:sp>
        <p:nvSpPr>
          <p:cNvPr id="139" name="Google Shape;139;p14"/>
          <p:cNvSpPr txBox="1"/>
          <p:nvPr/>
        </p:nvSpPr>
        <p:spPr>
          <a:xfrm>
            <a:off x="429430" y="2755589"/>
            <a:ext cx="2094300" cy="104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1050" u="none" cap="none" strike="noStrike">
                <a:solidFill>
                  <a:srgbClr val="434343"/>
                </a:solidFill>
                <a:latin typeface="Calibri"/>
                <a:ea typeface="Calibri"/>
                <a:cs typeface="Calibri"/>
                <a:sym typeface="Calibri"/>
              </a:rPr>
              <a:t>75+ CRM Implementations over </a:t>
            </a:r>
            <a:r>
              <a:rPr lang="en-US" sz="1050">
                <a:solidFill>
                  <a:srgbClr val="434343"/>
                </a:solidFill>
                <a:latin typeface="Calibri"/>
                <a:ea typeface="Calibri"/>
                <a:cs typeface="Calibri"/>
                <a:sym typeface="Calibri"/>
              </a:rPr>
              <a:t>6</a:t>
            </a:r>
            <a:r>
              <a:rPr i="0" lang="en-US" sz="1050" u="none" cap="none" strike="noStrike">
                <a:solidFill>
                  <a:srgbClr val="434343"/>
                </a:solidFill>
                <a:latin typeface="Calibri"/>
                <a:ea typeface="Calibri"/>
                <a:cs typeface="Calibri"/>
                <a:sym typeface="Calibri"/>
              </a:rPr>
              <a:t> years</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lang="en-US" sz="1050">
                <a:solidFill>
                  <a:srgbClr val="434343"/>
                </a:solidFill>
                <a:latin typeface="Calibri"/>
                <a:ea typeface="Calibri"/>
                <a:cs typeface="Calibri"/>
                <a:sym typeface="Calibri"/>
              </a:rPr>
              <a:t>300</a:t>
            </a:r>
            <a:r>
              <a:rPr i="0" lang="en-US" sz="1050" u="none" cap="none" strike="noStrike">
                <a:solidFill>
                  <a:srgbClr val="434343"/>
                </a:solidFill>
                <a:latin typeface="Calibri"/>
                <a:ea typeface="Calibri"/>
                <a:cs typeface="Calibri"/>
                <a:sym typeface="Calibri"/>
              </a:rPr>
              <a:t>+ Salesforce Certifications</a:t>
            </a:r>
            <a:endParaRPr i="0" sz="1050" u="none" cap="none" strike="noStrike">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lang="en-US" sz="1050">
                <a:solidFill>
                  <a:srgbClr val="434343"/>
                </a:solidFill>
                <a:latin typeface="Calibri"/>
                <a:ea typeface="Calibri"/>
                <a:cs typeface="Calibri"/>
                <a:sym typeface="Calibri"/>
              </a:rPr>
              <a:t>Salesforce Org Merge (M&amp;A) - Accelerator</a:t>
            </a:r>
            <a:endParaRPr sz="1050">
              <a:solidFill>
                <a:srgbClr val="434343"/>
              </a:solidFill>
              <a:latin typeface="Calibri"/>
              <a:ea typeface="Calibri"/>
              <a:cs typeface="Calibri"/>
              <a:sym typeface="Calibri"/>
            </a:endParaRPr>
          </a:p>
          <a:p>
            <a:pPr indent="0" lvl="0" marL="0" marR="0" rtl="0" algn="l">
              <a:lnSpc>
                <a:spcPct val="100000"/>
              </a:lnSpc>
              <a:spcBef>
                <a:spcPts val="600"/>
              </a:spcBef>
              <a:spcAft>
                <a:spcPts val="600"/>
              </a:spcAft>
              <a:buNone/>
            </a:pPr>
            <a:r>
              <a:rPr lang="en-US" sz="1050">
                <a:solidFill>
                  <a:srgbClr val="434343"/>
                </a:solidFill>
                <a:latin typeface="Calibri"/>
                <a:ea typeface="Calibri"/>
                <a:cs typeface="Calibri"/>
                <a:sym typeface="Calibri"/>
              </a:rPr>
              <a:t>Salesforce DataOps</a:t>
            </a:r>
            <a:endParaRPr sz="1050">
              <a:solidFill>
                <a:srgbClr val="434343"/>
              </a:solidFill>
              <a:latin typeface="Calibri"/>
              <a:ea typeface="Calibri"/>
              <a:cs typeface="Calibri"/>
              <a:sym typeface="Calibri"/>
            </a:endParaRPr>
          </a:p>
        </p:txBody>
      </p:sp>
      <p:pic>
        <p:nvPicPr>
          <p:cNvPr id="140" name="Google Shape;140;p14"/>
          <p:cNvPicPr preferRelativeResize="0"/>
          <p:nvPr/>
        </p:nvPicPr>
        <p:blipFill rotWithShape="1">
          <a:blip r:embed="rId4">
            <a:alphaModFix/>
          </a:blip>
          <a:srcRect b="0" l="0" r="0" t="0"/>
          <a:stretch/>
        </p:blipFill>
        <p:spPr>
          <a:xfrm>
            <a:off x="3623342" y="4236982"/>
            <a:ext cx="510392" cy="510456"/>
          </a:xfrm>
          <a:prstGeom prst="rect">
            <a:avLst/>
          </a:prstGeom>
          <a:noFill/>
          <a:ln>
            <a:noFill/>
          </a:ln>
        </p:spPr>
      </p:pic>
      <p:cxnSp>
        <p:nvCxnSpPr>
          <p:cNvPr id="141" name="Google Shape;141;p14"/>
          <p:cNvCxnSpPr/>
          <p:nvPr/>
        </p:nvCxnSpPr>
        <p:spPr>
          <a:xfrm>
            <a:off x="4300526" y="4373045"/>
            <a:ext cx="0" cy="238200"/>
          </a:xfrm>
          <a:prstGeom prst="straightConnector1">
            <a:avLst/>
          </a:prstGeom>
          <a:noFill/>
          <a:ln cap="flat" cmpd="sng" w="9525">
            <a:solidFill>
              <a:srgbClr val="CCCCCC"/>
            </a:solidFill>
            <a:prstDash val="solid"/>
            <a:round/>
            <a:headEnd len="sm" w="sm" type="none"/>
            <a:tailEnd len="sm" w="sm" type="none"/>
          </a:ln>
        </p:spPr>
      </p:cxnSp>
      <p:sp>
        <p:nvSpPr>
          <p:cNvPr id="142" name="Google Shape;142;p14"/>
          <p:cNvSpPr txBox="1"/>
          <p:nvPr/>
        </p:nvSpPr>
        <p:spPr>
          <a:xfrm>
            <a:off x="316882" y="1345426"/>
            <a:ext cx="693600" cy="43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Market to Lead</a:t>
            </a:r>
            <a:endParaRPr b="1" i="0" sz="1000" u="none" cap="none" strike="noStrike">
              <a:solidFill>
                <a:srgbClr val="434343"/>
              </a:solidFill>
              <a:latin typeface="Calibri"/>
              <a:ea typeface="Calibri"/>
              <a:cs typeface="Calibri"/>
              <a:sym typeface="Calibri"/>
            </a:endParaRPr>
          </a:p>
        </p:txBody>
      </p:sp>
      <p:sp>
        <p:nvSpPr>
          <p:cNvPr id="143" name="Google Shape;143;p14"/>
          <p:cNvSpPr txBox="1"/>
          <p:nvPr/>
        </p:nvSpPr>
        <p:spPr>
          <a:xfrm>
            <a:off x="1140326" y="1345426"/>
            <a:ext cx="957300" cy="38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Lead to Opportunity</a:t>
            </a:r>
            <a:endParaRPr b="1" i="0" sz="1000" u="none" cap="none" strike="noStrike">
              <a:solidFill>
                <a:srgbClr val="434343"/>
              </a:solidFill>
              <a:latin typeface="Calibri"/>
              <a:ea typeface="Calibri"/>
              <a:cs typeface="Calibri"/>
              <a:sym typeface="Calibri"/>
            </a:endParaRPr>
          </a:p>
        </p:txBody>
      </p:sp>
      <p:sp>
        <p:nvSpPr>
          <p:cNvPr id="144" name="Google Shape;144;p14"/>
          <p:cNvSpPr txBox="1"/>
          <p:nvPr/>
        </p:nvSpPr>
        <p:spPr>
          <a:xfrm>
            <a:off x="1995994" y="1345426"/>
            <a:ext cx="9573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Opportunity to Quote</a:t>
            </a:r>
            <a:endParaRPr b="1" i="0" sz="1000" u="none" cap="none" strike="noStrike">
              <a:solidFill>
                <a:srgbClr val="434343"/>
              </a:solidFill>
              <a:latin typeface="Calibri"/>
              <a:ea typeface="Calibri"/>
              <a:cs typeface="Calibri"/>
              <a:sym typeface="Calibri"/>
            </a:endParaRPr>
          </a:p>
        </p:txBody>
      </p:sp>
      <p:sp>
        <p:nvSpPr>
          <p:cNvPr id="145" name="Google Shape;145;p14"/>
          <p:cNvSpPr txBox="1"/>
          <p:nvPr/>
        </p:nvSpPr>
        <p:spPr>
          <a:xfrm>
            <a:off x="2851218" y="1345426"/>
            <a:ext cx="7620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Quote to Order</a:t>
            </a:r>
            <a:endParaRPr b="1" i="0" sz="1000" u="none" cap="none" strike="noStrike">
              <a:solidFill>
                <a:srgbClr val="434343"/>
              </a:solidFill>
              <a:latin typeface="Calibri"/>
              <a:ea typeface="Calibri"/>
              <a:cs typeface="Calibri"/>
              <a:sym typeface="Calibri"/>
            </a:endParaRPr>
          </a:p>
        </p:txBody>
      </p:sp>
      <p:sp>
        <p:nvSpPr>
          <p:cNvPr id="146" name="Google Shape;146;p14"/>
          <p:cNvSpPr txBox="1"/>
          <p:nvPr/>
        </p:nvSpPr>
        <p:spPr>
          <a:xfrm>
            <a:off x="3740932" y="1345426"/>
            <a:ext cx="7557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Order to Book</a:t>
            </a:r>
            <a:endParaRPr b="1" i="0" sz="1000" u="none" cap="none" strike="noStrike">
              <a:solidFill>
                <a:srgbClr val="434343"/>
              </a:solidFill>
              <a:latin typeface="Calibri"/>
              <a:ea typeface="Calibri"/>
              <a:cs typeface="Calibri"/>
              <a:sym typeface="Calibri"/>
            </a:endParaRPr>
          </a:p>
        </p:txBody>
      </p:sp>
      <p:sp>
        <p:nvSpPr>
          <p:cNvPr id="147" name="Google Shape;147;p14"/>
          <p:cNvSpPr txBox="1"/>
          <p:nvPr/>
        </p:nvSpPr>
        <p:spPr>
          <a:xfrm>
            <a:off x="4556211" y="1345426"/>
            <a:ext cx="8631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Contracts</a:t>
            </a:r>
            <a:endParaRPr b="1" i="0" sz="1000" u="none" cap="none" strike="noStrike">
              <a:solidFill>
                <a:srgbClr val="434343"/>
              </a:solidFill>
              <a:latin typeface="Calibri"/>
              <a:ea typeface="Calibri"/>
              <a:cs typeface="Calibri"/>
              <a:sym typeface="Calibri"/>
            </a:endParaRPr>
          </a:p>
        </p:txBody>
      </p:sp>
      <p:sp>
        <p:nvSpPr>
          <p:cNvPr id="148" name="Google Shape;148;p14"/>
          <p:cNvSpPr txBox="1"/>
          <p:nvPr/>
        </p:nvSpPr>
        <p:spPr>
          <a:xfrm>
            <a:off x="5399092" y="1345426"/>
            <a:ext cx="8631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Shipment/ License</a:t>
            </a:r>
            <a:endParaRPr b="1" i="0" sz="1000" u="none" cap="none" strike="noStrike">
              <a:solidFill>
                <a:srgbClr val="434343"/>
              </a:solidFill>
              <a:latin typeface="Calibri"/>
              <a:ea typeface="Calibri"/>
              <a:cs typeface="Calibri"/>
              <a:sym typeface="Calibri"/>
            </a:endParaRPr>
          </a:p>
        </p:txBody>
      </p:sp>
      <p:sp>
        <p:nvSpPr>
          <p:cNvPr id="149" name="Google Shape;149;p14"/>
          <p:cNvSpPr txBox="1"/>
          <p:nvPr/>
        </p:nvSpPr>
        <p:spPr>
          <a:xfrm>
            <a:off x="6250373" y="1345426"/>
            <a:ext cx="7620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Book to Invoice</a:t>
            </a:r>
            <a:endParaRPr b="1" i="0" sz="1000" u="none" cap="none" strike="noStrike">
              <a:solidFill>
                <a:srgbClr val="434343"/>
              </a:solidFill>
              <a:latin typeface="Calibri"/>
              <a:ea typeface="Calibri"/>
              <a:cs typeface="Calibri"/>
              <a:sym typeface="Calibri"/>
            </a:endParaRPr>
          </a:p>
        </p:txBody>
      </p:sp>
      <p:sp>
        <p:nvSpPr>
          <p:cNvPr id="150" name="Google Shape;150;p14"/>
          <p:cNvSpPr txBox="1"/>
          <p:nvPr/>
        </p:nvSpPr>
        <p:spPr>
          <a:xfrm>
            <a:off x="7112831" y="1345426"/>
            <a:ext cx="7620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Invoice to Cash</a:t>
            </a:r>
            <a:endParaRPr b="1" i="0" sz="1000" u="none" cap="none" strike="noStrike">
              <a:solidFill>
                <a:srgbClr val="434343"/>
              </a:solidFill>
              <a:latin typeface="Calibri"/>
              <a:ea typeface="Calibri"/>
              <a:cs typeface="Calibri"/>
              <a:sym typeface="Calibri"/>
            </a:endParaRPr>
          </a:p>
        </p:txBody>
      </p:sp>
      <p:sp>
        <p:nvSpPr>
          <p:cNvPr id="151" name="Google Shape;151;p14"/>
          <p:cNvSpPr txBox="1"/>
          <p:nvPr/>
        </p:nvSpPr>
        <p:spPr>
          <a:xfrm>
            <a:off x="7981014" y="1345426"/>
            <a:ext cx="762000" cy="4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i="0" lang="en-US" sz="1000" u="none" cap="none" strike="noStrike">
                <a:solidFill>
                  <a:srgbClr val="434343"/>
                </a:solidFill>
                <a:latin typeface="Calibri"/>
                <a:ea typeface="Calibri"/>
                <a:cs typeface="Calibri"/>
                <a:sym typeface="Calibri"/>
              </a:rPr>
              <a:t>Rev Rec</a:t>
            </a:r>
            <a:endParaRPr b="1" i="0" sz="1000" u="none" cap="none" strike="noStrike">
              <a:solidFill>
                <a:srgbClr val="434343"/>
              </a:solidFill>
              <a:latin typeface="Calibri"/>
              <a:ea typeface="Calibri"/>
              <a:cs typeface="Calibri"/>
              <a:sym typeface="Calibri"/>
            </a:endParaRPr>
          </a:p>
        </p:txBody>
      </p:sp>
      <p:cxnSp>
        <p:nvCxnSpPr>
          <p:cNvPr id="152" name="Google Shape;152;p14"/>
          <p:cNvCxnSpPr/>
          <p:nvPr/>
        </p:nvCxnSpPr>
        <p:spPr>
          <a:xfrm>
            <a:off x="410944"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3" name="Google Shape;153;p14"/>
          <p:cNvCxnSpPr/>
          <p:nvPr/>
        </p:nvCxnSpPr>
        <p:spPr>
          <a:xfrm>
            <a:off x="1241135"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4" name="Google Shape;154;p14"/>
          <p:cNvCxnSpPr/>
          <p:nvPr/>
        </p:nvCxnSpPr>
        <p:spPr>
          <a:xfrm>
            <a:off x="2097620"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5" name="Google Shape;155;p14"/>
          <p:cNvCxnSpPr/>
          <p:nvPr/>
        </p:nvCxnSpPr>
        <p:spPr>
          <a:xfrm>
            <a:off x="2954105"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6" name="Google Shape;156;p14"/>
          <p:cNvCxnSpPr/>
          <p:nvPr/>
        </p:nvCxnSpPr>
        <p:spPr>
          <a:xfrm>
            <a:off x="3833476"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7" name="Google Shape;157;p14"/>
          <p:cNvCxnSpPr/>
          <p:nvPr/>
        </p:nvCxnSpPr>
        <p:spPr>
          <a:xfrm>
            <a:off x="4663667"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8" name="Google Shape;158;p14"/>
          <p:cNvCxnSpPr/>
          <p:nvPr/>
        </p:nvCxnSpPr>
        <p:spPr>
          <a:xfrm>
            <a:off x="5500433"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59" name="Google Shape;159;p14"/>
          <p:cNvCxnSpPr/>
          <p:nvPr/>
        </p:nvCxnSpPr>
        <p:spPr>
          <a:xfrm>
            <a:off x="6356917"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60" name="Google Shape;160;p14"/>
          <p:cNvCxnSpPr/>
          <p:nvPr/>
        </p:nvCxnSpPr>
        <p:spPr>
          <a:xfrm>
            <a:off x="7213403" y="1824023"/>
            <a:ext cx="755700" cy="0"/>
          </a:xfrm>
          <a:prstGeom prst="straightConnector1">
            <a:avLst/>
          </a:prstGeom>
          <a:noFill/>
          <a:ln cap="flat" cmpd="sng" w="9525">
            <a:solidFill>
              <a:srgbClr val="B7B7B7"/>
            </a:solidFill>
            <a:prstDash val="solid"/>
            <a:round/>
            <a:headEnd len="sm" w="sm" type="none"/>
            <a:tailEnd len="med" w="med" type="triangle"/>
          </a:ln>
        </p:spPr>
      </p:cxnSp>
      <p:cxnSp>
        <p:nvCxnSpPr>
          <p:cNvPr id="161" name="Google Shape;161;p14"/>
          <p:cNvCxnSpPr/>
          <p:nvPr/>
        </p:nvCxnSpPr>
        <p:spPr>
          <a:xfrm>
            <a:off x="8079626" y="1824023"/>
            <a:ext cx="755700" cy="0"/>
          </a:xfrm>
          <a:prstGeom prst="straightConnector1">
            <a:avLst/>
          </a:prstGeom>
          <a:noFill/>
          <a:ln cap="flat" cmpd="sng" w="9525">
            <a:solidFill>
              <a:srgbClr val="B7B7B7"/>
            </a:solidFill>
            <a:prstDash val="solid"/>
            <a:round/>
            <a:headEnd len="sm" w="sm" type="none"/>
            <a:tailEnd len="med" w="med" type="triangle"/>
          </a:ln>
        </p:spPr>
      </p:cxnSp>
      <p:sp>
        <p:nvSpPr>
          <p:cNvPr id="162" name="Google Shape;162;p14"/>
          <p:cNvSpPr txBox="1"/>
          <p:nvPr/>
        </p:nvSpPr>
        <p:spPr>
          <a:xfrm>
            <a:off x="1273800" y="1010035"/>
            <a:ext cx="200400" cy="200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1300">
                <a:solidFill>
                  <a:srgbClr val="595959"/>
                </a:solidFill>
                <a:latin typeface="Montserrat SemiBold"/>
                <a:ea typeface="Montserrat SemiBold"/>
                <a:cs typeface="Montserrat SemiBold"/>
                <a:sym typeface="Montserrat SemiBold"/>
              </a:rPr>
              <a:t>$</a:t>
            </a:r>
            <a:endParaRPr sz="1300">
              <a:solidFill>
                <a:srgbClr val="595959"/>
              </a:solidFill>
              <a:latin typeface="Montserrat SemiBold"/>
              <a:ea typeface="Montserrat SemiBold"/>
              <a:cs typeface="Montserrat SemiBold"/>
              <a:sym typeface="Montserrat SemiBold"/>
            </a:endParaRPr>
          </a:p>
        </p:txBody>
      </p:sp>
      <p:pic>
        <p:nvPicPr>
          <p:cNvPr id="163" name="Google Shape;163;p14"/>
          <p:cNvPicPr preferRelativeResize="0"/>
          <p:nvPr/>
        </p:nvPicPr>
        <p:blipFill>
          <a:blip r:embed="rId5">
            <a:alphaModFix/>
          </a:blip>
          <a:stretch>
            <a:fillRect/>
          </a:stretch>
        </p:blipFill>
        <p:spPr>
          <a:xfrm>
            <a:off x="462094" y="592041"/>
            <a:ext cx="305108" cy="305108"/>
          </a:xfrm>
          <a:prstGeom prst="rect">
            <a:avLst/>
          </a:prstGeom>
          <a:noFill/>
          <a:ln>
            <a:noFill/>
          </a:ln>
        </p:spPr>
      </p:pic>
      <p:sp>
        <p:nvSpPr>
          <p:cNvPr id="164" name="Google Shape;164;p14"/>
          <p:cNvSpPr/>
          <p:nvPr/>
        </p:nvSpPr>
        <p:spPr>
          <a:xfrm rot="-5400000">
            <a:off x="1429629" y="3086781"/>
            <a:ext cx="200400" cy="2200800"/>
          </a:xfrm>
          <a:prstGeom prst="leftBrace">
            <a:avLst>
              <a:gd fmla="val 50000" name="adj1"/>
              <a:gd fmla="val 50000" name="adj2"/>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rot="-5400000">
            <a:off x="4211231" y="2788731"/>
            <a:ext cx="200400" cy="2796900"/>
          </a:xfrm>
          <a:prstGeom prst="leftBrace">
            <a:avLst>
              <a:gd fmla="val 50000" name="adj1"/>
              <a:gd fmla="val 50000" name="adj2"/>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rot="-5400000">
            <a:off x="7344021" y="3089931"/>
            <a:ext cx="200400" cy="2194500"/>
          </a:xfrm>
          <a:prstGeom prst="leftBrace">
            <a:avLst>
              <a:gd fmla="val 50000" name="adj1"/>
              <a:gd fmla="val 50000" name="adj2"/>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p14"/>
          <p:cNvPicPr preferRelativeResize="0"/>
          <p:nvPr/>
        </p:nvPicPr>
        <p:blipFill>
          <a:blip r:embed="rId6">
            <a:alphaModFix/>
          </a:blip>
          <a:stretch>
            <a:fillRect/>
          </a:stretch>
        </p:blipFill>
        <p:spPr>
          <a:xfrm>
            <a:off x="6490898" y="4340241"/>
            <a:ext cx="816963" cy="278638"/>
          </a:xfrm>
          <a:prstGeom prst="rect">
            <a:avLst/>
          </a:prstGeom>
          <a:noFill/>
          <a:ln>
            <a:noFill/>
          </a:ln>
        </p:spPr>
      </p:pic>
      <p:cxnSp>
        <p:nvCxnSpPr>
          <p:cNvPr id="168" name="Google Shape;168;p14"/>
          <p:cNvCxnSpPr/>
          <p:nvPr/>
        </p:nvCxnSpPr>
        <p:spPr>
          <a:xfrm>
            <a:off x="7435928" y="4340233"/>
            <a:ext cx="0" cy="238200"/>
          </a:xfrm>
          <a:prstGeom prst="straightConnector1">
            <a:avLst/>
          </a:prstGeom>
          <a:noFill/>
          <a:ln cap="flat" cmpd="sng" w="9525">
            <a:solidFill>
              <a:srgbClr val="CCCCCC"/>
            </a:solidFill>
            <a:prstDash val="solid"/>
            <a:round/>
            <a:headEnd len="sm" w="sm" type="none"/>
            <a:tailEnd len="sm" w="sm" type="none"/>
          </a:ln>
        </p:spPr>
      </p:cxnSp>
      <p:pic>
        <p:nvPicPr>
          <p:cNvPr id="169" name="Google Shape;169;p14"/>
          <p:cNvPicPr preferRelativeResize="0"/>
          <p:nvPr/>
        </p:nvPicPr>
        <p:blipFill rotWithShape="1">
          <a:blip r:embed="rId7">
            <a:alphaModFix/>
          </a:blip>
          <a:srcRect b="-613" l="0" r="-1760" t="0"/>
          <a:stretch/>
        </p:blipFill>
        <p:spPr>
          <a:xfrm>
            <a:off x="4467316" y="4283494"/>
            <a:ext cx="436525" cy="431621"/>
          </a:xfrm>
          <a:prstGeom prst="rect">
            <a:avLst/>
          </a:prstGeom>
          <a:noFill/>
          <a:ln>
            <a:noFill/>
          </a:ln>
        </p:spPr>
      </p:pic>
      <p:sp>
        <p:nvSpPr>
          <p:cNvPr id="170" name="Google Shape;170;p14"/>
          <p:cNvSpPr txBox="1"/>
          <p:nvPr/>
        </p:nvSpPr>
        <p:spPr>
          <a:xfrm>
            <a:off x="1808690" y="790215"/>
            <a:ext cx="6414300" cy="38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900"/>
              <a:buFont typeface="Arial"/>
              <a:buNone/>
            </a:pPr>
            <a:r>
              <a:rPr b="1" lang="en-US" sz="2000">
                <a:solidFill>
                  <a:srgbClr val="21A0DD"/>
                </a:solidFill>
                <a:latin typeface="Montserrat"/>
                <a:ea typeface="Montserrat"/>
                <a:cs typeface="Montserrat"/>
                <a:sym typeface="Montserrat"/>
              </a:rPr>
              <a:t>Transforming Revenue Operations</a:t>
            </a:r>
            <a:endParaRPr b="1" i="0" sz="2000" u="none" cap="none" strike="noStrike">
              <a:solidFill>
                <a:srgbClr val="21A0DD"/>
              </a:solidFill>
              <a:latin typeface="Montserrat"/>
              <a:ea typeface="Montserrat"/>
              <a:cs typeface="Montserrat"/>
              <a:sym typeface="Montserrat"/>
            </a:endParaRPr>
          </a:p>
        </p:txBody>
      </p:sp>
      <p:pic>
        <p:nvPicPr>
          <p:cNvPr id="171" name="Google Shape;171;p14"/>
          <p:cNvPicPr preferRelativeResize="0"/>
          <p:nvPr/>
        </p:nvPicPr>
        <p:blipFill rotWithShape="1">
          <a:blip r:embed="rId8">
            <a:alphaModFix/>
          </a:blip>
          <a:srcRect b="36539" l="7324" r="8585" t="13122"/>
          <a:stretch/>
        </p:blipFill>
        <p:spPr>
          <a:xfrm>
            <a:off x="7564000" y="4340242"/>
            <a:ext cx="755700" cy="2589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15"/>
          <p:cNvGrpSpPr/>
          <p:nvPr/>
        </p:nvGrpSpPr>
        <p:grpSpPr>
          <a:xfrm>
            <a:off x="2285944" y="781650"/>
            <a:ext cx="6599656" cy="3971100"/>
            <a:chOff x="2285944" y="740502"/>
            <a:chExt cx="6599656" cy="3971100"/>
          </a:xfrm>
        </p:grpSpPr>
        <p:sp>
          <p:nvSpPr>
            <p:cNvPr id="178" name="Google Shape;178;p15"/>
            <p:cNvSpPr/>
            <p:nvPr/>
          </p:nvSpPr>
          <p:spPr>
            <a:xfrm>
              <a:off x="2318000" y="781825"/>
              <a:ext cx="6567600" cy="3786600"/>
            </a:xfrm>
            <a:prstGeom prst="chevron">
              <a:avLst>
                <a:gd fmla="val 12977" name="adj"/>
              </a:avLst>
            </a:prstGeom>
            <a:noFill/>
            <a:ln cap="flat" cmpd="sng" w="28575">
              <a:solidFill>
                <a:srgbClr val="D0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rot="10799624">
              <a:off x="2285944" y="740652"/>
              <a:ext cx="2743800" cy="3970800"/>
            </a:xfrm>
            <a:prstGeom prst="rect">
              <a:avLst/>
            </a:prstGeom>
            <a:gradFill>
              <a:gsLst>
                <a:gs pos="0">
                  <a:srgbClr val="FFFFFF"/>
                </a:gs>
                <a:gs pos="66000">
                  <a:srgbClr val="FFFFFF">
                    <a:alpha val="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15"/>
          <p:cNvGrpSpPr/>
          <p:nvPr/>
        </p:nvGrpSpPr>
        <p:grpSpPr>
          <a:xfrm>
            <a:off x="200350" y="781650"/>
            <a:ext cx="2743800" cy="3971100"/>
            <a:chOff x="200350" y="740502"/>
            <a:chExt cx="2743800" cy="3971100"/>
          </a:xfrm>
        </p:grpSpPr>
        <p:sp>
          <p:nvSpPr>
            <p:cNvPr id="181" name="Google Shape;181;p15"/>
            <p:cNvSpPr/>
            <p:nvPr/>
          </p:nvSpPr>
          <p:spPr>
            <a:xfrm>
              <a:off x="258438" y="781813"/>
              <a:ext cx="2411400" cy="3786600"/>
            </a:xfrm>
            <a:prstGeom prst="homePlate">
              <a:avLst>
                <a:gd fmla="val 20847" name="adj"/>
              </a:avLst>
            </a:prstGeom>
            <a:noFill/>
            <a:ln cap="flat" cmpd="sng" w="28575">
              <a:solidFill>
                <a:srgbClr val="D0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rot="10799624">
              <a:off x="200350" y="740652"/>
              <a:ext cx="2743800" cy="3970800"/>
            </a:xfrm>
            <a:prstGeom prst="rect">
              <a:avLst/>
            </a:prstGeom>
            <a:gradFill>
              <a:gsLst>
                <a:gs pos="0">
                  <a:srgbClr val="FFFFFF"/>
                </a:gs>
                <a:gs pos="66000">
                  <a:srgbClr val="FFFFFF">
                    <a:alpha val="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 name="Google Shape;183;p15"/>
          <p:cNvSpPr/>
          <p:nvPr/>
        </p:nvSpPr>
        <p:spPr>
          <a:xfrm rot="10800000">
            <a:off x="2990819" y="1272636"/>
            <a:ext cx="1206600" cy="1686600"/>
          </a:xfrm>
          <a:prstGeom prst="round2SameRect">
            <a:avLst>
              <a:gd fmla="val 6046" name="adj1"/>
              <a:gd fmla="val 0" name="adj2"/>
            </a:avLst>
          </a:prstGeom>
          <a:noFill/>
          <a:ln cap="flat" cmpd="sng" w="9525">
            <a:solidFill>
              <a:srgbClr val="CDE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rot="10800000">
            <a:off x="4317062" y="1272636"/>
            <a:ext cx="1206600" cy="1686600"/>
          </a:xfrm>
          <a:prstGeom prst="round2SameRect">
            <a:avLst>
              <a:gd fmla="val 6046" name="adj1"/>
              <a:gd fmla="val 0" name="adj2"/>
            </a:avLst>
          </a:prstGeom>
          <a:noFill/>
          <a:ln cap="flat" cmpd="sng" w="9525">
            <a:solidFill>
              <a:srgbClr val="CDE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rot="10800000">
            <a:off x="5643305" y="1272636"/>
            <a:ext cx="1206600" cy="1686600"/>
          </a:xfrm>
          <a:prstGeom prst="round2SameRect">
            <a:avLst>
              <a:gd fmla="val 6046" name="adj1"/>
              <a:gd fmla="val 0" name="adj2"/>
            </a:avLst>
          </a:prstGeom>
          <a:noFill/>
          <a:ln cap="flat" cmpd="sng" w="9525">
            <a:solidFill>
              <a:srgbClr val="CDE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rot="10800000">
            <a:off x="6969548" y="1272636"/>
            <a:ext cx="1206600" cy="1686600"/>
          </a:xfrm>
          <a:prstGeom prst="round2SameRect">
            <a:avLst>
              <a:gd fmla="val 6046" name="adj1"/>
              <a:gd fmla="val 0" name="adj2"/>
            </a:avLst>
          </a:prstGeom>
          <a:noFill/>
          <a:ln cap="flat" cmpd="sng" w="9525">
            <a:solidFill>
              <a:srgbClr val="CDE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2990100" y="1246598"/>
            <a:ext cx="1209900" cy="52200"/>
          </a:xfrm>
          <a:prstGeom prst="rect">
            <a:avLst/>
          </a:prstGeom>
          <a:gradFill>
            <a:gsLst>
              <a:gs pos="0">
                <a:srgbClr val="0D4582"/>
              </a:gs>
              <a:gs pos="50000">
                <a:srgbClr val="0B5394"/>
              </a:gs>
              <a:gs pos="100000">
                <a:srgbClr val="21A0DD"/>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4312932" y="1246598"/>
            <a:ext cx="1209900" cy="52200"/>
          </a:xfrm>
          <a:prstGeom prst="rect">
            <a:avLst/>
          </a:prstGeom>
          <a:gradFill>
            <a:gsLst>
              <a:gs pos="0">
                <a:srgbClr val="0D4582"/>
              </a:gs>
              <a:gs pos="50000">
                <a:srgbClr val="0B5394"/>
              </a:gs>
              <a:gs pos="100000">
                <a:srgbClr val="21A0DD"/>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5642622" y="1246598"/>
            <a:ext cx="1209900" cy="52200"/>
          </a:xfrm>
          <a:prstGeom prst="rect">
            <a:avLst/>
          </a:prstGeom>
          <a:gradFill>
            <a:gsLst>
              <a:gs pos="0">
                <a:srgbClr val="0D4582"/>
              </a:gs>
              <a:gs pos="50000">
                <a:srgbClr val="0B5394"/>
              </a:gs>
              <a:gs pos="100000">
                <a:srgbClr val="21A0DD"/>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6971495" y="1246598"/>
            <a:ext cx="1209900" cy="52200"/>
          </a:xfrm>
          <a:prstGeom prst="rect">
            <a:avLst/>
          </a:prstGeom>
          <a:gradFill>
            <a:gsLst>
              <a:gs pos="0">
                <a:srgbClr val="0D4582"/>
              </a:gs>
              <a:gs pos="50000">
                <a:srgbClr val="0B5394"/>
              </a:gs>
              <a:gs pos="100000">
                <a:srgbClr val="21A0DD"/>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2990513" y="3058937"/>
            <a:ext cx="5185500" cy="363300"/>
          </a:xfrm>
          <a:prstGeom prst="roundRect">
            <a:avLst>
              <a:gd fmla="val 16667" name="adj"/>
            </a:avLst>
          </a:prstGeom>
          <a:gradFill>
            <a:gsLst>
              <a:gs pos="0">
                <a:srgbClr val="21A0DD">
                  <a:alpha val="30980"/>
                </a:srgbClr>
              </a:gs>
              <a:gs pos="37000">
                <a:srgbClr val="FFFFFF">
                  <a:alpha val="0"/>
                </a:srgbClr>
              </a:gs>
              <a:gs pos="100000">
                <a:srgbClr val="FFFFFF">
                  <a:alpha val="0"/>
                </a:srgbClr>
              </a:gs>
            </a:gsLst>
            <a:lin ang="0" scaled="0"/>
          </a:gradFill>
          <a:ln cap="flat" cmpd="sng" w="9525">
            <a:solidFill>
              <a:srgbClr val="D0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000">
                <a:solidFill>
                  <a:srgbClr val="012251"/>
                </a:solidFill>
                <a:latin typeface="Calibri"/>
                <a:ea typeface="Calibri"/>
                <a:cs typeface="Calibri"/>
                <a:sym typeface="Calibri"/>
              </a:rPr>
              <a:t>                           Integrations</a:t>
            </a:r>
            <a:endParaRPr>
              <a:solidFill>
                <a:srgbClr val="012251"/>
              </a:solidFill>
            </a:endParaRPr>
          </a:p>
        </p:txBody>
      </p:sp>
      <p:sp>
        <p:nvSpPr>
          <p:cNvPr id="192" name="Google Shape;192;p15"/>
          <p:cNvSpPr/>
          <p:nvPr/>
        </p:nvSpPr>
        <p:spPr>
          <a:xfrm>
            <a:off x="2990513" y="3516137"/>
            <a:ext cx="5185500" cy="363300"/>
          </a:xfrm>
          <a:prstGeom prst="roundRect">
            <a:avLst>
              <a:gd fmla="val 16667" name="adj"/>
            </a:avLst>
          </a:prstGeom>
          <a:gradFill>
            <a:gsLst>
              <a:gs pos="0">
                <a:srgbClr val="21A0DD">
                  <a:alpha val="30980"/>
                </a:srgbClr>
              </a:gs>
              <a:gs pos="37000">
                <a:srgbClr val="FFFFFF">
                  <a:alpha val="0"/>
                </a:srgbClr>
              </a:gs>
              <a:gs pos="100000">
                <a:srgbClr val="FFFFFF">
                  <a:alpha val="0"/>
                </a:srgbClr>
              </a:gs>
            </a:gsLst>
            <a:lin ang="0" scaled="0"/>
          </a:gradFill>
          <a:ln cap="flat" cmpd="sng" w="9525">
            <a:solidFill>
              <a:srgbClr val="D0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000">
                <a:solidFill>
                  <a:srgbClr val="012251"/>
                </a:solidFill>
                <a:latin typeface="Calibri"/>
                <a:ea typeface="Calibri"/>
                <a:cs typeface="Calibri"/>
                <a:sym typeface="Calibri"/>
              </a:rPr>
              <a:t>                   Data Migrations</a:t>
            </a:r>
            <a:endParaRPr b="1" sz="1000">
              <a:solidFill>
                <a:srgbClr val="012251"/>
              </a:solidFill>
              <a:latin typeface="Calibri"/>
              <a:ea typeface="Calibri"/>
              <a:cs typeface="Calibri"/>
              <a:sym typeface="Calibri"/>
            </a:endParaRPr>
          </a:p>
        </p:txBody>
      </p:sp>
      <p:sp>
        <p:nvSpPr>
          <p:cNvPr id="193" name="Google Shape;193;p15"/>
          <p:cNvSpPr/>
          <p:nvPr/>
        </p:nvSpPr>
        <p:spPr>
          <a:xfrm>
            <a:off x="2990513" y="3973337"/>
            <a:ext cx="5185500" cy="363300"/>
          </a:xfrm>
          <a:prstGeom prst="roundRect">
            <a:avLst>
              <a:gd fmla="val 16667" name="adj"/>
            </a:avLst>
          </a:prstGeom>
          <a:gradFill>
            <a:gsLst>
              <a:gs pos="0">
                <a:srgbClr val="21A0DD">
                  <a:alpha val="30980"/>
                </a:srgbClr>
              </a:gs>
              <a:gs pos="37000">
                <a:srgbClr val="FFFFFF">
                  <a:alpha val="0"/>
                </a:srgbClr>
              </a:gs>
              <a:gs pos="100000">
                <a:srgbClr val="FFFFFF">
                  <a:alpha val="0"/>
                </a:srgbClr>
              </a:gs>
            </a:gsLst>
            <a:lin ang="0" scaled="0"/>
          </a:gradFill>
          <a:ln cap="flat" cmpd="sng" w="9525">
            <a:solidFill>
              <a:srgbClr val="D0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000">
                <a:solidFill>
                  <a:srgbClr val="012251"/>
                </a:solidFill>
                <a:latin typeface="Calibri"/>
                <a:ea typeface="Calibri"/>
                <a:cs typeface="Calibri"/>
                <a:sym typeface="Calibri"/>
              </a:rPr>
              <a:t>             Testing as a Service</a:t>
            </a:r>
            <a:endParaRPr b="1" sz="1000">
              <a:solidFill>
                <a:srgbClr val="012251"/>
              </a:solidFill>
              <a:latin typeface="Calibri"/>
              <a:ea typeface="Calibri"/>
              <a:cs typeface="Calibri"/>
              <a:sym typeface="Calibri"/>
            </a:endParaRPr>
          </a:p>
        </p:txBody>
      </p:sp>
      <p:sp>
        <p:nvSpPr>
          <p:cNvPr id="194" name="Google Shape;194;p15"/>
          <p:cNvSpPr txBox="1"/>
          <p:nvPr>
            <p:ph idx="4294967295"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Service Offerings</a:t>
            </a:r>
            <a:endParaRPr/>
          </a:p>
        </p:txBody>
      </p:sp>
      <p:sp>
        <p:nvSpPr>
          <p:cNvPr id="195" name="Google Shape;195;p15"/>
          <p:cNvSpPr txBox="1"/>
          <p:nvPr/>
        </p:nvSpPr>
        <p:spPr>
          <a:xfrm>
            <a:off x="3015299" y="1533507"/>
            <a:ext cx="1160400" cy="1223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50">
                <a:solidFill>
                  <a:schemeClr val="dk1"/>
                </a:solidFill>
                <a:latin typeface="Calibri"/>
                <a:ea typeface="Calibri"/>
                <a:cs typeface="Calibri"/>
                <a:sym typeface="Calibri"/>
              </a:rPr>
              <a:t>Sales Cloud</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Service Cloud</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Revenue Cloud</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Experience Cloud</a:t>
            </a:r>
            <a:endParaRPr sz="950">
              <a:solidFill>
                <a:schemeClr val="dk1"/>
              </a:solidFill>
              <a:latin typeface="Calibri"/>
              <a:ea typeface="Calibri"/>
              <a:cs typeface="Calibri"/>
              <a:sym typeface="Calibri"/>
            </a:endParaRPr>
          </a:p>
          <a:p>
            <a:pPr indent="0" lvl="0" marL="0" rtl="0" algn="ctr">
              <a:spcBef>
                <a:spcPts val="600"/>
              </a:spcBef>
              <a:spcAft>
                <a:spcPts val="600"/>
              </a:spcAft>
              <a:buNone/>
            </a:pPr>
            <a:r>
              <a:rPr lang="en-US" sz="950">
                <a:solidFill>
                  <a:schemeClr val="dk1"/>
                </a:solidFill>
                <a:latin typeface="Calibri"/>
                <a:ea typeface="Calibri"/>
                <a:cs typeface="Calibri"/>
                <a:sym typeface="Calibri"/>
              </a:rPr>
              <a:t>Force.com</a:t>
            </a:r>
            <a:endParaRPr sz="950">
              <a:solidFill>
                <a:schemeClr val="dk1"/>
              </a:solidFill>
              <a:latin typeface="Calibri"/>
              <a:ea typeface="Calibri"/>
              <a:cs typeface="Calibri"/>
              <a:sym typeface="Calibri"/>
            </a:endParaRPr>
          </a:p>
        </p:txBody>
      </p:sp>
      <p:cxnSp>
        <p:nvCxnSpPr>
          <p:cNvPr id="196" name="Google Shape;196;p15"/>
          <p:cNvCxnSpPr/>
          <p:nvPr/>
        </p:nvCxnSpPr>
        <p:spPr>
          <a:xfrm>
            <a:off x="3070269" y="1811587"/>
            <a:ext cx="1047900" cy="0"/>
          </a:xfrm>
          <a:prstGeom prst="straightConnector1">
            <a:avLst/>
          </a:prstGeom>
          <a:noFill/>
          <a:ln cap="flat" cmpd="sng" w="9525">
            <a:solidFill>
              <a:srgbClr val="ABABAB"/>
            </a:solidFill>
            <a:prstDash val="dot"/>
            <a:round/>
            <a:headEnd len="med" w="med" type="none"/>
            <a:tailEnd len="med" w="med" type="none"/>
          </a:ln>
        </p:spPr>
      </p:cxnSp>
      <p:cxnSp>
        <p:nvCxnSpPr>
          <p:cNvPr id="197" name="Google Shape;197;p15"/>
          <p:cNvCxnSpPr/>
          <p:nvPr/>
        </p:nvCxnSpPr>
        <p:spPr>
          <a:xfrm>
            <a:off x="3070269" y="2031016"/>
            <a:ext cx="1047900" cy="0"/>
          </a:xfrm>
          <a:prstGeom prst="straightConnector1">
            <a:avLst/>
          </a:prstGeom>
          <a:noFill/>
          <a:ln cap="flat" cmpd="sng" w="9525">
            <a:solidFill>
              <a:srgbClr val="ABABAB"/>
            </a:solidFill>
            <a:prstDash val="dot"/>
            <a:round/>
            <a:headEnd len="med" w="med" type="none"/>
            <a:tailEnd len="med" w="med" type="none"/>
          </a:ln>
        </p:spPr>
      </p:cxnSp>
      <p:cxnSp>
        <p:nvCxnSpPr>
          <p:cNvPr id="198" name="Google Shape;198;p15"/>
          <p:cNvCxnSpPr/>
          <p:nvPr/>
        </p:nvCxnSpPr>
        <p:spPr>
          <a:xfrm>
            <a:off x="3070269" y="2257529"/>
            <a:ext cx="1047900" cy="0"/>
          </a:xfrm>
          <a:prstGeom prst="straightConnector1">
            <a:avLst/>
          </a:prstGeom>
          <a:noFill/>
          <a:ln cap="flat" cmpd="sng" w="9525">
            <a:solidFill>
              <a:srgbClr val="ABABAB"/>
            </a:solidFill>
            <a:prstDash val="dot"/>
            <a:round/>
            <a:headEnd len="med" w="med" type="none"/>
            <a:tailEnd len="med" w="med" type="none"/>
          </a:ln>
        </p:spPr>
      </p:cxnSp>
      <p:cxnSp>
        <p:nvCxnSpPr>
          <p:cNvPr id="199" name="Google Shape;199;p15"/>
          <p:cNvCxnSpPr/>
          <p:nvPr/>
        </p:nvCxnSpPr>
        <p:spPr>
          <a:xfrm>
            <a:off x="3070269" y="2477493"/>
            <a:ext cx="1047900" cy="0"/>
          </a:xfrm>
          <a:prstGeom prst="straightConnector1">
            <a:avLst/>
          </a:prstGeom>
          <a:noFill/>
          <a:ln cap="flat" cmpd="sng" w="9525">
            <a:solidFill>
              <a:srgbClr val="ABABAB"/>
            </a:solidFill>
            <a:prstDash val="dot"/>
            <a:round/>
            <a:headEnd len="med" w="med" type="none"/>
            <a:tailEnd len="med" w="med" type="none"/>
          </a:ln>
        </p:spPr>
      </p:cxnSp>
      <p:sp>
        <p:nvSpPr>
          <p:cNvPr id="200" name="Google Shape;200;p15"/>
          <p:cNvSpPr/>
          <p:nvPr/>
        </p:nvSpPr>
        <p:spPr>
          <a:xfrm>
            <a:off x="3295708" y="973820"/>
            <a:ext cx="596700" cy="596700"/>
          </a:xfrm>
          <a:prstGeom prst="ellipse">
            <a:avLst/>
          </a:prstGeom>
          <a:solidFill>
            <a:srgbClr val="FFFFFF"/>
          </a:solidFill>
          <a:ln cap="flat" cmpd="sng" w="19050">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5"/>
          <p:cNvPicPr preferRelativeResize="0"/>
          <p:nvPr/>
        </p:nvPicPr>
        <p:blipFill rotWithShape="1">
          <a:blip r:embed="rId3">
            <a:alphaModFix/>
          </a:blip>
          <a:srcRect b="18410" l="27778" r="27862" t="16650"/>
          <a:stretch/>
        </p:blipFill>
        <p:spPr>
          <a:xfrm>
            <a:off x="3382151" y="1109308"/>
            <a:ext cx="423804" cy="325724"/>
          </a:xfrm>
          <a:prstGeom prst="rect">
            <a:avLst/>
          </a:prstGeom>
          <a:noFill/>
          <a:ln>
            <a:noFill/>
          </a:ln>
        </p:spPr>
      </p:pic>
      <p:sp>
        <p:nvSpPr>
          <p:cNvPr id="202" name="Google Shape;202;p15"/>
          <p:cNvSpPr txBox="1"/>
          <p:nvPr/>
        </p:nvSpPr>
        <p:spPr>
          <a:xfrm>
            <a:off x="4341542" y="1533507"/>
            <a:ext cx="1160400" cy="1223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50">
                <a:solidFill>
                  <a:schemeClr val="dk1"/>
                </a:solidFill>
                <a:latin typeface="Calibri"/>
                <a:ea typeface="Calibri"/>
                <a:cs typeface="Calibri"/>
                <a:sym typeface="Calibri"/>
              </a:rPr>
              <a:t>Conga CPQ &amp; Billing</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Digital Commerce</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Conga CLM</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Conga Sign</a:t>
            </a:r>
            <a:endParaRPr sz="950">
              <a:solidFill>
                <a:schemeClr val="dk1"/>
              </a:solidFill>
              <a:latin typeface="Calibri"/>
              <a:ea typeface="Calibri"/>
              <a:cs typeface="Calibri"/>
              <a:sym typeface="Calibri"/>
            </a:endParaRPr>
          </a:p>
          <a:p>
            <a:pPr indent="0" lvl="0" marL="0" rtl="0" algn="ctr">
              <a:spcBef>
                <a:spcPts val="600"/>
              </a:spcBef>
              <a:spcAft>
                <a:spcPts val="600"/>
              </a:spcAft>
              <a:buNone/>
            </a:pPr>
            <a:r>
              <a:rPr lang="en-US" sz="950">
                <a:solidFill>
                  <a:schemeClr val="dk1"/>
                </a:solidFill>
                <a:latin typeface="Calibri"/>
                <a:ea typeface="Calibri"/>
                <a:cs typeface="Calibri"/>
                <a:sym typeface="Calibri"/>
              </a:rPr>
              <a:t>Conga Composer</a:t>
            </a:r>
            <a:endParaRPr sz="950">
              <a:solidFill>
                <a:schemeClr val="dk1"/>
              </a:solidFill>
              <a:latin typeface="Calibri"/>
              <a:ea typeface="Calibri"/>
              <a:cs typeface="Calibri"/>
              <a:sym typeface="Calibri"/>
            </a:endParaRPr>
          </a:p>
        </p:txBody>
      </p:sp>
      <p:cxnSp>
        <p:nvCxnSpPr>
          <p:cNvPr id="203" name="Google Shape;203;p15"/>
          <p:cNvCxnSpPr/>
          <p:nvPr/>
        </p:nvCxnSpPr>
        <p:spPr>
          <a:xfrm>
            <a:off x="4396512" y="1811587"/>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04" name="Google Shape;204;p15"/>
          <p:cNvCxnSpPr/>
          <p:nvPr/>
        </p:nvCxnSpPr>
        <p:spPr>
          <a:xfrm>
            <a:off x="4396512" y="2031016"/>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05" name="Google Shape;205;p15"/>
          <p:cNvCxnSpPr/>
          <p:nvPr/>
        </p:nvCxnSpPr>
        <p:spPr>
          <a:xfrm>
            <a:off x="4396512" y="2257529"/>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06" name="Google Shape;206;p15"/>
          <p:cNvCxnSpPr/>
          <p:nvPr/>
        </p:nvCxnSpPr>
        <p:spPr>
          <a:xfrm>
            <a:off x="4396512" y="2477493"/>
            <a:ext cx="1047900" cy="0"/>
          </a:xfrm>
          <a:prstGeom prst="straightConnector1">
            <a:avLst/>
          </a:prstGeom>
          <a:noFill/>
          <a:ln cap="flat" cmpd="sng" w="9525">
            <a:solidFill>
              <a:srgbClr val="ABABAB"/>
            </a:solidFill>
            <a:prstDash val="dot"/>
            <a:round/>
            <a:headEnd len="med" w="med" type="none"/>
            <a:tailEnd len="med" w="med" type="none"/>
          </a:ln>
        </p:spPr>
      </p:cxnSp>
      <p:sp>
        <p:nvSpPr>
          <p:cNvPr id="207" name="Google Shape;207;p15"/>
          <p:cNvSpPr/>
          <p:nvPr/>
        </p:nvSpPr>
        <p:spPr>
          <a:xfrm>
            <a:off x="4621951" y="973820"/>
            <a:ext cx="596700" cy="596700"/>
          </a:xfrm>
          <a:prstGeom prst="ellipse">
            <a:avLst/>
          </a:prstGeom>
          <a:solidFill>
            <a:srgbClr val="FFFFFF"/>
          </a:solidFill>
          <a:ln cap="flat" cmpd="sng" w="19050">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txBox="1"/>
          <p:nvPr/>
        </p:nvSpPr>
        <p:spPr>
          <a:xfrm>
            <a:off x="5667785" y="1533507"/>
            <a:ext cx="1160400" cy="1439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50">
                <a:solidFill>
                  <a:schemeClr val="dk1"/>
                </a:solidFill>
                <a:latin typeface="Calibri"/>
                <a:ea typeface="Calibri"/>
                <a:cs typeface="Calibri"/>
                <a:sym typeface="Calibri"/>
              </a:rPr>
              <a:t>Enterprise Resource Planning</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Supply Chain Management</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Fusion Analytics Warehouse</a:t>
            </a:r>
            <a:endParaRPr sz="950">
              <a:solidFill>
                <a:schemeClr val="dk1"/>
              </a:solidFill>
              <a:latin typeface="Calibri"/>
              <a:ea typeface="Calibri"/>
              <a:cs typeface="Calibri"/>
              <a:sym typeface="Calibri"/>
            </a:endParaRPr>
          </a:p>
          <a:p>
            <a:pPr indent="0" lvl="0" marL="0" rtl="0" algn="ctr">
              <a:spcBef>
                <a:spcPts val="600"/>
              </a:spcBef>
              <a:spcAft>
                <a:spcPts val="600"/>
              </a:spcAft>
              <a:buNone/>
            </a:pPr>
            <a:r>
              <a:rPr lang="en-US" sz="950">
                <a:solidFill>
                  <a:schemeClr val="dk1"/>
                </a:solidFill>
                <a:latin typeface="Calibri"/>
                <a:ea typeface="Calibri"/>
                <a:cs typeface="Calibri"/>
                <a:sym typeface="Calibri"/>
              </a:rPr>
              <a:t>PaaS</a:t>
            </a:r>
            <a:endParaRPr sz="950">
              <a:solidFill>
                <a:schemeClr val="dk1"/>
              </a:solidFill>
              <a:latin typeface="Calibri"/>
              <a:ea typeface="Calibri"/>
              <a:cs typeface="Calibri"/>
              <a:sym typeface="Calibri"/>
            </a:endParaRPr>
          </a:p>
        </p:txBody>
      </p:sp>
      <p:cxnSp>
        <p:nvCxnSpPr>
          <p:cNvPr id="209" name="Google Shape;209;p15"/>
          <p:cNvCxnSpPr/>
          <p:nvPr/>
        </p:nvCxnSpPr>
        <p:spPr>
          <a:xfrm>
            <a:off x="5722755" y="1953591"/>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10" name="Google Shape;210;p15"/>
          <p:cNvCxnSpPr/>
          <p:nvPr/>
        </p:nvCxnSpPr>
        <p:spPr>
          <a:xfrm>
            <a:off x="5722755" y="2319052"/>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11" name="Google Shape;211;p15"/>
          <p:cNvCxnSpPr/>
          <p:nvPr/>
        </p:nvCxnSpPr>
        <p:spPr>
          <a:xfrm>
            <a:off x="5722755" y="2688062"/>
            <a:ext cx="1047900" cy="0"/>
          </a:xfrm>
          <a:prstGeom prst="straightConnector1">
            <a:avLst/>
          </a:prstGeom>
          <a:noFill/>
          <a:ln cap="flat" cmpd="sng" w="9525">
            <a:solidFill>
              <a:srgbClr val="ABABAB"/>
            </a:solidFill>
            <a:prstDash val="dot"/>
            <a:round/>
            <a:headEnd len="med" w="med" type="none"/>
            <a:tailEnd len="med" w="med" type="none"/>
          </a:ln>
        </p:spPr>
      </p:cxnSp>
      <p:sp>
        <p:nvSpPr>
          <p:cNvPr id="212" name="Google Shape;212;p15"/>
          <p:cNvSpPr/>
          <p:nvPr/>
        </p:nvSpPr>
        <p:spPr>
          <a:xfrm>
            <a:off x="5948194" y="973820"/>
            <a:ext cx="596700" cy="596700"/>
          </a:xfrm>
          <a:prstGeom prst="ellipse">
            <a:avLst/>
          </a:prstGeom>
          <a:solidFill>
            <a:srgbClr val="FFFFFF"/>
          </a:solidFill>
          <a:ln cap="flat" cmpd="sng" w="19050">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txBox="1"/>
          <p:nvPr/>
        </p:nvSpPr>
        <p:spPr>
          <a:xfrm>
            <a:off x="6969338" y="1533511"/>
            <a:ext cx="1209900" cy="1439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50">
                <a:solidFill>
                  <a:schemeClr val="dk1"/>
                </a:solidFill>
                <a:latin typeface="Calibri"/>
                <a:ea typeface="Calibri"/>
                <a:cs typeface="Calibri"/>
                <a:sym typeface="Calibri"/>
              </a:rPr>
              <a:t>Financial Management</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Planning &amp; Budgeting</a:t>
            </a:r>
            <a:endParaRPr sz="950">
              <a:solidFill>
                <a:schemeClr val="dk1"/>
              </a:solidFill>
              <a:latin typeface="Calibri"/>
              <a:ea typeface="Calibri"/>
              <a:cs typeface="Calibri"/>
              <a:sym typeface="Calibri"/>
            </a:endParaRPr>
          </a:p>
          <a:p>
            <a:pPr indent="0" lvl="0" marL="0" rtl="0" algn="ctr">
              <a:spcBef>
                <a:spcPts val="600"/>
              </a:spcBef>
              <a:spcAft>
                <a:spcPts val="0"/>
              </a:spcAft>
              <a:buNone/>
            </a:pPr>
            <a:r>
              <a:rPr lang="en-US" sz="950">
                <a:solidFill>
                  <a:schemeClr val="dk1"/>
                </a:solidFill>
                <a:latin typeface="Calibri"/>
                <a:ea typeface="Calibri"/>
                <a:cs typeface="Calibri"/>
                <a:sym typeface="Calibri"/>
              </a:rPr>
              <a:t>Professional Services Automation</a:t>
            </a:r>
            <a:endParaRPr sz="950">
              <a:solidFill>
                <a:schemeClr val="dk1"/>
              </a:solidFill>
              <a:latin typeface="Calibri"/>
              <a:ea typeface="Calibri"/>
              <a:cs typeface="Calibri"/>
              <a:sym typeface="Calibri"/>
            </a:endParaRPr>
          </a:p>
          <a:p>
            <a:pPr indent="0" lvl="0" marL="0" rtl="0" algn="ctr">
              <a:spcBef>
                <a:spcPts val="600"/>
              </a:spcBef>
              <a:spcAft>
                <a:spcPts val="600"/>
              </a:spcAft>
              <a:buNone/>
            </a:pPr>
            <a:r>
              <a:rPr lang="en-US" sz="950">
                <a:solidFill>
                  <a:schemeClr val="dk1"/>
                </a:solidFill>
                <a:latin typeface="Calibri"/>
                <a:ea typeface="Calibri"/>
                <a:cs typeface="Calibri"/>
                <a:sym typeface="Calibri"/>
              </a:rPr>
              <a:t>SCM</a:t>
            </a:r>
            <a:endParaRPr sz="950">
              <a:solidFill>
                <a:schemeClr val="dk1"/>
              </a:solidFill>
              <a:latin typeface="Calibri"/>
              <a:ea typeface="Calibri"/>
              <a:cs typeface="Calibri"/>
              <a:sym typeface="Calibri"/>
            </a:endParaRPr>
          </a:p>
        </p:txBody>
      </p:sp>
      <p:cxnSp>
        <p:nvCxnSpPr>
          <p:cNvPr id="214" name="Google Shape;214;p15"/>
          <p:cNvCxnSpPr/>
          <p:nvPr/>
        </p:nvCxnSpPr>
        <p:spPr>
          <a:xfrm>
            <a:off x="7048998" y="1953591"/>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15" name="Google Shape;215;p15"/>
          <p:cNvCxnSpPr/>
          <p:nvPr/>
        </p:nvCxnSpPr>
        <p:spPr>
          <a:xfrm>
            <a:off x="7048998" y="2319052"/>
            <a:ext cx="1047900" cy="0"/>
          </a:xfrm>
          <a:prstGeom prst="straightConnector1">
            <a:avLst/>
          </a:prstGeom>
          <a:noFill/>
          <a:ln cap="flat" cmpd="sng" w="9525">
            <a:solidFill>
              <a:srgbClr val="ABABAB"/>
            </a:solidFill>
            <a:prstDash val="dot"/>
            <a:round/>
            <a:headEnd len="med" w="med" type="none"/>
            <a:tailEnd len="med" w="med" type="none"/>
          </a:ln>
        </p:spPr>
      </p:cxnSp>
      <p:cxnSp>
        <p:nvCxnSpPr>
          <p:cNvPr id="216" name="Google Shape;216;p15"/>
          <p:cNvCxnSpPr/>
          <p:nvPr/>
        </p:nvCxnSpPr>
        <p:spPr>
          <a:xfrm>
            <a:off x="7048998" y="2688062"/>
            <a:ext cx="1047900" cy="0"/>
          </a:xfrm>
          <a:prstGeom prst="straightConnector1">
            <a:avLst/>
          </a:prstGeom>
          <a:noFill/>
          <a:ln cap="flat" cmpd="sng" w="9525">
            <a:solidFill>
              <a:srgbClr val="ABABAB"/>
            </a:solidFill>
            <a:prstDash val="dot"/>
            <a:round/>
            <a:headEnd len="med" w="med" type="none"/>
            <a:tailEnd len="med" w="med" type="none"/>
          </a:ln>
        </p:spPr>
      </p:cxnSp>
      <p:sp>
        <p:nvSpPr>
          <p:cNvPr id="217" name="Google Shape;217;p15"/>
          <p:cNvSpPr/>
          <p:nvPr/>
        </p:nvSpPr>
        <p:spPr>
          <a:xfrm>
            <a:off x="7274437" y="973820"/>
            <a:ext cx="596700" cy="596700"/>
          </a:xfrm>
          <a:prstGeom prst="ellipse">
            <a:avLst/>
          </a:prstGeom>
          <a:solidFill>
            <a:srgbClr val="FFFFFF"/>
          </a:solidFill>
          <a:ln cap="flat" cmpd="sng" w="19050">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txBox="1"/>
          <p:nvPr/>
        </p:nvSpPr>
        <p:spPr>
          <a:xfrm>
            <a:off x="196775" y="809650"/>
            <a:ext cx="2371500" cy="3819600"/>
          </a:xfrm>
          <a:prstGeom prst="rect">
            <a:avLst/>
          </a:prstGeom>
          <a:noFill/>
          <a:ln>
            <a:noFill/>
          </a:ln>
        </p:spPr>
        <p:txBody>
          <a:bodyPr anchorCtr="0" anchor="t" bIns="91425" lIns="171450" spcFirstLastPara="1" rIns="91425" wrap="square" tIns="91425">
            <a:spAutoFit/>
          </a:bodyPr>
          <a:lstStyle/>
          <a:p>
            <a:pPr indent="-114300" lvl="0" marL="114300" rtl="0" algn="l">
              <a:lnSpc>
                <a:spcPct val="115000"/>
              </a:lnSpc>
              <a:spcBef>
                <a:spcPts val="0"/>
              </a:spcBef>
              <a:spcAft>
                <a:spcPts val="0"/>
              </a:spcAft>
              <a:buClr>
                <a:srgbClr val="21A0DD"/>
              </a:buClr>
              <a:buSzPts val="900"/>
              <a:buFont typeface="Montserrat"/>
              <a:buChar char="❏"/>
            </a:pPr>
            <a:r>
              <a:rPr b="1" lang="en-US" sz="900">
                <a:solidFill>
                  <a:srgbClr val="21A0DD"/>
                </a:solidFill>
                <a:latin typeface="Montserrat"/>
                <a:ea typeface="Montserrat"/>
                <a:cs typeface="Montserrat"/>
                <a:sym typeface="Montserrat"/>
              </a:rPr>
              <a:t>Assessment &amp; Advisory</a:t>
            </a:r>
            <a:endParaRPr b="1" sz="900">
              <a:solidFill>
                <a:srgbClr val="21A0DD"/>
              </a:solidFill>
              <a:latin typeface="Montserrat"/>
              <a:ea typeface="Montserrat"/>
              <a:cs typeface="Montserrat"/>
              <a:sym typeface="Montserrat"/>
            </a:endParaRPr>
          </a:p>
          <a:p>
            <a:pPr indent="-165100" lvl="0" marL="34290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Value Stream Analysis </a:t>
            </a:r>
            <a:endParaRPr sz="800">
              <a:solidFill>
                <a:schemeClr val="dk1"/>
              </a:solidFill>
              <a:latin typeface="Calibri"/>
              <a:ea typeface="Calibri"/>
              <a:cs typeface="Calibri"/>
              <a:sym typeface="Calibri"/>
            </a:endParaRPr>
          </a:p>
          <a:p>
            <a:pPr indent="-165100" lvl="0" marL="34290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Readiness Assessment</a:t>
            </a:r>
            <a:endParaRPr sz="800">
              <a:solidFill>
                <a:schemeClr val="dk1"/>
              </a:solidFill>
              <a:latin typeface="Calibri"/>
              <a:ea typeface="Calibri"/>
              <a:cs typeface="Calibri"/>
              <a:sym typeface="Calibri"/>
            </a:endParaRPr>
          </a:p>
          <a:p>
            <a:pPr indent="-165100" lvl="0" marL="34290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Roadmap and ROI</a:t>
            </a:r>
            <a:endParaRPr sz="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600">
              <a:solidFill>
                <a:srgbClr val="21A0DD"/>
              </a:solidFill>
              <a:latin typeface="Montserrat"/>
              <a:ea typeface="Montserrat"/>
              <a:cs typeface="Montserrat"/>
              <a:sym typeface="Montserrat"/>
            </a:endParaRPr>
          </a:p>
          <a:p>
            <a:pPr indent="-107950" lvl="0" marL="114300" marR="0" rtl="0" algn="l">
              <a:lnSpc>
                <a:spcPct val="115000"/>
              </a:lnSpc>
              <a:spcBef>
                <a:spcPts val="0"/>
              </a:spcBef>
              <a:spcAft>
                <a:spcPts val="0"/>
              </a:spcAft>
              <a:buClr>
                <a:srgbClr val="21A0DD"/>
              </a:buClr>
              <a:buSzPts val="800"/>
              <a:buFont typeface="Montserrat"/>
              <a:buChar char="❏"/>
            </a:pPr>
            <a:r>
              <a:rPr b="1" lang="en-US" sz="900">
                <a:solidFill>
                  <a:srgbClr val="21A0DD"/>
                </a:solidFill>
                <a:latin typeface="Montserrat"/>
                <a:ea typeface="Montserrat"/>
                <a:cs typeface="Montserrat"/>
                <a:sym typeface="Montserrat"/>
              </a:rPr>
              <a:t>Implementation Services</a:t>
            </a:r>
            <a:endParaRPr b="1" sz="900">
              <a:solidFill>
                <a:srgbClr val="21A0DD"/>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800">
                <a:solidFill>
                  <a:schemeClr val="dk1"/>
                </a:solidFill>
                <a:latin typeface="Calibri"/>
                <a:ea typeface="Calibri"/>
                <a:cs typeface="Calibri"/>
                <a:sym typeface="Calibri"/>
              </a:rPr>
              <a:t>Salesforce | Conga | Oracle | NetSuite</a:t>
            </a:r>
            <a:endParaRPr sz="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600">
              <a:solidFill>
                <a:srgbClr val="21A0DD"/>
              </a:solidFill>
              <a:latin typeface="Montserrat"/>
              <a:ea typeface="Montserrat"/>
              <a:cs typeface="Montserrat"/>
              <a:sym typeface="Montserrat"/>
            </a:endParaRPr>
          </a:p>
          <a:p>
            <a:pPr indent="-107950" lvl="0" marL="114300" marR="0" rtl="0" algn="l">
              <a:lnSpc>
                <a:spcPct val="115000"/>
              </a:lnSpc>
              <a:spcBef>
                <a:spcPts val="0"/>
              </a:spcBef>
              <a:spcAft>
                <a:spcPts val="0"/>
              </a:spcAft>
              <a:buClr>
                <a:srgbClr val="21A0DD"/>
              </a:buClr>
              <a:buSzPts val="800"/>
              <a:buFont typeface="Montserrat"/>
              <a:buChar char="❏"/>
            </a:pPr>
            <a:r>
              <a:rPr b="1" lang="en-US" sz="900">
                <a:solidFill>
                  <a:srgbClr val="21A0DD"/>
                </a:solidFill>
                <a:latin typeface="Montserrat"/>
                <a:ea typeface="Montserrat"/>
                <a:cs typeface="Montserrat"/>
                <a:sym typeface="Montserrat"/>
              </a:rPr>
              <a:t>Managed Services &amp; Upgrades</a:t>
            </a:r>
            <a:endParaRPr b="1" sz="900">
              <a:solidFill>
                <a:srgbClr val="21A0DD"/>
              </a:solidFill>
              <a:latin typeface="Montserrat"/>
              <a:ea typeface="Montserrat"/>
              <a:cs typeface="Montserrat"/>
              <a:sym typeface="Montserrat"/>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Maintenance &amp; Minor Enhancements</a:t>
            </a:r>
            <a:endParaRPr sz="800">
              <a:solidFill>
                <a:schemeClr val="dk1"/>
              </a:solidFill>
              <a:latin typeface="Calibri"/>
              <a:ea typeface="Calibri"/>
              <a:cs typeface="Calibri"/>
              <a:sym typeface="Calibri"/>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Upgrades</a:t>
            </a:r>
            <a:endParaRPr sz="800">
              <a:solidFill>
                <a:schemeClr val="dk1"/>
              </a:solidFill>
              <a:latin typeface="Calibri"/>
              <a:ea typeface="Calibri"/>
              <a:cs typeface="Calibri"/>
              <a:sym typeface="Calibri"/>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Dev Ops</a:t>
            </a:r>
            <a:endParaRPr sz="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600">
              <a:solidFill>
                <a:srgbClr val="21A0DD"/>
              </a:solidFill>
              <a:latin typeface="Montserrat"/>
              <a:ea typeface="Montserrat"/>
              <a:cs typeface="Montserrat"/>
              <a:sym typeface="Montserrat"/>
            </a:endParaRPr>
          </a:p>
          <a:p>
            <a:pPr indent="-107950" lvl="0" marL="114300" marR="0" rtl="0" algn="l">
              <a:lnSpc>
                <a:spcPct val="115000"/>
              </a:lnSpc>
              <a:spcBef>
                <a:spcPts val="0"/>
              </a:spcBef>
              <a:spcAft>
                <a:spcPts val="0"/>
              </a:spcAft>
              <a:buClr>
                <a:srgbClr val="21A0DD"/>
              </a:buClr>
              <a:buSzPts val="800"/>
              <a:buFont typeface="Montserrat"/>
              <a:buChar char="❏"/>
            </a:pPr>
            <a:r>
              <a:rPr b="1" lang="en-US" sz="900">
                <a:solidFill>
                  <a:srgbClr val="21A0DD"/>
                </a:solidFill>
                <a:latin typeface="Montserrat"/>
                <a:ea typeface="Montserrat"/>
                <a:cs typeface="Montserrat"/>
                <a:sym typeface="Montserrat"/>
              </a:rPr>
              <a:t>Data Integration &amp; Migration Services</a:t>
            </a:r>
            <a:endParaRPr b="1" sz="900">
              <a:solidFill>
                <a:srgbClr val="21A0DD"/>
              </a:solidFill>
              <a:latin typeface="Montserrat"/>
              <a:ea typeface="Montserrat"/>
              <a:cs typeface="Montserrat"/>
              <a:sym typeface="Montserrat"/>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Integration across Systems (using Mulesoft or OIC or FloData)</a:t>
            </a:r>
            <a:endParaRPr sz="800">
              <a:solidFill>
                <a:schemeClr val="dk1"/>
              </a:solidFill>
              <a:latin typeface="Calibri"/>
              <a:ea typeface="Calibri"/>
              <a:cs typeface="Calibri"/>
              <a:sym typeface="Calibri"/>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Data Migration for Master, Transactional, Analytical Data Across Systems</a:t>
            </a:r>
            <a:endParaRPr sz="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600">
              <a:solidFill>
                <a:srgbClr val="21A0DD"/>
              </a:solidFill>
              <a:latin typeface="Montserrat"/>
              <a:ea typeface="Montserrat"/>
              <a:cs typeface="Montserrat"/>
              <a:sym typeface="Montserrat"/>
            </a:endParaRPr>
          </a:p>
          <a:p>
            <a:pPr indent="-107950" lvl="0" marL="114300" marR="0" rtl="0" algn="l">
              <a:lnSpc>
                <a:spcPct val="115000"/>
              </a:lnSpc>
              <a:spcBef>
                <a:spcPts val="0"/>
              </a:spcBef>
              <a:spcAft>
                <a:spcPts val="0"/>
              </a:spcAft>
              <a:buClr>
                <a:srgbClr val="21A0DD"/>
              </a:buClr>
              <a:buSzPts val="800"/>
              <a:buFont typeface="Montserrat"/>
              <a:buChar char="❏"/>
            </a:pPr>
            <a:r>
              <a:rPr b="1" lang="en-US" sz="900">
                <a:solidFill>
                  <a:srgbClr val="21A0DD"/>
                </a:solidFill>
                <a:latin typeface="Montserrat"/>
                <a:ea typeface="Montserrat"/>
                <a:cs typeface="Montserrat"/>
                <a:sym typeface="Montserrat"/>
              </a:rPr>
              <a:t>Testing as a Service(TaaS)</a:t>
            </a:r>
            <a:endParaRPr b="1" sz="900">
              <a:solidFill>
                <a:srgbClr val="21A0DD"/>
              </a:solidFill>
              <a:latin typeface="Montserrat"/>
              <a:ea typeface="Montserrat"/>
              <a:cs typeface="Montserrat"/>
              <a:sym typeface="Montserrat"/>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Business Apps  Assurance</a:t>
            </a:r>
            <a:endParaRPr sz="800">
              <a:solidFill>
                <a:schemeClr val="dk1"/>
              </a:solidFill>
              <a:latin typeface="Calibri"/>
              <a:ea typeface="Calibri"/>
              <a:cs typeface="Calibri"/>
              <a:sym typeface="Calibri"/>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Testing Accelerators</a:t>
            </a:r>
            <a:endParaRPr sz="800">
              <a:solidFill>
                <a:schemeClr val="dk1"/>
              </a:solidFill>
              <a:latin typeface="Calibri"/>
              <a:ea typeface="Calibri"/>
              <a:cs typeface="Calibri"/>
              <a:sym typeface="Calibri"/>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Data Reconciliation Testing</a:t>
            </a:r>
            <a:endParaRPr sz="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600">
              <a:solidFill>
                <a:srgbClr val="21A0DD"/>
              </a:solidFill>
              <a:latin typeface="Montserrat"/>
              <a:ea typeface="Montserrat"/>
              <a:cs typeface="Montserrat"/>
              <a:sym typeface="Montserrat"/>
            </a:endParaRPr>
          </a:p>
          <a:p>
            <a:pPr indent="-107950" lvl="0" marL="114300" marR="0" rtl="0" algn="l">
              <a:lnSpc>
                <a:spcPct val="115000"/>
              </a:lnSpc>
              <a:spcBef>
                <a:spcPts val="0"/>
              </a:spcBef>
              <a:spcAft>
                <a:spcPts val="0"/>
              </a:spcAft>
              <a:buClr>
                <a:srgbClr val="21A0DD"/>
              </a:buClr>
              <a:buSzPts val="800"/>
              <a:buFont typeface="Montserrat"/>
              <a:buChar char="❏"/>
            </a:pPr>
            <a:r>
              <a:rPr b="1" lang="en-US" sz="900">
                <a:solidFill>
                  <a:srgbClr val="21A0DD"/>
                </a:solidFill>
                <a:latin typeface="Montserrat"/>
                <a:ea typeface="Montserrat"/>
                <a:cs typeface="Montserrat"/>
                <a:sym typeface="Montserrat"/>
              </a:rPr>
              <a:t>UI / UX</a:t>
            </a:r>
            <a:endParaRPr b="1" sz="900">
              <a:solidFill>
                <a:srgbClr val="21A0DD"/>
              </a:solidFill>
              <a:latin typeface="Montserrat"/>
              <a:ea typeface="Montserrat"/>
              <a:cs typeface="Montserrat"/>
              <a:sym typeface="Montserrat"/>
            </a:endParaRPr>
          </a:p>
          <a:p>
            <a:pPr indent="-165100" lvl="0" marL="342900" marR="0" rtl="0" algn="l">
              <a:lnSpc>
                <a:spcPct val="100000"/>
              </a:lnSpc>
              <a:spcBef>
                <a:spcPts val="0"/>
              </a:spcBef>
              <a:spcAft>
                <a:spcPts val="0"/>
              </a:spcAft>
              <a:buClr>
                <a:srgbClr val="21A0DD"/>
              </a:buClr>
              <a:buSzPts val="800"/>
              <a:buFont typeface="Calibri"/>
              <a:buChar char="→"/>
            </a:pPr>
            <a:r>
              <a:rPr lang="en-US" sz="800">
                <a:solidFill>
                  <a:schemeClr val="dk1"/>
                </a:solidFill>
                <a:latin typeface="Calibri"/>
                <a:ea typeface="Calibri"/>
                <a:cs typeface="Calibri"/>
                <a:sym typeface="Calibri"/>
              </a:rPr>
              <a:t>UX Design for Products, Apps and    EComm Experience</a:t>
            </a:r>
            <a:endParaRPr sz="800">
              <a:solidFill>
                <a:schemeClr val="dk1"/>
              </a:solidFill>
              <a:latin typeface="Calibri"/>
              <a:ea typeface="Calibri"/>
              <a:cs typeface="Calibri"/>
              <a:sym typeface="Calibri"/>
            </a:endParaRPr>
          </a:p>
        </p:txBody>
      </p:sp>
      <p:pic>
        <p:nvPicPr>
          <p:cNvPr id="219" name="Google Shape;219;p15"/>
          <p:cNvPicPr preferRelativeResize="0"/>
          <p:nvPr/>
        </p:nvPicPr>
        <p:blipFill rotWithShape="1">
          <a:blip r:embed="rId4">
            <a:alphaModFix/>
          </a:blip>
          <a:srcRect b="31174" l="10098" r="9503" t="29449"/>
          <a:stretch/>
        </p:blipFill>
        <p:spPr>
          <a:xfrm>
            <a:off x="6020695" y="3136412"/>
            <a:ext cx="638326" cy="208350"/>
          </a:xfrm>
          <a:prstGeom prst="rect">
            <a:avLst/>
          </a:prstGeom>
          <a:noFill/>
          <a:ln>
            <a:noFill/>
          </a:ln>
        </p:spPr>
      </p:pic>
      <p:pic>
        <p:nvPicPr>
          <p:cNvPr id="220" name="Google Shape;220;p15"/>
          <p:cNvPicPr preferRelativeResize="0"/>
          <p:nvPr/>
        </p:nvPicPr>
        <p:blipFill>
          <a:blip r:embed="rId5">
            <a:alphaModFix/>
          </a:blip>
          <a:stretch>
            <a:fillRect/>
          </a:stretch>
        </p:blipFill>
        <p:spPr>
          <a:xfrm>
            <a:off x="6949579" y="3136403"/>
            <a:ext cx="488243" cy="208367"/>
          </a:xfrm>
          <a:prstGeom prst="rect">
            <a:avLst/>
          </a:prstGeom>
          <a:noFill/>
          <a:ln>
            <a:noFill/>
          </a:ln>
        </p:spPr>
      </p:pic>
      <p:pic>
        <p:nvPicPr>
          <p:cNvPr id="221" name="Google Shape;221;p15"/>
          <p:cNvPicPr preferRelativeResize="0"/>
          <p:nvPr/>
        </p:nvPicPr>
        <p:blipFill rotWithShape="1">
          <a:blip r:embed="rId6">
            <a:alphaModFix/>
          </a:blip>
          <a:srcRect b="36373" l="14222" r="16333" t="43073"/>
          <a:stretch/>
        </p:blipFill>
        <p:spPr>
          <a:xfrm>
            <a:off x="5006144" y="3136412"/>
            <a:ext cx="704099" cy="208350"/>
          </a:xfrm>
          <a:prstGeom prst="rect">
            <a:avLst/>
          </a:prstGeom>
          <a:noFill/>
          <a:ln>
            <a:noFill/>
          </a:ln>
        </p:spPr>
      </p:pic>
      <p:pic>
        <p:nvPicPr>
          <p:cNvPr id="222" name="Google Shape;222;p15"/>
          <p:cNvPicPr preferRelativeResize="0"/>
          <p:nvPr/>
        </p:nvPicPr>
        <p:blipFill>
          <a:blip r:embed="rId7">
            <a:alphaModFix/>
          </a:blip>
          <a:stretch>
            <a:fillRect/>
          </a:stretch>
        </p:blipFill>
        <p:spPr>
          <a:xfrm rot="-5400000">
            <a:off x="4654461" y="3169970"/>
            <a:ext cx="141219" cy="141234"/>
          </a:xfrm>
          <a:prstGeom prst="rect">
            <a:avLst/>
          </a:prstGeom>
          <a:noFill/>
          <a:ln>
            <a:noFill/>
          </a:ln>
        </p:spPr>
      </p:pic>
      <p:pic>
        <p:nvPicPr>
          <p:cNvPr id="223" name="Google Shape;223;p15"/>
          <p:cNvPicPr preferRelativeResize="0"/>
          <p:nvPr/>
        </p:nvPicPr>
        <p:blipFill>
          <a:blip r:embed="rId7">
            <a:alphaModFix/>
          </a:blip>
          <a:stretch>
            <a:fillRect/>
          </a:stretch>
        </p:blipFill>
        <p:spPr>
          <a:xfrm rot="-5400000">
            <a:off x="4721577" y="3169970"/>
            <a:ext cx="141219" cy="141234"/>
          </a:xfrm>
          <a:prstGeom prst="rect">
            <a:avLst/>
          </a:prstGeom>
          <a:noFill/>
          <a:ln>
            <a:noFill/>
          </a:ln>
        </p:spPr>
      </p:pic>
      <p:pic>
        <p:nvPicPr>
          <p:cNvPr id="224" name="Google Shape;224;p15"/>
          <p:cNvPicPr preferRelativeResize="0"/>
          <p:nvPr/>
        </p:nvPicPr>
        <p:blipFill>
          <a:blip r:embed="rId5">
            <a:alphaModFix/>
          </a:blip>
          <a:stretch>
            <a:fillRect/>
          </a:stretch>
        </p:blipFill>
        <p:spPr>
          <a:xfrm>
            <a:off x="5114067" y="3593603"/>
            <a:ext cx="488243" cy="208367"/>
          </a:xfrm>
          <a:prstGeom prst="rect">
            <a:avLst/>
          </a:prstGeom>
          <a:noFill/>
          <a:ln>
            <a:noFill/>
          </a:ln>
        </p:spPr>
      </p:pic>
      <p:pic>
        <p:nvPicPr>
          <p:cNvPr id="225" name="Google Shape;225;p15"/>
          <p:cNvPicPr preferRelativeResize="0"/>
          <p:nvPr/>
        </p:nvPicPr>
        <p:blipFill>
          <a:blip r:embed="rId7">
            <a:alphaModFix/>
          </a:blip>
          <a:stretch>
            <a:fillRect/>
          </a:stretch>
        </p:blipFill>
        <p:spPr>
          <a:xfrm rot="-5400000">
            <a:off x="4654461" y="3627170"/>
            <a:ext cx="141219" cy="141234"/>
          </a:xfrm>
          <a:prstGeom prst="rect">
            <a:avLst/>
          </a:prstGeom>
          <a:noFill/>
          <a:ln>
            <a:noFill/>
          </a:ln>
        </p:spPr>
      </p:pic>
      <p:pic>
        <p:nvPicPr>
          <p:cNvPr id="226" name="Google Shape;226;p15"/>
          <p:cNvPicPr preferRelativeResize="0"/>
          <p:nvPr/>
        </p:nvPicPr>
        <p:blipFill>
          <a:blip r:embed="rId7">
            <a:alphaModFix/>
          </a:blip>
          <a:stretch>
            <a:fillRect/>
          </a:stretch>
        </p:blipFill>
        <p:spPr>
          <a:xfrm rot="-5400000">
            <a:off x="4721577" y="3627170"/>
            <a:ext cx="141219" cy="141234"/>
          </a:xfrm>
          <a:prstGeom prst="rect">
            <a:avLst/>
          </a:prstGeom>
          <a:noFill/>
          <a:ln>
            <a:noFill/>
          </a:ln>
        </p:spPr>
      </p:pic>
      <p:pic>
        <p:nvPicPr>
          <p:cNvPr id="227" name="Google Shape;227;p15"/>
          <p:cNvPicPr preferRelativeResize="0"/>
          <p:nvPr/>
        </p:nvPicPr>
        <p:blipFill>
          <a:blip r:embed="rId7">
            <a:alphaModFix/>
          </a:blip>
          <a:stretch>
            <a:fillRect/>
          </a:stretch>
        </p:blipFill>
        <p:spPr>
          <a:xfrm rot="-5400000">
            <a:off x="4654461" y="4084370"/>
            <a:ext cx="141219" cy="141234"/>
          </a:xfrm>
          <a:prstGeom prst="rect">
            <a:avLst/>
          </a:prstGeom>
          <a:noFill/>
          <a:ln>
            <a:noFill/>
          </a:ln>
        </p:spPr>
      </p:pic>
      <p:pic>
        <p:nvPicPr>
          <p:cNvPr id="228" name="Google Shape;228;p15"/>
          <p:cNvPicPr preferRelativeResize="0"/>
          <p:nvPr/>
        </p:nvPicPr>
        <p:blipFill>
          <a:blip r:embed="rId7">
            <a:alphaModFix/>
          </a:blip>
          <a:stretch>
            <a:fillRect/>
          </a:stretch>
        </p:blipFill>
        <p:spPr>
          <a:xfrm rot="-5400000">
            <a:off x="4721577" y="4084370"/>
            <a:ext cx="141219" cy="141234"/>
          </a:xfrm>
          <a:prstGeom prst="rect">
            <a:avLst/>
          </a:prstGeom>
          <a:noFill/>
          <a:ln>
            <a:noFill/>
          </a:ln>
        </p:spPr>
      </p:pic>
      <p:pic>
        <p:nvPicPr>
          <p:cNvPr id="229" name="Google Shape;229;p15"/>
          <p:cNvPicPr preferRelativeResize="0"/>
          <p:nvPr/>
        </p:nvPicPr>
        <p:blipFill>
          <a:blip r:embed="rId8">
            <a:alphaModFix/>
          </a:blip>
          <a:stretch>
            <a:fillRect/>
          </a:stretch>
        </p:blipFill>
        <p:spPr>
          <a:xfrm>
            <a:off x="5010159" y="4069844"/>
            <a:ext cx="696059" cy="170267"/>
          </a:xfrm>
          <a:prstGeom prst="rect">
            <a:avLst/>
          </a:prstGeom>
          <a:noFill/>
          <a:ln>
            <a:noFill/>
          </a:ln>
        </p:spPr>
      </p:pic>
      <p:pic>
        <p:nvPicPr>
          <p:cNvPr id="230" name="Google Shape;230;p15"/>
          <p:cNvPicPr preferRelativeResize="0"/>
          <p:nvPr/>
        </p:nvPicPr>
        <p:blipFill rotWithShape="1">
          <a:blip r:embed="rId9">
            <a:alphaModFix/>
          </a:blip>
          <a:srcRect b="15118" l="0" r="0" t="23969"/>
          <a:stretch/>
        </p:blipFill>
        <p:spPr>
          <a:xfrm>
            <a:off x="6020880" y="4103402"/>
            <a:ext cx="454216" cy="155626"/>
          </a:xfrm>
          <a:prstGeom prst="rect">
            <a:avLst/>
          </a:prstGeom>
          <a:noFill/>
          <a:ln>
            <a:noFill/>
          </a:ln>
        </p:spPr>
      </p:pic>
      <p:pic>
        <p:nvPicPr>
          <p:cNvPr id="231" name="Google Shape;231;p15"/>
          <p:cNvPicPr preferRelativeResize="0"/>
          <p:nvPr/>
        </p:nvPicPr>
        <p:blipFill>
          <a:blip r:embed="rId10">
            <a:alphaModFix/>
          </a:blip>
          <a:stretch>
            <a:fillRect/>
          </a:stretch>
        </p:blipFill>
        <p:spPr>
          <a:xfrm>
            <a:off x="4717499" y="1067408"/>
            <a:ext cx="405425" cy="409525"/>
          </a:xfrm>
          <a:prstGeom prst="rect">
            <a:avLst/>
          </a:prstGeom>
          <a:noFill/>
          <a:ln>
            <a:noFill/>
          </a:ln>
        </p:spPr>
      </p:pic>
      <p:pic>
        <p:nvPicPr>
          <p:cNvPr id="232" name="Google Shape;232;p15"/>
          <p:cNvPicPr preferRelativeResize="0"/>
          <p:nvPr/>
        </p:nvPicPr>
        <p:blipFill rotWithShape="1">
          <a:blip r:embed="rId11">
            <a:alphaModFix/>
          </a:blip>
          <a:srcRect b="34788" l="0" r="44271" t="32035"/>
          <a:stretch/>
        </p:blipFill>
        <p:spPr>
          <a:xfrm>
            <a:off x="6004693" y="1202869"/>
            <a:ext cx="488225" cy="138602"/>
          </a:xfrm>
          <a:prstGeom prst="rect">
            <a:avLst/>
          </a:prstGeom>
          <a:noFill/>
          <a:ln>
            <a:noFill/>
          </a:ln>
        </p:spPr>
      </p:pic>
      <p:pic>
        <p:nvPicPr>
          <p:cNvPr id="233" name="Google Shape;233;p15"/>
          <p:cNvPicPr preferRelativeResize="0"/>
          <p:nvPr/>
        </p:nvPicPr>
        <p:blipFill rotWithShape="1">
          <a:blip r:embed="rId12">
            <a:alphaModFix/>
          </a:blip>
          <a:srcRect b="36539" l="7324" r="8585" t="13122"/>
          <a:stretch/>
        </p:blipFill>
        <p:spPr>
          <a:xfrm>
            <a:off x="7346141" y="1194358"/>
            <a:ext cx="454225" cy="155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cxnSp>
        <p:nvCxnSpPr>
          <p:cNvPr id="239" name="Google Shape;239;p16"/>
          <p:cNvCxnSpPr/>
          <p:nvPr/>
        </p:nvCxnSpPr>
        <p:spPr>
          <a:xfrm rot="10800000">
            <a:off x="3760201" y="2641050"/>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0" name="Google Shape;240;p16"/>
          <p:cNvCxnSpPr/>
          <p:nvPr/>
        </p:nvCxnSpPr>
        <p:spPr>
          <a:xfrm>
            <a:off x="3760201" y="1966695"/>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1" name="Google Shape;241;p16"/>
          <p:cNvCxnSpPr/>
          <p:nvPr/>
        </p:nvCxnSpPr>
        <p:spPr>
          <a:xfrm rot="10800000">
            <a:off x="5383522" y="2641050"/>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2" name="Google Shape;242;p16"/>
          <p:cNvCxnSpPr/>
          <p:nvPr/>
        </p:nvCxnSpPr>
        <p:spPr>
          <a:xfrm>
            <a:off x="5383522" y="1966695"/>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3" name="Google Shape;243;p16"/>
          <p:cNvCxnSpPr/>
          <p:nvPr/>
        </p:nvCxnSpPr>
        <p:spPr>
          <a:xfrm rot="10800000">
            <a:off x="2137026" y="2641050"/>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4" name="Google Shape;244;p16"/>
          <p:cNvCxnSpPr/>
          <p:nvPr/>
        </p:nvCxnSpPr>
        <p:spPr>
          <a:xfrm>
            <a:off x="2137026" y="1966695"/>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5" name="Google Shape;245;p16"/>
          <p:cNvCxnSpPr/>
          <p:nvPr/>
        </p:nvCxnSpPr>
        <p:spPr>
          <a:xfrm rot="10800000">
            <a:off x="7006826" y="2641050"/>
            <a:ext cx="0" cy="357600"/>
          </a:xfrm>
          <a:prstGeom prst="straightConnector1">
            <a:avLst/>
          </a:prstGeom>
          <a:noFill/>
          <a:ln cap="flat" cmpd="sng" w="9525">
            <a:solidFill>
              <a:srgbClr val="65CDFF"/>
            </a:solidFill>
            <a:prstDash val="solid"/>
            <a:round/>
            <a:headEnd len="med" w="med" type="oval"/>
            <a:tailEnd len="med" w="med" type="none"/>
          </a:ln>
        </p:spPr>
      </p:cxnSp>
      <p:cxnSp>
        <p:nvCxnSpPr>
          <p:cNvPr id="246" name="Google Shape;246;p16"/>
          <p:cNvCxnSpPr/>
          <p:nvPr/>
        </p:nvCxnSpPr>
        <p:spPr>
          <a:xfrm>
            <a:off x="7006826" y="1966695"/>
            <a:ext cx="0" cy="357600"/>
          </a:xfrm>
          <a:prstGeom prst="straightConnector1">
            <a:avLst/>
          </a:prstGeom>
          <a:noFill/>
          <a:ln cap="flat" cmpd="sng" w="9525">
            <a:solidFill>
              <a:srgbClr val="65CDFF"/>
            </a:solidFill>
            <a:prstDash val="solid"/>
            <a:round/>
            <a:headEnd len="med" w="med" type="oval"/>
            <a:tailEnd len="med" w="med" type="none"/>
          </a:ln>
        </p:spPr>
      </p:cxnSp>
      <p:sp>
        <p:nvSpPr>
          <p:cNvPr id="247" name="Google Shape;247;p16"/>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sz="2000">
                <a:solidFill>
                  <a:srgbClr val="21A0DD"/>
                </a:solidFill>
                <a:latin typeface="Montserrat"/>
                <a:ea typeface="Montserrat"/>
                <a:cs typeface="Montserrat"/>
                <a:sym typeface="Montserrat"/>
              </a:rPr>
              <a:t>Process Framework</a:t>
            </a:r>
            <a:endParaRPr sz="2000">
              <a:solidFill>
                <a:srgbClr val="21A0DD"/>
              </a:solidFill>
              <a:latin typeface="Montserrat"/>
              <a:ea typeface="Montserrat"/>
              <a:cs typeface="Montserrat"/>
              <a:sym typeface="Montserrat"/>
            </a:endParaRPr>
          </a:p>
        </p:txBody>
      </p:sp>
      <p:sp>
        <p:nvSpPr>
          <p:cNvPr id="248" name="Google Shape;248;p16"/>
          <p:cNvSpPr/>
          <p:nvPr/>
        </p:nvSpPr>
        <p:spPr>
          <a:xfrm>
            <a:off x="1264947" y="2276327"/>
            <a:ext cx="1744158" cy="415216"/>
          </a:xfrm>
          <a:custGeom>
            <a:rect b="b" l="l" r="r" t="t"/>
            <a:pathLst>
              <a:path extrusionOk="0" h="17788" w="77141">
                <a:moveTo>
                  <a:pt x="0" y="0"/>
                </a:moveTo>
                <a:lnTo>
                  <a:pt x="9585" y="8894"/>
                </a:lnTo>
                <a:lnTo>
                  <a:pt x="0" y="17788"/>
                </a:lnTo>
                <a:lnTo>
                  <a:pt x="67556" y="17788"/>
                </a:lnTo>
                <a:lnTo>
                  <a:pt x="77141" y="8894"/>
                </a:lnTo>
                <a:lnTo>
                  <a:pt x="67556" y="0"/>
                </a:lnTo>
                <a:close/>
              </a:path>
            </a:pathLst>
          </a:custGeom>
          <a:gradFill>
            <a:gsLst>
              <a:gs pos="0">
                <a:srgbClr val="21A0DD"/>
              </a:gs>
              <a:gs pos="100000">
                <a:srgbClr val="0B539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2887980" y="2276327"/>
            <a:ext cx="1744452" cy="415216"/>
          </a:xfrm>
          <a:custGeom>
            <a:rect b="b" l="l" r="r" t="t"/>
            <a:pathLst>
              <a:path extrusionOk="0" h="17788" w="77154">
                <a:moveTo>
                  <a:pt x="1" y="0"/>
                </a:moveTo>
                <a:lnTo>
                  <a:pt x="9597" y="8894"/>
                </a:lnTo>
                <a:lnTo>
                  <a:pt x="1" y="17788"/>
                </a:lnTo>
                <a:lnTo>
                  <a:pt x="67557" y="17788"/>
                </a:lnTo>
                <a:lnTo>
                  <a:pt x="77153" y="8894"/>
                </a:lnTo>
                <a:lnTo>
                  <a:pt x="67557" y="0"/>
                </a:lnTo>
                <a:close/>
              </a:path>
            </a:pathLst>
          </a:custGeom>
          <a:gradFill>
            <a:gsLst>
              <a:gs pos="0">
                <a:srgbClr val="21A0DD"/>
              </a:gs>
              <a:gs pos="100000">
                <a:srgbClr val="0B539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4511307" y="2276327"/>
            <a:ext cx="1744429" cy="415216"/>
          </a:xfrm>
          <a:custGeom>
            <a:rect b="b" l="l" r="r" t="t"/>
            <a:pathLst>
              <a:path extrusionOk="0" h="17788" w="77153">
                <a:moveTo>
                  <a:pt x="0" y="0"/>
                </a:moveTo>
                <a:lnTo>
                  <a:pt x="9585" y="8894"/>
                </a:lnTo>
                <a:lnTo>
                  <a:pt x="0" y="17788"/>
                </a:lnTo>
                <a:lnTo>
                  <a:pt x="67556" y="17788"/>
                </a:lnTo>
                <a:lnTo>
                  <a:pt x="77153" y="8894"/>
                </a:lnTo>
                <a:lnTo>
                  <a:pt x="67556" y="0"/>
                </a:lnTo>
                <a:close/>
              </a:path>
            </a:pathLst>
          </a:custGeom>
          <a:gradFill>
            <a:gsLst>
              <a:gs pos="0">
                <a:srgbClr val="21A0DD"/>
              </a:gs>
              <a:gs pos="100000">
                <a:srgbClr val="0B539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6134611" y="2276229"/>
            <a:ext cx="1744429" cy="415216"/>
          </a:xfrm>
          <a:custGeom>
            <a:rect b="b" l="l" r="r" t="t"/>
            <a:pathLst>
              <a:path extrusionOk="0" h="17788" w="77153">
                <a:moveTo>
                  <a:pt x="0" y="0"/>
                </a:moveTo>
                <a:lnTo>
                  <a:pt x="9585" y="8894"/>
                </a:lnTo>
                <a:lnTo>
                  <a:pt x="0" y="17788"/>
                </a:lnTo>
                <a:lnTo>
                  <a:pt x="67556" y="17788"/>
                </a:lnTo>
                <a:lnTo>
                  <a:pt x="77153" y="8894"/>
                </a:lnTo>
                <a:lnTo>
                  <a:pt x="67556" y="0"/>
                </a:lnTo>
                <a:close/>
              </a:path>
            </a:pathLst>
          </a:custGeom>
          <a:gradFill>
            <a:gsLst>
              <a:gs pos="0">
                <a:srgbClr val="21A0DD"/>
              </a:gs>
              <a:gs pos="100000">
                <a:srgbClr val="0B539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txBox="1"/>
          <p:nvPr/>
        </p:nvSpPr>
        <p:spPr>
          <a:xfrm>
            <a:off x="3101230" y="2961925"/>
            <a:ext cx="1302600" cy="11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100">
                <a:latin typeface="Montserrat"/>
                <a:ea typeface="Montserrat"/>
                <a:cs typeface="Montserrat"/>
                <a:sym typeface="Montserrat"/>
              </a:rPr>
              <a:t>Analyze and present findings</a:t>
            </a:r>
            <a:endParaRPr sz="1100">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sz="1100">
              <a:latin typeface="Montserrat"/>
              <a:ea typeface="Montserrat"/>
              <a:cs typeface="Montserrat"/>
              <a:sym typeface="Montserrat"/>
            </a:endParaRPr>
          </a:p>
          <a:p>
            <a:pPr indent="0" lvl="0" marL="0" rtl="0" algn="ctr">
              <a:spcBef>
                <a:spcPts val="0"/>
              </a:spcBef>
              <a:spcAft>
                <a:spcPts val="0"/>
              </a:spcAft>
              <a:buNone/>
            </a:pPr>
            <a:r>
              <a:t/>
            </a:r>
            <a:endParaRPr sz="1100">
              <a:latin typeface="Montserrat"/>
              <a:ea typeface="Montserrat"/>
              <a:cs typeface="Montserrat"/>
              <a:sym typeface="Montserrat"/>
            </a:endParaRPr>
          </a:p>
        </p:txBody>
      </p:sp>
      <p:sp>
        <p:nvSpPr>
          <p:cNvPr id="253" name="Google Shape;253;p16"/>
          <p:cNvSpPr txBox="1"/>
          <p:nvPr/>
        </p:nvSpPr>
        <p:spPr>
          <a:xfrm>
            <a:off x="3108889" y="2323875"/>
            <a:ext cx="13026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FFFFF"/>
                </a:solidFill>
                <a:latin typeface="Montserrat Medium"/>
                <a:ea typeface="Montserrat Medium"/>
                <a:cs typeface="Montserrat Medium"/>
                <a:sym typeface="Montserrat Medium"/>
              </a:rPr>
              <a:t>ANALYZE</a:t>
            </a:r>
            <a:endParaRPr>
              <a:solidFill>
                <a:srgbClr val="FFFFFF"/>
              </a:solidFill>
              <a:latin typeface="Montserrat Medium"/>
              <a:ea typeface="Montserrat Medium"/>
              <a:cs typeface="Montserrat Medium"/>
              <a:sym typeface="Montserrat Medium"/>
            </a:endParaRPr>
          </a:p>
        </p:txBody>
      </p:sp>
      <p:sp>
        <p:nvSpPr>
          <p:cNvPr id="254" name="Google Shape;254;p16"/>
          <p:cNvSpPr txBox="1"/>
          <p:nvPr/>
        </p:nvSpPr>
        <p:spPr>
          <a:xfrm>
            <a:off x="4732222" y="2961925"/>
            <a:ext cx="1302600" cy="11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100">
                <a:latin typeface="Montserrat"/>
                <a:ea typeface="Montserrat"/>
                <a:cs typeface="Montserrat"/>
                <a:sym typeface="Montserrat"/>
              </a:rPr>
              <a:t>Recommend an approach</a:t>
            </a:r>
            <a:endParaRPr sz="1100">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sz="1100">
              <a:latin typeface="Montserrat"/>
              <a:ea typeface="Montserrat"/>
              <a:cs typeface="Montserrat"/>
              <a:sym typeface="Montserrat"/>
            </a:endParaRPr>
          </a:p>
          <a:p>
            <a:pPr indent="0" lvl="0" marL="0" rtl="0" algn="ctr">
              <a:spcBef>
                <a:spcPts val="0"/>
              </a:spcBef>
              <a:spcAft>
                <a:spcPts val="0"/>
              </a:spcAft>
              <a:buNone/>
            </a:pPr>
            <a:r>
              <a:t/>
            </a:r>
            <a:endParaRPr sz="1100">
              <a:latin typeface="Montserrat"/>
              <a:ea typeface="Montserrat"/>
              <a:cs typeface="Montserrat"/>
              <a:sym typeface="Montserrat"/>
            </a:endParaRPr>
          </a:p>
        </p:txBody>
      </p:sp>
      <p:sp>
        <p:nvSpPr>
          <p:cNvPr id="255" name="Google Shape;255;p16"/>
          <p:cNvSpPr txBox="1"/>
          <p:nvPr/>
        </p:nvSpPr>
        <p:spPr>
          <a:xfrm>
            <a:off x="4732222" y="2323875"/>
            <a:ext cx="13026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FFFFF"/>
                </a:solidFill>
                <a:latin typeface="Montserrat Medium"/>
                <a:ea typeface="Montserrat Medium"/>
                <a:cs typeface="Montserrat Medium"/>
                <a:sym typeface="Montserrat Medium"/>
              </a:rPr>
              <a:t>ADVISE</a:t>
            </a:r>
            <a:endParaRPr>
              <a:solidFill>
                <a:srgbClr val="FFFFFF"/>
              </a:solidFill>
              <a:latin typeface="Montserrat Medium"/>
              <a:ea typeface="Montserrat Medium"/>
              <a:cs typeface="Montserrat Medium"/>
              <a:sym typeface="Montserrat Medium"/>
            </a:endParaRPr>
          </a:p>
        </p:txBody>
      </p:sp>
      <p:sp>
        <p:nvSpPr>
          <p:cNvPr id="256" name="Google Shape;256;p16"/>
          <p:cNvSpPr txBox="1"/>
          <p:nvPr/>
        </p:nvSpPr>
        <p:spPr>
          <a:xfrm>
            <a:off x="1400925" y="2961925"/>
            <a:ext cx="1387500" cy="11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latin typeface="Montserrat"/>
                <a:ea typeface="Montserrat"/>
                <a:cs typeface="Montserrat"/>
                <a:sym typeface="Montserrat"/>
              </a:rPr>
              <a:t>Assess &amp; Evaluate the AS-IS State, User Experience</a:t>
            </a:r>
            <a:endParaRPr sz="1100">
              <a:latin typeface="Montserrat"/>
              <a:ea typeface="Montserrat"/>
              <a:cs typeface="Montserrat"/>
              <a:sym typeface="Montserrat"/>
            </a:endParaRPr>
          </a:p>
        </p:txBody>
      </p:sp>
      <p:sp>
        <p:nvSpPr>
          <p:cNvPr id="257" name="Google Shape;257;p16"/>
          <p:cNvSpPr txBox="1"/>
          <p:nvPr/>
        </p:nvSpPr>
        <p:spPr>
          <a:xfrm>
            <a:off x="1485726" y="2323875"/>
            <a:ext cx="13026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FFFFF"/>
                </a:solidFill>
                <a:latin typeface="Montserrat Medium"/>
                <a:ea typeface="Montserrat Medium"/>
                <a:cs typeface="Montserrat Medium"/>
                <a:sym typeface="Montserrat Medium"/>
              </a:rPr>
              <a:t>ASSESS</a:t>
            </a:r>
            <a:endParaRPr>
              <a:solidFill>
                <a:srgbClr val="FFFFFF"/>
              </a:solidFill>
              <a:latin typeface="Montserrat Medium"/>
              <a:ea typeface="Montserrat Medium"/>
              <a:cs typeface="Montserrat Medium"/>
              <a:sym typeface="Montserrat Medium"/>
            </a:endParaRPr>
          </a:p>
        </p:txBody>
      </p:sp>
      <p:sp>
        <p:nvSpPr>
          <p:cNvPr id="258" name="Google Shape;258;p16"/>
          <p:cNvSpPr txBox="1"/>
          <p:nvPr/>
        </p:nvSpPr>
        <p:spPr>
          <a:xfrm>
            <a:off x="6355526" y="2961925"/>
            <a:ext cx="1302600" cy="11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100">
                <a:latin typeface="Montserrat"/>
                <a:ea typeface="Montserrat"/>
                <a:cs typeface="Montserrat"/>
                <a:sym typeface="Montserrat"/>
              </a:rPr>
              <a:t>Alignment  with Stakeholders</a:t>
            </a:r>
            <a:endParaRPr sz="1100">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sz="1100">
              <a:latin typeface="Montserrat"/>
              <a:ea typeface="Montserrat"/>
              <a:cs typeface="Montserrat"/>
              <a:sym typeface="Montserrat"/>
            </a:endParaRPr>
          </a:p>
          <a:p>
            <a:pPr indent="0" lvl="0" marL="0" rtl="0" algn="ctr">
              <a:spcBef>
                <a:spcPts val="0"/>
              </a:spcBef>
              <a:spcAft>
                <a:spcPts val="0"/>
              </a:spcAft>
              <a:buNone/>
            </a:pPr>
            <a:r>
              <a:t/>
            </a:r>
            <a:endParaRPr sz="1100">
              <a:latin typeface="Montserrat"/>
              <a:ea typeface="Montserrat"/>
              <a:cs typeface="Montserrat"/>
              <a:sym typeface="Montserrat"/>
            </a:endParaRPr>
          </a:p>
        </p:txBody>
      </p:sp>
      <p:sp>
        <p:nvSpPr>
          <p:cNvPr id="259" name="Google Shape;259;p16"/>
          <p:cNvSpPr txBox="1"/>
          <p:nvPr/>
        </p:nvSpPr>
        <p:spPr>
          <a:xfrm>
            <a:off x="6355526" y="2323875"/>
            <a:ext cx="13026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FFFFF"/>
                </a:solidFill>
                <a:latin typeface="Montserrat Medium"/>
                <a:ea typeface="Montserrat Medium"/>
                <a:cs typeface="Montserrat Medium"/>
                <a:sym typeface="Montserrat Medium"/>
              </a:rPr>
              <a:t>ALIGN</a:t>
            </a:r>
            <a:endParaRPr>
              <a:solidFill>
                <a:srgbClr val="FFFFFF"/>
              </a:solidFill>
              <a:latin typeface="Montserrat Medium"/>
              <a:ea typeface="Montserrat Medium"/>
              <a:cs typeface="Montserrat Medium"/>
              <a:sym typeface="Montserrat Medium"/>
            </a:endParaRPr>
          </a:p>
        </p:txBody>
      </p:sp>
      <p:sp>
        <p:nvSpPr>
          <p:cNvPr id="260" name="Google Shape;260;p16"/>
          <p:cNvSpPr txBox="1"/>
          <p:nvPr/>
        </p:nvSpPr>
        <p:spPr>
          <a:xfrm>
            <a:off x="1264950" y="1010350"/>
            <a:ext cx="6614100" cy="39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434343"/>
                </a:solidFill>
                <a:latin typeface="Calibri"/>
                <a:ea typeface="Calibri"/>
                <a:cs typeface="Calibri"/>
                <a:sym typeface="Calibri"/>
              </a:rPr>
              <a:t>The 4A’s of Forsys Assessment &amp; Advisory Process </a:t>
            </a:r>
            <a:endParaRPr>
              <a:solidFill>
                <a:srgbClr val="434343"/>
              </a:solidFill>
              <a:latin typeface="Calibri"/>
              <a:ea typeface="Calibri"/>
              <a:cs typeface="Calibri"/>
              <a:sym typeface="Calibri"/>
            </a:endParaRPr>
          </a:p>
        </p:txBody>
      </p:sp>
      <p:pic>
        <p:nvPicPr>
          <p:cNvPr id="261" name="Google Shape;261;p16"/>
          <p:cNvPicPr preferRelativeResize="0"/>
          <p:nvPr/>
        </p:nvPicPr>
        <p:blipFill>
          <a:blip r:embed="rId3">
            <a:alphaModFix amt="70000"/>
          </a:blip>
          <a:stretch>
            <a:fillRect/>
          </a:stretch>
        </p:blipFill>
        <p:spPr>
          <a:xfrm>
            <a:off x="3601643" y="1587675"/>
            <a:ext cx="317100" cy="317100"/>
          </a:xfrm>
          <a:prstGeom prst="rect">
            <a:avLst/>
          </a:prstGeom>
          <a:noFill/>
          <a:ln>
            <a:noFill/>
          </a:ln>
        </p:spPr>
      </p:pic>
      <p:pic>
        <p:nvPicPr>
          <p:cNvPr id="262" name="Google Shape;262;p16"/>
          <p:cNvPicPr preferRelativeResize="0"/>
          <p:nvPr/>
        </p:nvPicPr>
        <p:blipFill>
          <a:blip r:embed="rId4">
            <a:alphaModFix amt="70000"/>
          </a:blip>
          <a:stretch>
            <a:fillRect/>
          </a:stretch>
        </p:blipFill>
        <p:spPr>
          <a:xfrm>
            <a:off x="1978468" y="1587675"/>
            <a:ext cx="317100" cy="317100"/>
          </a:xfrm>
          <a:prstGeom prst="rect">
            <a:avLst/>
          </a:prstGeom>
          <a:noFill/>
          <a:ln>
            <a:noFill/>
          </a:ln>
        </p:spPr>
      </p:pic>
      <p:pic>
        <p:nvPicPr>
          <p:cNvPr id="263" name="Google Shape;263;p16"/>
          <p:cNvPicPr preferRelativeResize="0"/>
          <p:nvPr/>
        </p:nvPicPr>
        <p:blipFill>
          <a:blip r:embed="rId5">
            <a:alphaModFix amt="70000"/>
          </a:blip>
          <a:stretch>
            <a:fillRect/>
          </a:stretch>
        </p:blipFill>
        <p:spPr>
          <a:xfrm>
            <a:off x="5224818" y="1587675"/>
            <a:ext cx="317100" cy="317100"/>
          </a:xfrm>
          <a:prstGeom prst="rect">
            <a:avLst/>
          </a:prstGeom>
          <a:noFill/>
          <a:ln>
            <a:noFill/>
          </a:ln>
        </p:spPr>
      </p:pic>
      <p:pic>
        <p:nvPicPr>
          <p:cNvPr id="264" name="Google Shape;264;p16"/>
          <p:cNvPicPr preferRelativeResize="0"/>
          <p:nvPr/>
        </p:nvPicPr>
        <p:blipFill>
          <a:blip r:embed="rId6">
            <a:alphaModFix amt="70000"/>
          </a:blip>
          <a:stretch>
            <a:fillRect/>
          </a:stretch>
        </p:blipFill>
        <p:spPr>
          <a:xfrm>
            <a:off x="6847993" y="1587675"/>
            <a:ext cx="317100" cy="317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7"/>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sz="2000">
                <a:solidFill>
                  <a:srgbClr val="21A0DD"/>
                </a:solidFill>
                <a:latin typeface="Montserrat"/>
                <a:ea typeface="Montserrat"/>
                <a:cs typeface="Montserrat"/>
                <a:sym typeface="Montserrat"/>
              </a:rPr>
              <a:t>Assessment &amp; Advisory Framework</a:t>
            </a:r>
            <a:endParaRPr sz="2000">
              <a:solidFill>
                <a:srgbClr val="21A0DD"/>
              </a:solidFill>
              <a:latin typeface="Montserrat"/>
              <a:ea typeface="Montserrat"/>
              <a:cs typeface="Montserrat"/>
              <a:sym typeface="Montserrat"/>
            </a:endParaRPr>
          </a:p>
        </p:txBody>
      </p:sp>
      <p:sp>
        <p:nvSpPr>
          <p:cNvPr id="271" name="Google Shape;271;p17"/>
          <p:cNvSpPr/>
          <p:nvPr/>
        </p:nvSpPr>
        <p:spPr>
          <a:xfrm>
            <a:off x="1214525" y="676450"/>
            <a:ext cx="1519800" cy="362400"/>
          </a:xfrm>
          <a:prstGeom prst="round2DiagRect">
            <a:avLst>
              <a:gd fmla="val 34151" name="adj1"/>
              <a:gd fmla="val 0" name="adj2"/>
            </a:avLst>
          </a:prstGeom>
          <a:gradFill>
            <a:gsLst>
              <a:gs pos="0">
                <a:srgbClr val="21A0DD"/>
              </a:gs>
              <a:gs pos="100000">
                <a:srgbClr val="0B5394"/>
              </a:gs>
            </a:gsLst>
            <a:lin ang="0" scaled="0"/>
          </a:gradFill>
          <a:ln>
            <a:noFill/>
          </a:ln>
          <a:effectLst>
            <a:outerShdw blurRad="34290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ASSESS</a:t>
            </a:r>
            <a:endParaRPr sz="1200">
              <a:solidFill>
                <a:schemeClr val="lt1"/>
              </a:solidFill>
              <a:latin typeface="Calibri"/>
              <a:ea typeface="Calibri"/>
              <a:cs typeface="Calibri"/>
              <a:sym typeface="Calibri"/>
            </a:endParaRPr>
          </a:p>
          <a:p>
            <a:pPr indent="0" lvl="0" marL="0" rtl="0" algn="ctr">
              <a:spcBef>
                <a:spcPts val="0"/>
              </a:spcBef>
              <a:spcAft>
                <a:spcPts val="400"/>
              </a:spcAft>
              <a:buNone/>
            </a:pPr>
            <a:r>
              <a:rPr lang="en-US" sz="600">
                <a:solidFill>
                  <a:schemeClr val="lt1"/>
                </a:solidFill>
                <a:latin typeface="Roboto"/>
                <a:ea typeface="Roboto"/>
                <a:cs typeface="Roboto"/>
                <a:sym typeface="Roboto"/>
              </a:rPr>
              <a:t>.. &amp; evaluate the AS-IS State</a:t>
            </a:r>
            <a:endParaRPr/>
          </a:p>
        </p:txBody>
      </p:sp>
      <p:sp>
        <p:nvSpPr>
          <p:cNvPr id="272" name="Google Shape;272;p17"/>
          <p:cNvSpPr/>
          <p:nvPr/>
        </p:nvSpPr>
        <p:spPr>
          <a:xfrm>
            <a:off x="3119525" y="676450"/>
            <a:ext cx="1519800" cy="362400"/>
          </a:xfrm>
          <a:prstGeom prst="round2DiagRect">
            <a:avLst>
              <a:gd fmla="val 34151" name="adj1"/>
              <a:gd fmla="val 0" name="adj2"/>
            </a:avLst>
          </a:prstGeom>
          <a:gradFill>
            <a:gsLst>
              <a:gs pos="0">
                <a:srgbClr val="21A0DD"/>
              </a:gs>
              <a:gs pos="100000">
                <a:srgbClr val="0B5394"/>
              </a:gs>
            </a:gsLst>
            <a:lin ang="0" scaled="0"/>
          </a:gradFill>
          <a:ln>
            <a:noFill/>
          </a:ln>
          <a:effectLst>
            <a:outerShdw blurRad="34290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Calibri"/>
                <a:ea typeface="Calibri"/>
                <a:cs typeface="Calibri"/>
                <a:sym typeface="Calibri"/>
              </a:rPr>
              <a:t>ANALYZE</a:t>
            </a:r>
            <a:endParaRPr sz="1200">
              <a:solidFill>
                <a:schemeClr val="lt1"/>
              </a:solidFill>
              <a:latin typeface="Calibri"/>
              <a:ea typeface="Calibri"/>
              <a:cs typeface="Calibri"/>
              <a:sym typeface="Calibri"/>
            </a:endParaRPr>
          </a:p>
          <a:p>
            <a:pPr indent="0" lvl="0" marL="0" rtl="0" algn="ctr">
              <a:spcBef>
                <a:spcPts val="0"/>
              </a:spcBef>
              <a:spcAft>
                <a:spcPts val="400"/>
              </a:spcAft>
              <a:buNone/>
            </a:pPr>
            <a:r>
              <a:rPr lang="en-US" sz="600">
                <a:solidFill>
                  <a:schemeClr val="lt1"/>
                </a:solidFill>
                <a:latin typeface="Roboto"/>
                <a:ea typeface="Roboto"/>
                <a:cs typeface="Roboto"/>
                <a:sym typeface="Roboto"/>
              </a:rPr>
              <a:t>.. &amp; present findings</a:t>
            </a:r>
            <a:endParaRPr sz="1200">
              <a:solidFill>
                <a:schemeClr val="lt1"/>
              </a:solidFill>
              <a:latin typeface="Calibri"/>
              <a:ea typeface="Calibri"/>
              <a:cs typeface="Calibri"/>
              <a:sym typeface="Calibri"/>
            </a:endParaRPr>
          </a:p>
        </p:txBody>
      </p:sp>
      <p:sp>
        <p:nvSpPr>
          <p:cNvPr id="273" name="Google Shape;273;p17"/>
          <p:cNvSpPr/>
          <p:nvPr/>
        </p:nvSpPr>
        <p:spPr>
          <a:xfrm>
            <a:off x="5024525" y="676450"/>
            <a:ext cx="1519800" cy="362400"/>
          </a:xfrm>
          <a:prstGeom prst="round2DiagRect">
            <a:avLst>
              <a:gd fmla="val 34151" name="adj1"/>
              <a:gd fmla="val 0" name="adj2"/>
            </a:avLst>
          </a:prstGeom>
          <a:gradFill>
            <a:gsLst>
              <a:gs pos="0">
                <a:srgbClr val="21A0DD"/>
              </a:gs>
              <a:gs pos="100000">
                <a:srgbClr val="0B5394"/>
              </a:gs>
            </a:gsLst>
            <a:lin ang="0" scaled="0"/>
          </a:gradFill>
          <a:ln>
            <a:noFill/>
          </a:ln>
          <a:effectLst>
            <a:outerShdw blurRad="34290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Calibri"/>
                <a:ea typeface="Calibri"/>
                <a:cs typeface="Calibri"/>
                <a:sym typeface="Calibri"/>
              </a:rPr>
              <a:t>ADVISE</a:t>
            </a:r>
            <a:endParaRPr sz="1200">
              <a:solidFill>
                <a:schemeClr val="lt1"/>
              </a:solidFill>
              <a:latin typeface="Calibri"/>
              <a:ea typeface="Calibri"/>
              <a:cs typeface="Calibri"/>
              <a:sym typeface="Calibri"/>
            </a:endParaRPr>
          </a:p>
          <a:p>
            <a:pPr indent="0" lvl="0" marL="0" rtl="0" algn="ctr">
              <a:spcBef>
                <a:spcPts val="0"/>
              </a:spcBef>
              <a:spcAft>
                <a:spcPts val="400"/>
              </a:spcAft>
              <a:buNone/>
            </a:pPr>
            <a:r>
              <a:rPr lang="en-US" sz="600">
                <a:solidFill>
                  <a:schemeClr val="lt1"/>
                </a:solidFill>
                <a:latin typeface="Roboto"/>
                <a:ea typeface="Roboto"/>
                <a:cs typeface="Roboto"/>
                <a:sym typeface="Roboto"/>
              </a:rPr>
              <a:t>.. recommended approach</a:t>
            </a:r>
            <a:endParaRPr sz="1200">
              <a:solidFill>
                <a:schemeClr val="lt1"/>
              </a:solidFill>
              <a:latin typeface="Calibri"/>
              <a:ea typeface="Calibri"/>
              <a:cs typeface="Calibri"/>
              <a:sym typeface="Calibri"/>
            </a:endParaRPr>
          </a:p>
        </p:txBody>
      </p:sp>
      <p:sp>
        <p:nvSpPr>
          <p:cNvPr id="274" name="Google Shape;274;p17"/>
          <p:cNvSpPr/>
          <p:nvPr/>
        </p:nvSpPr>
        <p:spPr>
          <a:xfrm>
            <a:off x="6929525" y="676450"/>
            <a:ext cx="1519800" cy="362400"/>
          </a:xfrm>
          <a:prstGeom prst="round2DiagRect">
            <a:avLst>
              <a:gd fmla="val 34151" name="adj1"/>
              <a:gd fmla="val 0" name="adj2"/>
            </a:avLst>
          </a:prstGeom>
          <a:gradFill>
            <a:gsLst>
              <a:gs pos="0">
                <a:srgbClr val="21A0DD"/>
              </a:gs>
              <a:gs pos="100000">
                <a:srgbClr val="0B5394"/>
              </a:gs>
            </a:gsLst>
            <a:lin ang="0" scaled="0"/>
          </a:gradFill>
          <a:ln>
            <a:noFill/>
          </a:ln>
          <a:effectLst>
            <a:outerShdw blurRad="34290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Calibri"/>
                <a:ea typeface="Calibri"/>
                <a:cs typeface="Calibri"/>
                <a:sym typeface="Calibri"/>
              </a:rPr>
              <a:t>ALIGN</a:t>
            </a:r>
            <a:endParaRPr sz="1200">
              <a:solidFill>
                <a:schemeClr val="lt1"/>
              </a:solidFill>
              <a:latin typeface="Calibri"/>
              <a:ea typeface="Calibri"/>
              <a:cs typeface="Calibri"/>
              <a:sym typeface="Calibri"/>
            </a:endParaRPr>
          </a:p>
          <a:p>
            <a:pPr indent="0" lvl="0" marL="0" rtl="0" algn="ctr">
              <a:spcBef>
                <a:spcPts val="0"/>
              </a:spcBef>
              <a:spcAft>
                <a:spcPts val="400"/>
              </a:spcAft>
              <a:buNone/>
            </a:pPr>
            <a:r>
              <a:rPr lang="en-US" sz="600">
                <a:solidFill>
                  <a:schemeClr val="lt1"/>
                </a:solidFill>
                <a:latin typeface="Roboto"/>
                <a:ea typeface="Roboto"/>
                <a:cs typeface="Roboto"/>
                <a:sym typeface="Roboto"/>
              </a:rPr>
              <a:t>.. with stakeholders &amp; roadmap</a:t>
            </a:r>
            <a:endParaRPr sz="1200">
              <a:solidFill>
                <a:schemeClr val="lt1"/>
              </a:solidFill>
              <a:latin typeface="Calibri"/>
              <a:ea typeface="Calibri"/>
              <a:cs typeface="Calibri"/>
              <a:sym typeface="Calibri"/>
            </a:endParaRPr>
          </a:p>
        </p:txBody>
      </p:sp>
      <p:graphicFrame>
        <p:nvGraphicFramePr>
          <p:cNvPr id="275" name="Google Shape;275;p17"/>
          <p:cNvGraphicFramePr/>
          <p:nvPr/>
        </p:nvGraphicFramePr>
        <p:xfrm>
          <a:off x="119538" y="1121169"/>
          <a:ext cx="3000000" cy="3000000"/>
        </p:xfrm>
        <a:graphic>
          <a:graphicData uri="http://schemas.openxmlformats.org/drawingml/2006/table">
            <a:tbl>
              <a:tblPr>
                <a:noFill/>
                <a:tableStyleId>{07876114-0284-437C-941D-8F7499022289}</a:tableStyleId>
              </a:tblPr>
              <a:tblGrid>
                <a:gridCol w="417625"/>
                <a:gridCol w="522725"/>
                <a:gridCol w="1674425"/>
                <a:gridCol w="254850"/>
                <a:gridCol w="1650150"/>
                <a:gridCol w="254850"/>
                <a:gridCol w="1650150"/>
                <a:gridCol w="254850"/>
                <a:gridCol w="2010750"/>
              </a:tblGrid>
              <a:tr h="1291075">
                <a:tc gridSpan="2">
                  <a:txBody>
                    <a:bodyPr/>
                    <a:lstStyle/>
                    <a:p>
                      <a:pPr indent="0" lvl="0" marL="400050" rtl="0" algn="l">
                        <a:spcBef>
                          <a:spcPts val="0"/>
                        </a:spcBef>
                        <a:spcAft>
                          <a:spcPts val="0"/>
                        </a:spcAft>
                        <a:buNone/>
                      </a:pPr>
                      <a:r>
                        <a:t/>
                      </a:r>
                      <a:endParaRPr b="1" sz="300">
                        <a:solidFill>
                          <a:srgbClr val="222222"/>
                        </a:solidFill>
                        <a:latin typeface="Calibri"/>
                        <a:ea typeface="Calibri"/>
                        <a:cs typeface="Calibri"/>
                        <a:sym typeface="Calibri"/>
                      </a:endParaRPr>
                    </a:p>
                    <a:p>
                      <a:pPr indent="0" lvl="0" marL="342900" rtl="0" algn="l">
                        <a:spcBef>
                          <a:spcPts val="0"/>
                        </a:spcBef>
                        <a:spcAft>
                          <a:spcPts val="0"/>
                        </a:spcAft>
                        <a:buNone/>
                      </a:pPr>
                      <a:r>
                        <a:rPr b="1" lang="en-US" sz="1000">
                          <a:solidFill>
                            <a:srgbClr val="222222"/>
                          </a:solidFill>
                          <a:latin typeface="Calibri"/>
                          <a:ea typeface="Calibri"/>
                          <a:cs typeface="Calibri"/>
                          <a:sym typeface="Calibri"/>
                        </a:rPr>
                        <a:t>Business Process</a:t>
                      </a:r>
                      <a:endParaRPr b="1" sz="1000">
                        <a:solidFill>
                          <a:srgbClr val="222222"/>
                        </a:solidFill>
                        <a:latin typeface="Calibri"/>
                        <a:ea typeface="Calibri"/>
                        <a:cs typeface="Calibri"/>
                        <a:sym typeface="Calibri"/>
                      </a:endParaRPr>
                    </a:p>
                  </a:txBody>
                  <a:tcPr marT="18275" marB="18275" marR="0" marL="1827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a:txBody>
                    <a:bodyPr/>
                    <a:lstStyle/>
                    <a:p>
                      <a:pPr indent="-107950" lvl="0" marL="228600" rtl="0" algn="l">
                        <a:spcBef>
                          <a:spcPts val="0"/>
                        </a:spcBef>
                        <a:spcAft>
                          <a:spcPts val="0"/>
                        </a:spcAft>
                        <a:buClr>
                          <a:srgbClr val="ED1E2E"/>
                        </a:buClr>
                        <a:buSzPts val="800"/>
                        <a:buFont typeface="Calibri"/>
                        <a:buChar char="▸"/>
                      </a:pPr>
                      <a:r>
                        <a:rPr lang="en-US" sz="800">
                          <a:latin typeface="Calibri"/>
                          <a:ea typeface="Calibri"/>
                          <a:cs typeface="Calibri"/>
                          <a:sym typeface="Calibri"/>
                        </a:rPr>
                        <a:t>Account Management </a:t>
                      </a:r>
                      <a:endParaRPr sz="800">
                        <a:latin typeface="Calibri"/>
                        <a:ea typeface="Calibri"/>
                        <a:cs typeface="Calibri"/>
                        <a:sym typeface="Calibri"/>
                      </a:endParaRPr>
                    </a:p>
                    <a:p>
                      <a:pPr indent="-107950" lvl="0" marL="228600" rtl="0" algn="l">
                        <a:spcBef>
                          <a:spcPts val="200"/>
                        </a:spcBef>
                        <a:spcAft>
                          <a:spcPts val="0"/>
                        </a:spcAft>
                        <a:buClr>
                          <a:srgbClr val="ED1E2E"/>
                        </a:buClr>
                        <a:buSzPts val="800"/>
                        <a:buFont typeface="Calibri"/>
                        <a:buChar char="▸"/>
                      </a:pPr>
                      <a:r>
                        <a:rPr lang="en-US" sz="800">
                          <a:latin typeface="Calibri"/>
                          <a:ea typeface="Calibri"/>
                          <a:cs typeface="Calibri"/>
                          <a:sym typeface="Calibri"/>
                        </a:rPr>
                        <a:t>NPI Process </a:t>
                      </a:r>
                      <a:endParaRPr sz="800">
                        <a:latin typeface="Calibri"/>
                        <a:ea typeface="Calibri"/>
                        <a:cs typeface="Calibri"/>
                        <a:sym typeface="Calibri"/>
                      </a:endParaRPr>
                    </a:p>
                    <a:p>
                      <a:pPr indent="-107950" lvl="0" marL="228600" rtl="0" algn="l">
                        <a:spcBef>
                          <a:spcPts val="200"/>
                        </a:spcBef>
                        <a:spcAft>
                          <a:spcPts val="0"/>
                        </a:spcAft>
                        <a:buClr>
                          <a:srgbClr val="ED1E2E"/>
                        </a:buClr>
                        <a:buSzPts val="800"/>
                        <a:buFont typeface="Calibri"/>
                        <a:buChar char="▸"/>
                      </a:pPr>
                      <a:r>
                        <a:rPr lang="en-US" sz="800">
                          <a:latin typeface="Calibri"/>
                          <a:ea typeface="Calibri"/>
                          <a:cs typeface="Calibri"/>
                          <a:sym typeface="Calibri"/>
                        </a:rPr>
                        <a:t>Opportunity Management</a:t>
                      </a:r>
                      <a:endParaRPr sz="800">
                        <a:latin typeface="Calibri"/>
                        <a:ea typeface="Calibri"/>
                        <a:cs typeface="Calibri"/>
                        <a:sym typeface="Calibri"/>
                      </a:endParaRPr>
                    </a:p>
                    <a:p>
                      <a:pPr indent="-107950" lvl="0" marL="228600" rtl="0" algn="l">
                        <a:spcBef>
                          <a:spcPts val="200"/>
                        </a:spcBef>
                        <a:spcAft>
                          <a:spcPts val="0"/>
                        </a:spcAft>
                        <a:buClr>
                          <a:srgbClr val="ED1E2E"/>
                        </a:buClr>
                        <a:buSzPts val="800"/>
                        <a:buFont typeface="Calibri"/>
                        <a:buChar char="▸"/>
                      </a:pPr>
                      <a:r>
                        <a:rPr lang="en-US" sz="800">
                          <a:latin typeface="Calibri"/>
                          <a:ea typeface="Calibri"/>
                          <a:cs typeface="Calibri"/>
                          <a:sym typeface="Calibri"/>
                        </a:rPr>
                        <a:t>Quote Management</a:t>
                      </a:r>
                      <a:endParaRPr sz="800">
                        <a:latin typeface="Calibri"/>
                        <a:ea typeface="Calibri"/>
                        <a:cs typeface="Calibri"/>
                        <a:sym typeface="Calibri"/>
                      </a:endParaRPr>
                    </a:p>
                    <a:p>
                      <a:pPr indent="-107950" lvl="0" marL="228600" rtl="0" algn="l">
                        <a:spcBef>
                          <a:spcPts val="200"/>
                        </a:spcBef>
                        <a:spcAft>
                          <a:spcPts val="0"/>
                        </a:spcAft>
                        <a:buClr>
                          <a:srgbClr val="ED1E2E"/>
                        </a:buClr>
                        <a:buSzPts val="800"/>
                        <a:buFont typeface="Calibri"/>
                        <a:buChar char="▸"/>
                      </a:pPr>
                      <a:r>
                        <a:rPr lang="en-US" sz="800">
                          <a:solidFill>
                            <a:srgbClr val="000000"/>
                          </a:solidFill>
                          <a:latin typeface="Calibri"/>
                          <a:ea typeface="Calibri"/>
                          <a:cs typeface="Calibri"/>
                          <a:sym typeface="Calibri"/>
                        </a:rPr>
                        <a:t>Quote to Order </a:t>
                      </a:r>
                      <a:endParaRPr sz="800">
                        <a:solidFill>
                          <a:srgbClr val="000000"/>
                        </a:solidFill>
                        <a:latin typeface="Calibri"/>
                        <a:ea typeface="Calibri"/>
                        <a:cs typeface="Calibri"/>
                        <a:sym typeface="Calibri"/>
                      </a:endParaRPr>
                    </a:p>
                    <a:p>
                      <a:pPr indent="-107950" lvl="0" marL="228600" rtl="0" algn="l">
                        <a:spcBef>
                          <a:spcPts val="200"/>
                        </a:spcBef>
                        <a:spcAft>
                          <a:spcPts val="0"/>
                        </a:spcAft>
                        <a:buClr>
                          <a:srgbClr val="ED1E2E"/>
                        </a:buClr>
                        <a:buSzPts val="800"/>
                        <a:buFont typeface="Calibri"/>
                        <a:buChar char="▸"/>
                      </a:pPr>
                      <a:r>
                        <a:rPr lang="en-US" sz="800">
                          <a:latin typeface="Calibri"/>
                          <a:ea typeface="Calibri"/>
                          <a:cs typeface="Calibri"/>
                          <a:sym typeface="Calibri"/>
                        </a:rPr>
                        <a:t>Order Entry (capture order)</a:t>
                      </a:r>
                      <a:endParaRPr sz="800">
                        <a:latin typeface="Calibri"/>
                        <a:ea typeface="Calibri"/>
                        <a:cs typeface="Calibri"/>
                        <a:sym typeface="Calibri"/>
                      </a:endParaRPr>
                    </a:p>
                    <a:p>
                      <a:pPr indent="-107950" lvl="0" marL="228600" rtl="0" algn="l">
                        <a:spcBef>
                          <a:spcPts val="200"/>
                        </a:spcBef>
                        <a:spcAft>
                          <a:spcPts val="200"/>
                        </a:spcAft>
                        <a:buClr>
                          <a:srgbClr val="ED1E2E"/>
                        </a:buClr>
                        <a:buSzPts val="800"/>
                        <a:buFont typeface="Calibri"/>
                        <a:buChar char="▸"/>
                      </a:pPr>
                      <a:r>
                        <a:rPr lang="en-US" sz="800">
                          <a:latin typeface="Calibri"/>
                          <a:ea typeface="Calibri"/>
                          <a:cs typeface="Calibri"/>
                          <a:sym typeface="Calibri"/>
                        </a:rPr>
                        <a:t>Order Processing (manage order)</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57150" lvl="0" marL="228600" rtl="0" algn="l">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Information Architecture for Opportunity, Quote, Order</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Opportunity, Quote and Order Management Process</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Account/Customer Creation process</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Order Entry for various GTM scenarios</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Gap Analysis (process level) for Opportunity, Quoting and Quote to Order process</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Pain Points for Account, Product, Price, Opportunity, Quote, Order</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High Level Solution Approach</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Detailed Solution Review</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Quote &amp; Order Process Integration </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Standardised Order Entry at all Sites and Systems</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Industry Best Practices for Account Mgmt, Opportunity Mgmt, Quote Mgmt, Order Mgmt, Product Management</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KPIs: Quote, Order Cycle time; Order Touch Rates</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r h="751900">
                <a:tc gridSpan="2">
                  <a:txBody>
                    <a:bodyPr/>
                    <a:lstStyle/>
                    <a:p>
                      <a:pPr indent="0" lvl="0" marL="342900" marR="0" rtl="0" algn="l">
                        <a:lnSpc>
                          <a:spcPct val="100000"/>
                        </a:lnSpc>
                        <a:spcBef>
                          <a:spcPts val="200"/>
                        </a:spcBef>
                        <a:spcAft>
                          <a:spcPts val="0"/>
                        </a:spcAft>
                        <a:buNone/>
                      </a:pPr>
                      <a:r>
                        <a:rPr b="1" lang="en-US" sz="1000">
                          <a:solidFill>
                            <a:srgbClr val="222222"/>
                          </a:solidFill>
                          <a:latin typeface="Calibri"/>
                          <a:ea typeface="Calibri"/>
                          <a:cs typeface="Calibri"/>
                          <a:sym typeface="Calibri"/>
                        </a:rPr>
                        <a:t>Systems</a:t>
                      </a:r>
                      <a:endParaRPr b="1" sz="1000">
                        <a:solidFill>
                          <a:srgbClr val="222222"/>
                        </a:solidFill>
                        <a:latin typeface="Calibri"/>
                        <a:ea typeface="Calibri"/>
                        <a:cs typeface="Calibri"/>
                        <a:sym typeface="Calibri"/>
                      </a:endParaRPr>
                    </a:p>
                  </a:txBody>
                  <a:tcPr marT="18275" marB="18275" marR="0" marL="1827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Salesforce</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Oracle BMI</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Oracle ERP</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QAD</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57150" lvl="0" marL="22860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Information flow from Salesforce to ERP (for Orders that are quoted)</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Customer Price Lists (for direct Orders) in ERP</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Gap Analysis (systems level) for capturing complete and accurate information</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Systems Integration model for Low Touch Order Processing</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Implement changes for impacted  systems</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Integrate systems for seamless information flow</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r h="1231025">
                <a:tc gridSpan="2">
                  <a:txBody>
                    <a:bodyPr/>
                    <a:lstStyle/>
                    <a:p>
                      <a:pPr indent="0" lvl="0" marL="342900" marR="0" rtl="0" algn="l">
                        <a:lnSpc>
                          <a:spcPct val="100000"/>
                        </a:lnSpc>
                        <a:spcBef>
                          <a:spcPts val="200"/>
                        </a:spcBef>
                        <a:spcAft>
                          <a:spcPts val="0"/>
                        </a:spcAft>
                        <a:buNone/>
                      </a:pPr>
                      <a:r>
                        <a:rPr b="1" lang="en-US" sz="1000">
                          <a:solidFill>
                            <a:srgbClr val="222222"/>
                          </a:solidFill>
                          <a:latin typeface="Calibri"/>
                          <a:ea typeface="Calibri"/>
                          <a:cs typeface="Calibri"/>
                          <a:sym typeface="Calibri"/>
                        </a:rPr>
                        <a:t>Data</a:t>
                      </a:r>
                      <a:endParaRPr b="1" sz="1000">
                        <a:solidFill>
                          <a:srgbClr val="222222"/>
                        </a:solidFill>
                        <a:latin typeface="Calibri"/>
                        <a:ea typeface="Calibri"/>
                        <a:cs typeface="Calibri"/>
                        <a:sym typeface="Calibri"/>
                      </a:endParaRPr>
                    </a:p>
                  </a:txBody>
                  <a:tcPr marT="18275" marB="18275" marR="0" marL="1827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Customer/Account Master</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Sales Hierarchy / Territory</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Product Master</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Bundles &amp; Configurations</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Pricing &amp; Discounting</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Opportunity</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Quote</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Order</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57150" lvl="0" marL="22860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SE/BDEs on Sales Orders from various ERPs</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Customer &amp; End Customer Account information from Orders from various ERPs</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Gap Analysis on Data Capture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Completeness of Data from Transactional systems (salesforce, ERPs) </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Master Data and Sources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0"/>
                        </a:spcAft>
                        <a:buClr>
                          <a:srgbClr val="ED1E2E"/>
                        </a:buClr>
                        <a:buSzPts val="800"/>
                        <a:buFont typeface="Calibri"/>
                        <a:buChar char="▸"/>
                      </a:pPr>
                      <a:r>
                        <a:rPr lang="en-US" sz="800">
                          <a:latin typeface="Calibri"/>
                          <a:ea typeface="Calibri"/>
                          <a:cs typeface="Calibri"/>
                          <a:sym typeface="Calibri"/>
                        </a:rPr>
                        <a:t>Product/SKU Rationalization</a:t>
                      </a:r>
                      <a:endParaRPr sz="800">
                        <a:latin typeface="Calibri"/>
                        <a:ea typeface="Calibri"/>
                        <a:cs typeface="Calibri"/>
                        <a:sym typeface="Calibri"/>
                      </a:endParaRPr>
                    </a:p>
                    <a:p>
                      <a:pPr indent="-107950" lvl="0" marL="228600" marR="0" rtl="0" algn="l">
                        <a:lnSpc>
                          <a:spcPct val="100000"/>
                        </a:lnSpc>
                        <a:spcBef>
                          <a:spcPts val="200"/>
                        </a:spcBef>
                        <a:spcAft>
                          <a:spcPts val="0"/>
                        </a:spcAft>
                        <a:buClr>
                          <a:srgbClr val="ED1E2E"/>
                        </a:buClr>
                        <a:buSzPts val="800"/>
                        <a:buFont typeface="Calibri"/>
                        <a:buChar char="▸"/>
                      </a:pPr>
                      <a:r>
                        <a:rPr lang="en-US" sz="800">
                          <a:latin typeface="Calibri"/>
                          <a:ea typeface="Calibri"/>
                          <a:cs typeface="Calibri"/>
                          <a:sym typeface="Calibri"/>
                        </a:rPr>
                        <a:t>Pricelist Rationalization</a:t>
                      </a:r>
                      <a:endParaRPr sz="800">
                        <a:latin typeface="Calibri"/>
                        <a:ea typeface="Calibri"/>
                        <a:cs typeface="Calibri"/>
                        <a:sym typeface="Calibri"/>
                      </a:endParaRPr>
                    </a:p>
                    <a:p>
                      <a:pPr indent="-107950" lvl="0" marL="228600" marR="0" rtl="0" algn="l">
                        <a:lnSpc>
                          <a:spcPct val="100000"/>
                        </a:lnSpc>
                        <a:spcBef>
                          <a:spcPts val="200"/>
                        </a:spcBef>
                        <a:spcAft>
                          <a:spcPts val="200"/>
                        </a:spcAft>
                        <a:buClr>
                          <a:srgbClr val="ED1E2E"/>
                        </a:buClr>
                        <a:buSzPts val="800"/>
                        <a:buFont typeface="Calibri"/>
                        <a:buChar char="▸"/>
                      </a:pPr>
                      <a:r>
                        <a:rPr lang="en-US" sz="800">
                          <a:latin typeface="Calibri"/>
                          <a:ea typeface="Calibri"/>
                          <a:cs typeface="Calibri"/>
                          <a:sym typeface="Calibri"/>
                        </a:rPr>
                        <a:t>Account Rationalization</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r h="340200">
                <a:tc gridSpan="2">
                  <a:txBody>
                    <a:bodyPr/>
                    <a:lstStyle/>
                    <a:p>
                      <a:pPr indent="0" lvl="0" marL="342900" marR="0" rtl="0" algn="l">
                        <a:lnSpc>
                          <a:spcPct val="100000"/>
                        </a:lnSpc>
                        <a:spcBef>
                          <a:spcPts val="200"/>
                        </a:spcBef>
                        <a:spcAft>
                          <a:spcPts val="0"/>
                        </a:spcAft>
                        <a:buNone/>
                      </a:pPr>
                      <a:r>
                        <a:rPr b="1" lang="en-US" sz="1000">
                          <a:solidFill>
                            <a:srgbClr val="222222"/>
                          </a:solidFill>
                          <a:latin typeface="Calibri"/>
                          <a:ea typeface="Calibri"/>
                          <a:cs typeface="Calibri"/>
                          <a:sym typeface="Calibri"/>
                        </a:rPr>
                        <a:t>People</a:t>
                      </a:r>
                      <a:endParaRPr b="1" sz="1000">
                        <a:solidFill>
                          <a:srgbClr val="222222"/>
                        </a:solidFill>
                        <a:latin typeface="Calibri"/>
                        <a:ea typeface="Calibri"/>
                        <a:cs typeface="Calibri"/>
                        <a:sym typeface="Calibri"/>
                      </a:endParaRPr>
                    </a:p>
                  </a:txBody>
                  <a:tcPr marT="18275" marB="18275" marR="0" marL="1827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a:txBody>
                    <a:bodyPr/>
                    <a:lstStyle/>
                    <a:p>
                      <a:pPr indent="-107950" lvl="0" marL="228600" marR="0" rtl="0" algn="l">
                        <a:lnSpc>
                          <a:spcPct val="100000"/>
                        </a:lnSpc>
                        <a:spcBef>
                          <a:spcPts val="0"/>
                        </a:spcBef>
                        <a:spcAft>
                          <a:spcPts val="200"/>
                        </a:spcAft>
                        <a:buClr>
                          <a:srgbClr val="ED1E2E"/>
                        </a:buClr>
                        <a:buSzPts val="800"/>
                        <a:buFont typeface="Calibri"/>
                        <a:buChar char="▸"/>
                      </a:pPr>
                      <a:r>
                        <a:rPr lang="en-US" sz="800">
                          <a:latin typeface="Calibri"/>
                          <a:ea typeface="Calibri"/>
                          <a:cs typeface="Calibri"/>
                          <a:sym typeface="Calibri"/>
                        </a:rPr>
                        <a:t>Roles &amp; Responsibilities for Quote to Order</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57150" lvl="0" marL="228600" rtl="0" algn="l">
                        <a:spcBef>
                          <a:spcPts val="0"/>
                        </a:spcBef>
                        <a:spcAft>
                          <a:spcPts val="200"/>
                        </a:spcAft>
                        <a:buNone/>
                      </a:pPr>
                      <a:r>
                        <a:t/>
                      </a:r>
                      <a:endParaRPr sz="800">
                        <a:solidFill>
                          <a:srgbClr val="000000"/>
                        </a:solidFill>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200"/>
                        </a:spcAft>
                        <a:buClr>
                          <a:srgbClr val="ED1E2E"/>
                        </a:buClr>
                        <a:buSzPts val="800"/>
                        <a:buFont typeface="Calibri"/>
                        <a:buChar char="▸"/>
                      </a:pPr>
                      <a:r>
                        <a:rPr lang="en-US" sz="800">
                          <a:latin typeface="Calibri"/>
                          <a:ea typeface="Calibri"/>
                          <a:cs typeface="Calibri"/>
                          <a:sym typeface="Calibri"/>
                        </a:rPr>
                        <a:t>Roles &amp; Responsibilities for Quote to Order</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200"/>
                        </a:spcAft>
                        <a:buClr>
                          <a:srgbClr val="ED1E2E"/>
                        </a:buClr>
                        <a:buSzPts val="800"/>
                        <a:buFont typeface="Calibri"/>
                        <a:buChar char="▸"/>
                      </a:pPr>
                      <a:r>
                        <a:rPr lang="en-US" sz="800">
                          <a:latin typeface="Calibri"/>
                          <a:ea typeface="Calibri"/>
                          <a:cs typeface="Calibri"/>
                          <a:sym typeface="Calibri"/>
                        </a:rPr>
                        <a:t>Roles &amp; Responsibilities for Quote to Order</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200"/>
                        </a:spcAft>
                        <a:buNone/>
                      </a:pPr>
                      <a:r>
                        <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107950" lvl="0" marL="228600" marR="0" rtl="0" algn="l">
                        <a:lnSpc>
                          <a:spcPct val="100000"/>
                        </a:lnSpc>
                        <a:spcBef>
                          <a:spcPts val="0"/>
                        </a:spcBef>
                        <a:spcAft>
                          <a:spcPts val="200"/>
                        </a:spcAft>
                        <a:buClr>
                          <a:srgbClr val="ED1E2E"/>
                        </a:buClr>
                        <a:buSzPts val="800"/>
                        <a:buFont typeface="Calibri"/>
                        <a:buChar char="▸"/>
                      </a:pPr>
                      <a:r>
                        <a:rPr lang="en-US" sz="800">
                          <a:latin typeface="Calibri"/>
                          <a:ea typeface="Calibri"/>
                          <a:cs typeface="Calibri"/>
                          <a:sym typeface="Calibri"/>
                        </a:rPr>
                        <a:t>Change management for any impacted roles</a:t>
                      </a:r>
                      <a:endParaRPr sz="800">
                        <a:latin typeface="Calibri"/>
                        <a:ea typeface="Calibri"/>
                        <a:cs typeface="Calibri"/>
                        <a:sym typeface="Calibri"/>
                      </a:endParaRPr>
                    </a:p>
                  </a:txBody>
                  <a:tcPr marT="27425" marB="27425" marR="27425" marL="27425">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bl>
          </a:graphicData>
        </a:graphic>
      </p:graphicFrame>
      <p:pic>
        <p:nvPicPr>
          <p:cNvPr id="276" name="Google Shape;276;p17"/>
          <p:cNvPicPr preferRelativeResize="0"/>
          <p:nvPr/>
        </p:nvPicPr>
        <p:blipFill>
          <a:blip r:embed="rId3">
            <a:alphaModFix/>
          </a:blip>
          <a:stretch>
            <a:fillRect/>
          </a:stretch>
        </p:blipFill>
        <p:spPr>
          <a:xfrm rot="-5400000">
            <a:off x="2720111" y="651375"/>
            <a:ext cx="412550" cy="412550"/>
          </a:xfrm>
          <a:prstGeom prst="rect">
            <a:avLst/>
          </a:prstGeom>
          <a:noFill/>
          <a:ln>
            <a:noFill/>
          </a:ln>
        </p:spPr>
      </p:pic>
      <p:pic>
        <p:nvPicPr>
          <p:cNvPr id="277" name="Google Shape;277;p17"/>
          <p:cNvPicPr preferRelativeResize="0"/>
          <p:nvPr/>
        </p:nvPicPr>
        <p:blipFill>
          <a:blip r:embed="rId3">
            <a:alphaModFix/>
          </a:blip>
          <a:stretch>
            <a:fillRect/>
          </a:stretch>
        </p:blipFill>
        <p:spPr>
          <a:xfrm rot="-5400000">
            <a:off x="4625111" y="651375"/>
            <a:ext cx="412550" cy="412550"/>
          </a:xfrm>
          <a:prstGeom prst="rect">
            <a:avLst/>
          </a:prstGeom>
          <a:noFill/>
          <a:ln>
            <a:noFill/>
          </a:ln>
        </p:spPr>
      </p:pic>
      <p:pic>
        <p:nvPicPr>
          <p:cNvPr id="278" name="Google Shape;278;p17"/>
          <p:cNvPicPr preferRelativeResize="0"/>
          <p:nvPr/>
        </p:nvPicPr>
        <p:blipFill>
          <a:blip r:embed="rId3">
            <a:alphaModFix/>
          </a:blip>
          <a:stretch>
            <a:fillRect/>
          </a:stretch>
        </p:blipFill>
        <p:spPr>
          <a:xfrm rot="-5400000">
            <a:off x="6530111" y="651375"/>
            <a:ext cx="412550" cy="412550"/>
          </a:xfrm>
          <a:prstGeom prst="rect">
            <a:avLst/>
          </a:prstGeom>
          <a:noFill/>
          <a:ln>
            <a:noFill/>
          </a:ln>
        </p:spPr>
      </p:pic>
      <p:cxnSp>
        <p:nvCxnSpPr>
          <p:cNvPr id="279" name="Google Shape;279;p17"/>
          <p:cNvCxnSpPr/>
          <p:nvPr/>
        </p:nvCxnSpPr>
        <p:spPr>
          <a:xfrm>
            <a:off x="2891527" y="1105840"/>
            <a:ext cx="0" cy="3685800"/>
          </a:xfrm>
          <a:prstGeom prst="straightConnector1">
            <a:avLst/>
          </a:prstGeom>
          <a:noFill/>
          <a:ln cap="flat" cmpd="sng" w="9525">
            <a:solidFill>
              <a:srgbClr val="7F7F7F"/>
            </a:solidFill>
            <a:prstDash val="dot"/>
            <a:round/>
            <a:headEnd len="med" w="med" type="none"/>
            <a:tailEnd len="med" w="med" type="none"/>
          </a:ln>
        </p:spPr>
      </p:cxnSp>
      <p:cxnSp>
        <p:nvCxnSpPr>
          <p:cNvPr id="280" name="Google Shape;280;p17"/>
          <p:cNvCxnSpPr/>
          <p:nvPr/>
        </p:nvCxnSpPr>
        <p:spPr>
          <a:xfrm>
            <a:off x="4796527" y="1105840"/>
            <a:ext cx="0" cy="3685800"/>
          </a:xfrm>
          <a:prstGeom prst="straightConnector1">
            <a:avLst/>
          </a:prstGeom>
          <a:noFill/>
          <a:ln cap="flat" cmpd="sng" w="9525">
            <a:solidFill>
              <a:srgbClr val="7F7F7F"/>
            </a:solidFill>
            <a:prstDash val="dot"/>
            <a:round/>
            <a:headEnd len="med" w="med" type="none"/>
            <a:tailEnd len="med" w="med" type="none"/>
          </a:ln>
        </p:spPr>
      </p:cxnSp>
      <p:cxnSp>
        <p:nvCxnSpPr>
          <p:cNvPr id="281" name="Google Shape;281;p17"/>
          <p:cNvCxnSpPr/>
          <p:nvPr/>
        </p:nvCxnSpPr>
        <p:spPr>
          <a:xfrm>
            <a:off x="6701527" y="1105840"/>
            <a:ext cx="0" cy="3685800"/>
          </a:xfrm>
          <a:prstGeom prst="straightConnector1">
            <a:avLst/>
          </a:prstGeom>
          <a:noFill/>
          <a:ln cap="flat" cmpd="sng" w="9525">
            <a:solidFill>
              <a:srgbClr val="7F7F7F"/>
            </a:solidFill>
            <a:prstDash val="dot"/>
            <a:round/>
            <a:headEnd len="med" w="med" type="none"/>
            <a:tailEnd len="med" w="med" type="none"/>
          </a:ln>
        </p:spPr>
      </p:cxnSp>
      <p:cxnSp>
        <p:nvCxnSpPr>
          <p:cNvPr id="282" name="Google Shape;282;p17"/>
          <p:cNvCxnSpPr/>
          <p:nvPr/>
        </p:nvCxnSpPr>
        <p:spPr>
          <a:xfrm>
            <a:off x="257383" y="2387919"/>
            <a:ext cx="8469900" cy="0"/>
          </a:xfrm>
          <a:prstGeom prst="straightConnector1">
            <a:avLst/>
          </a:prstGeom>
          <a:noFill/>
          <a:ln cap="flat" cmpd="sng" w="9525">
            <a:solidFill>
              <a:srgbClr val="7F7F7F"/>
            </a:solidFill>
            <a:prstDash val="dot"/>
            <a:round/>
            <a:headEnd len="med" w="med" type="none"/>
            <a:tailEnd len="med" w="med" type="none"/>
          </a:ln>
        </p:spPr>
      </p:cxnSp>
      <p:cxnSp>
        <p:nvCxnSpPr>
          <p:cNvPr id="283" name="Google Shape;283;p17"/>
          <p:cNvCxnSpPr/>
          <p:nvPr/>
        </p:nvCxnSpPr>
        <p:spPr>
          <a:xfrm>
            <a:off x="179200" y="3137332"/>
            <a:ext cx="8469900" cy="0"/>
          </a:xfrm>
          <a:prstGeom prst="straightConnector1">
            <a:avLst/>
          </a:prstGeom>
          <a:noFill/>
          <a:ln cap="flat" cmpd="sng" w="9525">
            <a:solidFill>
              <a:srgbClr val="7F7F7F"/>
            </a:solidFill>
            <a:prstDash val="dot"/>
            <a:round/>
            <a:headEnd len="med" w="med" type="none"/>
            <a:tailEnd len="med" w="med" type="none"/>
          </a:ln>
        </p:spPr>
      </p:cxnSp>
      <p:cxnSp>
        <p:nvCxnSpPr>
          <p:cNvPr id="284" name="Google Shape;284;p17"/>
          <p:cNvCxnSpPr/>
          <p:nvPr/>
        </p:nvCxnSpPr>
        <p:spPr>
          <a:xfrm>
            <a:off x="179200" y="4376450"/>
            <a:ext cx="8469900" cy="0"/>
          </a:xfrm>
          <a:prstGeom prst="straightConnector1">
            <a:avLst/>
          </a:prstGeom>
          <a:noFill/>
          <a:ln cap="flat" cmpd="sng" w="9525">
            <a:solidFill>
              <a:srgbClr val="7F7F7F"/>
            </a:solidFill>
            <a:prstDash val="dot"/>
            <a:round/>
            <a:headEnd len="med" w="med" type="none"/>
            <a:tailEnd len="med" w="med" type="none"/>
          </a:ln>
        </p:spPr>
      </p:cxnSp>
      <p:pic>
        <p:nvPicPr>
          <p:cNvPr id="285" name="Google Shape;285;p17"/>
          <p:cNvPicPr preferRelativeResize="0"/>
          <p:nvPr/>
        </p:nvPicPr>
        <p:blipFill>
          <a:blip r:embed="rId4">
            <a:alphaModFix amt="50000"/>
          </a:blip>
          <a:stretch>
            <a:fillRect/>
          </a:stretch>
        </p:blipFill>
        <p:spPr>
          <a:xfrm>
            <a:off x="257376" y="1247462"/>
            <a:ext cx="177650" cy="177650"/>
          </a:xfrm>
          <a:prstGeom prst="rect">
            <a:avLst/>
          </a:prstGeom>
          <a:noFill/>
          <a:ln>
            <a:noFill/>
          </a:ln>
        </p:spPr>
      </p:pic>
      <p:pic>
        <p:nvPicPr>
          <p:cNvPr id="286" name="Google Shape;286;p17"/>
          <p:cNvPicPr preferRelativeResize="0"/>
          <p:nvPr/>
        </p:nvPicPr>
        <p:blipFill>
          <a:blip r:embed="rId5">
            <a:alphaModFix amt="50000"/>
          </a:blip>
          <a:stretch>
            <a:fillRect/>
          </a:stretch>
        </p:blipFill>
        <p:spPr>
          <a:xfrm>
            <a:off x="271153" y="2442563"/>
            <a:ext cx="177650" cy="177650"/>
          </a:xfrm>
          <a:prstGeom prst="rect">
            <a:avLst/>
          </a:prstGeom>
          <a:noFill/>
          <a:ln>
            <a:noFill/>
          </a:ln>
        </p:spPr>
      </p:pic>
      <p:pic>
        <p:nvPicPr>
          <p:cNvPr id="287" name="Google Shape;287;p17"/>
          <p:cNvPicPr preferRelativeResize="0"/>
          <p:nvPr/>
        </p:nvPicPr>
        <p:blipFill>
          <a:blip r:embed="rId6">
            <a:alphaModFix amt="50000"/>
          </a:blip>
          <a:stretch>
            <a:fillRect/>
          </a:stretch>
        </p:blipFill>
        <p:spPr>
          <a:xfrm>
            <a:off x="264517" y="3203962"/>
            <a:ext cx="177650" cy="177650"/>
          </a:xfrm>
          <a:prstGeom prst="rect">
            <a:avLst/>
          </a:prstGeom>
          <a:noFill/>
          <a:ln>
            <a:noFill/>
          </a:ln>
        </p:spPr>
      </p:pic>
      <p:pic>
        <p:nvPicPr>
          <p:cNvPr id="288" name="Google Shape;288;p17"/>
          <p:cNvPicPr preferRelativeResize="0"/>
          <p:nvPr/>
        </p:nvPicPr>
        <p:blipFill>
          <a:blip r:embed="rId7">
            <a:alphaModFix amt="50000"/>
          </a:blip>
          <a:stretch>
            <a:fillRect/>
          </a:stretch>
        </p:blipFill>
        <p:spPr>
          <a:xfrm>
            <a:off x="284902" y="4421722"/>
            <a:ext cx="177650" cy="177650"/>
          </a:xfrm>
          <a:prstGeom prst="rect">
            <a:avLst/>
          </a:prstGeom>
          <a:noFill/>
          <a:ln>
            <a:noFill/>
          </a:ln>
        </p:spPr>
      </p:pic>
      <p:cxnSp>
        <p:nvCxnSpPr>
          <p:cNvPr id="289" name="Google Shape;289;p17"/>
          <p:cNvCxnSpPr/>
          <p:nvPr/>
        </p:nvCxnSpPr>
        <p:spPr>
          <a:xfrm>
            <a:off x="257383" y="1112425"/>
            <a:ext cx="8469900" cy="0"/>
          </a:xfrm>
          <a:prstGeom prst="straightConnector1">
            <a:avLst/>
          </a:prstGeom>
          <a:noFill/>
          <a:ln cap="flat" cmpd="sng" w="9525">
            <a:solidFill>
              <a:srgbClr val="7F7F7F"/>
            </a:solidFill>
            <a:prstDash val="dot"/>
            <a:round/>
            <a:headEnd len="med" w="med" type="none"/>
            <a:tailEnd len="med" w="med" type="none"/>
          </a:ln>
        </p:spPr>
      </p:cxnSp>
      <p:cxnSp>
        <p:nvCxnSpPr>
          <p:cNvPr id="290" name="Google Shape;290;p17"/>
          <p:cNvCxnSpPr/>
          <p:nvPr/>
        </p:nvCxnSpPr>
        <p:spPr>
          <a:xfrm>
            <a:off x="1009625" y="653850"/>
            <a:ext cx="0" cy="4137900"/>
          </a:xfrm>
          <a:prstGeom prst="straightConnector1">
            <a:avLst/>
          </a:prstGeom>
          <a:noFill/>
          <a:ln cap="flat" cmpd="sng" w="9525">
            <a:solidFill>
              <a:srgbClr val="7F7F7F"/>
            </a:solidFill>
            <a:prstDash val="dot"/>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8"/>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sz="2000">
                <a:solidFill>
                  <a:srgbClr val="21A0DD"/>
                </a:solidFill>
                <a:latin typeface="Montserrat"/>
                <a:ea typeface="Montserrat"/>
                <a:cs typeface="Montserrat"/>
                <a:sym typeface="Montserrat"/>
              </a:rPr>
              <a:t>Capability Map</a:t>
            </a:r>
            <a:endParaRPr sz="2000">
              <a:solidFill>
                <a:srgbClr val="21A0DD"/>
              </a:solidFill>
              <a:latin typeface="Montserrat"/>
              <a:ea typeface="Montserrat"/>
              <a:cs typeface="Montserrat"/>
              <a:sym typeface="Montserrat"/>
            </a:endParaRPr>
          </a:p>
        </p:txBody>
      </p:sp>
      <p:graphicFrame>
        <p:nvGraphicFramePr>
          <p:cNvPr id="297" name="Google Shape;297;p18"/>
          <p:cNvGraphicFramePr/>
          <p:nvPr/>
        </p:nvGraphicFramePr>
        <p:xfrm>
          <a:off x="101556" y="925044"/>
          <a:ext cx="3000000" cy="3000000"/>
        </p:xfrm>
        <a:graphic>
          <a:graphicData uri="http://schemas.openxmlformats.org/drawingml/2006/table">
            <a:tbl>
              <a:tblPr>
                <a:noFill/>
                <a:tableStyleId>{C507A6E1-4639-4C93-A315-86B896DA5E4F}</a:tableStyleId>
              </a:tblPr>
              <a:tblGrid>
                <a:gridCol w="494325"/>
                <a:gridCol w="472600"/>
                <a:gridCol w="448550"/>
                <a:gridCol w="458100"/>
                <a:gridCol w="458100"/>
                <a:gridCol w="462550"/>
                <a:gridCol w="480700"/>
                <a:gridCol w="458100"/>
                <a:gridCol w="458100"/>
                <a:gridCol w="458100"/>
                <a:gridCol w="458100"/>
                <a:gridCol w="458100"/>
                <a:gridCol w="507900"/>
                <a:gridCol w="480700"/>
                <a:gridCol w="458100"/>
                <a:gridCol w="511950"/>
                <a:gridCol w="408700"/>
                <a:gridCol w="458100"/>
                <a:gridCol w="458100"/>
              </a:tblGrid>
              <a:tr h="16150">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Campaign 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spcBef>
                          <a:spcPts val="0"/>
                        </a:spcBef>
                        <a:spcAft>
                          <a:spcPts val="0"/>
                        </a:spcAft>
                        <a:buNone/>
                      </a:pPr>
                      <a:r>
                        <a:rPr b="1" lang="en-US" sz="650">
                          <a:solidFill>
                            <a:srgbClr val="FFFFFF"/>
                          </a:solidFill>
                          <a:latin typeface="Calibri"/>
                          <a:ea typeface="Calibri"/>
                          <a:cs typeface="Calibri"/>
                          <a:sym typeface="Calibri"/>
                        </a:rPr>
                        <a:t>Lead </a:t>
                      </a:r>
                      <a:endParaRPr b="1" sz="650">
                        <a:solidFill>
                          <a:srgbClr val="FFFFFF"/>
                        </a:solidFill>
                        <a:latin typeface="Calibri"/>
                        <a:ea typeface="Calibri"/>
                        <a:cs typeface="Calibri"/>
                        <a:sym typeface="Calibri"/>
                      </a:endParaRPr>
                    </a:p>
                    <a:p>
                      <a:pPr indent="0" lvl="0" marL="0" rtl="0" algn="ctr">
                        <a:spcBef>
                          <a:spcPts val="0"/>
                        </a:spcBef>
                        <a:spcAft>
                          <a:spcPts val="0"/>
                        </a:spcAft>
                        <a:buNone/>
                      </a:pPr>
                      <a:r>
                        <a:rPr b="1" lang="en-US" sz="650">
                          <a:solidFill>
                            <a:srgbClr val="FFFFFF"/>
                          </a:solidFill>
                          <a:latin typeface="Calibri"/>
                          <a:ea typeface="Calibri"/>
                          <a:cs typeface="Calibri"/>
                          <a:sym typeface="Calibri"/>
                        </a:rPr>
                        <a:t>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Account 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Oppty. 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Quote</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Product Config.</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Price</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Approve</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spcBef>
                          <a:spcPts val="0"/>
                        </a:spcBef>
                        <a:spcAft>
                          <a:spcPts val="0"/>
                        </a:spcAft>
                        <a:buNone/>
                      </a:pPr>
                      <a:r>
                        <a:rPr b="1" lang="en-US" sz="650">
                          <a:solidFill>
                            <a:srgbClr val="FFFFFF"/>
                          </a:solidFill>
                          <a:latin typeface="Calibri"/>
                          <a:ea typeface="Calibri"/>
                          <a:cs typeface="Calibri"/>
                          <a:sym typeface="Calibri"/>
                        </a:rPr>
                        <a:t>Proposal /</a:t>
                      </a:r>
                      <a:endParaRPr b="1" sz="650">
                        <a:solidFill>
                          <a:srgbClr val="FFFFFF"/>
                        </a:solidFill>
                        <a:latin typeface="Calibri"/>
                        <a:ea typeface="Calibri"/>
                        <a:cs typeface="Calibri"/>
                        <a:sym typeface="Calibri"/>
                      </a:endParaRPr>
                    </a:p>
                    <a:p>
                      <a:pPr indent="0" lvl="0" marL="0" rtl="0" algn="ctr">
                        <a:spcBef>
                          <a:spcPts val="0"/>
                        </a:spcBef>
                        <a:spcAft>
                          <a:spcPts val="0"/>
                        </a:spcAft>
                        <a:buNone/>
                      </a:pPr>
                      <a:r>
                        <a:rPr b="1" lang="en-US" sz="650">
                          <a:solidFill>
                            <a:srgbClr val="FFFFFF"/>
                          </a:solidFill>
                          <a:latin typeface="Calibri"/>
                          <a:ea typeface="Calibri"/>
                          <a:cs typeface="Calibri"/>
                          <a:sym typeface="Calibri"/>
                        </a:rPr>
                        <a:t>Quote Document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Contract Mgmt. </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spcBef>
                          <a:spcPts val="0"/>
                        </a:spcBef>
                        <a:spcAft>
                          <a:spcPts val="0"/>
                        </a:spcAft>
                        <a:buNone/>
                      </a:pPr>
                      <a:r>
                        <a:rPr b="1" lang="en-US" sz="650">
                          <a:solidFill>
                            <a:srgbClr val="FFFFFF"/>
                          </a:solidFill>
                          <a:latin typeface="Calibri"/>
                          <a:ea typeface="Calibri"/>
                          <a:cs typeface="Calibri"/>
                          <a:sym typeface="Calibri"/>
                        </a:rPr>
                        <a:t>Manage </a:t>
                      </a:r>
                      <a:endParaRPr b="1" sz="650">
                        <a:solidFill>
                          <a:srgbClr val="FFFFFF"/>
                        </a:solidFill>
                        <a:latin typeface="Calibri"/>
                        <a:ea typeface="Calibri"/>
                        <a:cs typeface="Calibri"/>
                        <a:sym typeface="Calibri"/>
                      </a:endParaRPr>
                    </a:p>
                    <a:p>
                      <a:pPr indent="0" lvl="0" marL="0" rtl="0" algn="ctr">
                        <a:spcBef>
                          <a:spcPts val="0"/>
                        </a:spcBef>
                        <a:spcAft>
                          <a:spcPts val="0"/>
                        </a:spcAft>
                        <a:buNone/>
                      </a:pPr>
                      <a:r>
                        <a:rPr b="1" lang="en-US" sz="650">
                          <a:solidFill>
                            <a:srgbClr val="FFFFFF"/>
                          </a:solidFill>
                          <a:latin typeface="Calibri"/>
                          <a:ea typeface="Calibri"/>
                          <a:cs typeface="Calibri"/>
                          <a:sym typeface="Calibri"/>
                        </a:rPr>
                        <a:t>Order </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Fulfill </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Revenue 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Billing &amp; Invoicing</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Payments / Collections</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Case 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SLAs</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spcBef>
                          <a:spcPts val="0"/>
                        </a:spcBef>
                        <a:spcAft>
                          <a:spcPts val="0"/>
                        </a:spcAft>
                        <a:buNone/>
                      </a:pPr>
                      <a:r>
                        <a:rPr b="1" lang="en-US" sz="650">
                          <a:solidFill>
                            <a:srgbClr val="FFFFFF"/>
                          </a:solidFill>
                          <a:latin typeface="Calibri"/>
                          <a:ea typeface="Calibri"/>
                          <a:cs typeface="Calibri"/>
                          <a:sym typeface="Calibri"/>
                        </a:rPr>
                        <a:t>Knowledge </a:t>
                      </a:r>
                      <a:endParaRPr b="1" sz="650">
                        <a:solidFill>
                          <a:srgbClr val="FFFFFF"/>
                        </a:solidFill>
                        <a:latin typeface="Calibri"/>
                        <a:ea typeface="Calibri"/>
                        <a:cs typeface="Calibri"/>
                        <a:sym typeface="Calibri"/>
                      </a:endParaRPr>
                    </a:p>
                    <a:p>
                      <a:pPr indent="0" lvl="0" marL="0" rtl="0" algn="ctr">
                        <a:spcBef>
                          <a:spcPts val="0"/>
                        </a:spcBef>
                        <a:spcAft>
                          <a:spcPts val="0"/>
                        </a:spcAft>
                        <a:buNone/>
                      </a:pPr>
                      <a:r>
                        <a:rPr b="1" lang="en-US" sz="650">
                          <a:solidFill>
                            <a:srgbClr val="FFFFFF"/>
                          </a:solidFill>
                          <a:latin typeface="Calibri"/>
                          <a:ea typeface="Calibri"/>
                          <a:cs typeface="Calibri"/>
                          <a:sym typeface="Calibri"/>
                        </a:rPr>
                        <a:t>Mgmt.</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c rowSpan="2">
                  <a:txBody>
                    <a:bodyPr/>
                    <a:lstStyle/>
                    <a:p>
                      <a:pPr indent="0" lvl="0" marL="0" rtl="0" algn="ctr">
                        <a:lnSpc>
                          <a:spcPct val="100000"/>
                        </a:lnSpc>
                        <a:spcBef>
                          <a:spcPts val="0"/>
                        </a:spcBef>
                        <a:spcAft>
                          <a:spcPts val="0"/>
                        </a:spcAft>
                        <a:buNone/>
                      </a:pPr>
                      <a:r>
                        <a:rPr b="1" lang="en-US" sz="650">
                          <a:solidFill>
                            <a:srgbClr val="FFFFFF"/>
                          </a:solidFill>
                          <a:latin typeface="Calibri"/>
                          <a:ea typeface="Calibri"/>
                          <a:cs typeface="Calibri"/>
                          <a:sym typeface="Calibri"/>
                        </a:rPr>
                        <a:t>Interaction Channels</a:t>
                      </a:r>
                      <a:endParaRPr b="1" sz="650">
                        <a:solidFill>
                          <a:srgbClr val="FFFFFF"/>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B6097"/>
                    </a:solidFill>
                  </a:tcPr>
                </a:tc>
              </a:tr>
              <a:tr h="297825">
                <a:tc vMerge="1"/>
                <a:tc vMerge="1"/>
                <a:tc vMerge="1"/>
                <a:tc vMerge="1"/>
                <a:tc vMerge="1"/>
                <a:tc vMerge="1"/>
                <a:tc vMerge="1"/>
                <a:tc vMerge="1"/>
                <a:tc vMerge="1"/>
                <a:tc vMerge="1"/>
                <a:tc vMerge="1"/>
                <a:tc vMerge="1"/>
                <a:tc vMerge="1"/>
                <a:tc vMerge="1"/>
                <a:tc vMerge="1"/>
                <a:tc vMerge="1"/>
                <a:tc vMerge="1"/>
                <a:tc vMerge="1"/>
                <a:tc vMerge="1"/>
              </a:tr>
              <a:tr h="30625">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Marketing Automation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Accept Lead</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a:t>
                      </a:r>
                      <a:endParaRPr sz="650">
                        <a:solidFill>
                          <a:srgbClr val="0C343D"/>
                        </a:solidFill>
                        <a:latin typeface="Calibri"/>
                        <a:ea typeface="Calibri"/>
                        <a:cs typeface="Calibri"/>
                        <a:sym typeface="Calibri"/>
                      </a:endParaRPr>
                    </a:p>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Account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Opportunity</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Manage Quote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New Product</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 Introduction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List Price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Pricing-</a:t>
                      </a:r>
                      <a:endParaRPr sz="650">
                        <a:solidFill>
                          <a:srgbClr val="0C343D"/>
                        </a:solidFill>
                        <a:latin typeface="Calibri"/>
                        <a:ea typeface="Calibri"/>
                        <a:cs typeface="Calibri"/>
                        <a:sym typeface="Calibri"/>
                      </a:endParaRPr>
                    </a:p>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Based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Document Templates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Contract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Order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License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Activation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Process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Contract Combination &amp; Modification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Invoice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Management</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PrePayments</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/Deposit Mgmt.</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Case Creation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Standard SLAs Config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Knowledge Base</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Web to Case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(Automatic)</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223375">
                <a:tc vMerge="1"/>
                <a:tc vMerge="1"/>
                <a:tc vMerge="1"/>
                <a:tc vMerge="1"/>
                <a:tc vMerge="1"/>
                <a:tc vMerge="1"/>
                <a:tc vMerge="1"/>
                <a:tc vMerge="1"/>
                <a:tc vMerge="1"/>
                <a:tc vMerge="1"/>
                <a:tc vMerge="1"/>
                <a:tc vMerge="1"/>
                <a:tc vMerge="1"/>
                <a:tc vMerge="1"/>
                <a:tc vMerge="1"/>
                <a:tc vMerge="1"/>
                <a:tc vMerge="1"/>
                <a:tc vMerge="1"/>
                <a:tc vMerge="1"/>
              </a:tr>
              <a:tr h="75900">
                <a:tc vMerge="1"/>
                <a:tc vMerge="1"/>
                <a:tc vMerge="1"/>
                <a:tc vMerge="1"/>
                <a:tc vMerge="1"/>
                <a:tc vMerge="1"/>
                <a:tc vMerge="1"/>
                <a:tc vMerge="1"/>
                <a:tc vMerge="1"/>
                <a:tc vMerge="1"/>
                <a:tc vMerge="1"/>
                <a:tc vMerge="1"/>
                <a:tc vMerge="1"/>
                <a:tc vMerge="1"/>
                <a:tc vMerge="1"/>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Case Assignment/ Routing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Advanced SLAs Config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FAQs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Email to Case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(Automatic)</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125200">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Campaign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Reject Lead</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Contacts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Manage Opportunity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Capture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Quote Information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Product Mgmt.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Customer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Specific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Pricing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Product-</a:t>
                      </a:r>
                      <a:endParaRPr sz="650">
                        <a:solidFill>
                          <a:srgbClr val="0C343D"/>
                        </a:solidFill>
                        <a:latin typeface="Calibri"/>
                        <a:ea typeface="Calibri"/>
                        <a:cs typeface="Calibri"/>
                        <a:sym typeface="Calibri"/>
                      </a:endParaRPr>
                    </a:p>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Based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Manage Documents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Red-Lining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Order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Validation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Fulfill Order Integration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Performance Obligation Identification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Tax Calculation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Customer Payments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vMerge="1"/>
                <a:tc vMerge="1"/>
                <a:tc vMerge="1"/>
                <a:tc vMerge="1"/>
              </a:tr>
              <a:tr h="30625">
                <a:tc vMerge="1"/>
                <a:tc vMerge="1"/>
                <a:tc vMerge="1"/>
                <a:tc vMerge="1"/>
                <a:tc vMerge="1"/>
                <a:tc vMerge="1"/>
                <a:tc vMerge="1"/>
                <a:tc vMerge="1"/>
                <a:tc vMerge="1"/>
                <a:tc vMerge="1"/>
                <a:tc vMerge="1"/>
                <a:tc vMerge="1"/>
                <a:tc vMerge="1"/>
                <a:tc vMerge="1"/>
                <a:tc vMerge="1"/>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Case Escalation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Service Entitle-</a:t>
                      </a:r>
                      <a:endParaRPr sz="650">
                        <a:solidFill>
                          <a:srgbClr val="0C343D"/>
                        </a:solidFill>
                        <a:latin typeface="Calibri"/>
                        <a:ea typeface="Calibri"/>
                        <a:cs typeface="Calibri"/>
                        <a:sym typeface="Calibri"/>
                      </a:endParaRPr>
                    </a:p>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ments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Article Publishing </a:t>
                      </a:r>
                      <a:endParaRPr sz="650">
                        <a:solidFill>
                          <a:srgbClr val="0C343D"/>
                        </a:solidFill>
                        <a:latin typeface="Calibri"/>
                        <a:ea typeface="Calibri"/>
                        <a:cs typeface="Calibri"/>
                        <a:sym typeface="Calibri"/>
                      </a:endParaRPr>
                    </a:p>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and Review</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Phone to Case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(Manual)</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61150">
                <a:tc vMerge="1"/>
                <a:tc vMerge="1"/>
                <a:tc vMerge="1"/>
                <a:tc vMerge="1"/>
                <a:tc vMerge="1"/>
                <a:tc vMerge="1"/>
                <a:tc vMerge="1"/>
                <a:tc vMerge="1"/>
                <a:tc vMerge="1"/>
                <a:tc vMerge="1"/>
                <a:tc vMerge="1"/>
                <a:tc vMerge="1"/>
                <a:tc vMerge="1"/>
                <a:tc vMerge="1"/>
                <a:tc vMerge="1"/>
                <a:tc vMerge="1"/>
                <a:tc vMerge="1"/>
                <a:tc vMerge="1"/>
                <a:tc vMerge="1"/>
              </a:tr>
              <a:tr h="30625">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Lead Generation / Assessment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Lead Conversion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Manage Account</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Contact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Opportunity to Quote Sync</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 Quotes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Manage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Bundles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Config.-Based Pricing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Terms-Based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Terms and Conditions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Manage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Clause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Library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Create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Install Base</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Prof. Serv. Fulfillment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Transaction Price &amp; Selling Price Determination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Consolidated Billing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Report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on AR</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Case Resolution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Suggest Knowledge Articles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Chat to Case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(Manual)</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61150">
                <a:tc vMerge="1"/>
                <a:tc vMerge="1"/>
                <a:tc vMerge="1"/>
                <a:tc vMerge="1"/>
                <a:tc vMerge="1"/>
                <a:tc vMerge="1"/>
                <a:tc vMerge="1"/>
                <a:tc vMerge="1"/>
                <a:tc vMerge="1"/>
                <a:tc vMerge="1"/>
                <a:tc vMerge="1"/>
                <a:tc vMerge="1"/>
                <a:tc vMerge="1"/>
                <a:tc vMerge="1"/>
                <a:tc vMerge="1"/>
                <a:tc vMerge="1"/>
                <a:tc vMerge="1"/>
                <a:tc vMerge="1"/>
                <a:tc vMerge="1"/>
              </a:tr>
              <a:tr h="91775">
                <a:tc vMerge="1"/>
                <a:tc vMerge="1"/>
                <a:tc vMerge="1"/>
                <a:tc vMerge="1"/>
                <a:tc vMerge="1"/>
                <a:tc vMerge="1"/>
                <a:tc vMerge="1"/>
                <a:tc vMerge="1"/>
                <a:tc vMerge="1"/>
                <a:tc vMerge="1"/>
                <a:tc vMerge="1"/>
                <a:tc vMerge="1"/>
                <a:tc vMerge="1"/>
                <a:tc vMerge="1"/>
                <a:tc v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Case Email Auto-Response</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Multilingual Knowledge</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Third Party Channel Routing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91775">
                <a:tc rowSpan="1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Lead Routing / Assignment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Manage Partner Accounts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Opportunity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Quote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Types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Product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Rules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Volume-Based Pricing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E-Signature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Contract Approvals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Submit</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Order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Delivery and Provisioning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Revenue Recognition &amp; Allocation Rules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Credit Card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Payment Processing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Customer Disputes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Queue Management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Social Customer Service</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61175">
                <a:tc vMerge="1"/>
                <a:tc vMerge="1"/>
                <a:tc vMerge="1"/>
                <a:tc vMerge="1"/>
                <a:tc vMerge="1"/>
                <a:tc vMerge="1"/>
                <a:tc vMerge="1"/>
                <a:tc vMerge="1"/>
                <a:tc vMerge="1"/>
                <a:tc vMerge="1"/>
                <a:tc vMerge="1"/>
                <a:tc vMerge="1"/>
                <a:tc vMerge="1"/>
                <a:tc vMerge="1"/>
                <a:tc v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Email Templates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Live Agent Web Chat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r>
              <a:tr h="30600">
                <a:tc vMerge="1"/>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Lead Integration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Territory Mgmt.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Credit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Mgmt.</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Create</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 Project</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Product Config.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Terms-Based Pricing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Manage Approvals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Renewal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Quote Doc</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E-Signature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 Order</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Entitlement Account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Contract Cost Capitalize &amp; Amortization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 Invoice</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Credit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Memos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Call Center</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37600">
                <a:tc vMerge="1"/>
                <a:tc vMerge="1"/>
                <a:tc vMerge="1"/>
                <a:tc vMerge="1"/>
                <a:tc vMerge="1"/>
                <a:tc vMerge="1"/>
                <a:tc vMerge="1"/>
                <a:tc vMerge="1"/>
                <a:tc vMerge="1"/>
                <a:tc vMerge="1"/>
                <a:tc vMerge="1"/>
                <a:tc vMerge="1"/>
                <a:tc vMerge="1"/>
                <a:tc vMerge="1"/>
                <a:tc v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CTI Integration</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vMerge="1"/>
                <a:tc vMerge="1"/>
                <a:tc vMerge="1"/>
              </a:tr>
              <a:tr h="30625">
                <a:tc vMerge="1"/>
                <a:tc vMerge="1"/>
                <a:tc vMerge="1"/>
                <a:tc vMerge="1"/>
                <a:tc vMerge="1"/>
                <a:tc vMerge="1"/>
                <a:tc vMerge="1"/>
                <a:tc vMerge="1"/>
                <a:tc vMerge="1"/>
                <a:tc vMerge="1"/>
                <a:tc vMerge="1"/>
                <a:tc vMerge="1"/>
                <a:tc vMerge="1"/>
                <a:tc vMerge="1"/>
                <a:tc v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Call Scripting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vMerge="1"/>
                <a:tc vMerge="1"/>
                <a:tc vMerge="1"/>
              </a:tr>
              <a:tr h="30625">
                <a:tc vMerge="1"/>
                <a:tc rowSpan="3">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Pipeline and Quota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Close </a:t>
                      </a:r>
                      <a:endParaRPr sz="650">
                        <a:solidFill>
                          <a:srgbClr val="0C343D"/>
                        </a:solidFill>
                        <a:latin typeface="Calibri"/>
                        <a:ea typeface="Calibri"/>
                        <a:cs typeface="Calibri"/>
                        <a:sym typeface="Calibri"/>
                      </a:endParaRPr>
                    </a:p>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Opportunity</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Costing for Quotations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Guided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Selling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Promotions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Quote to Order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Contract Repository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Process Order</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Entitlement Delivery and Reporting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Revenue Reporting &amp; Disclosure Req.</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Consumption Metering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Dunning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725">
                <a:tc vMerge="1"/>
                <a:tc vMerge="1"/>
                <a:tc vMerge="1"/>
                <a:tc vMerge="1"/>
                <a:tc vMerge="1"/>
                <a:tc vMerge="1"/>
                <a:tc vMerge="1"/>
                <a:tc vMerge="1"/>
                <a:tc vMerge="1"/>
                <a:tc vMerge="1"/>
                <a:tc vMerge="1"/>
                <a:tc vMerge="1"/>
                <a:tc vMerge="1"/>
                <a:tc vMerge="1"/>
                <a:tc vMerge="1"/>
                <a:tc vMerge="1"/>
                <a:tc vMerge="1"/>
                <a:tc vMerge="1"/>
                <a:tc vMerge="1"/>
              </a:tr>
              <a:tr h="122350">
                <a:tc vMerge="1"/>
                <a:tc v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Forecasting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 Opportunity</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Cross Sell / Up Sell</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Discretionary Discounts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Non Standard Contract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Change / Cancel Order</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Customer Onboarding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Revenue Forecasting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Collections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1175">
                <a:tc vMerge="1"/>
                <a:tc gridSpan="5">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hMerge="1"/>
                <a:tc hMerge="1"/>
                <a:tc hMerge="1"/>
                <a:tc h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Renewals Pricing</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Credit Mgmt.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Customer Support</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Payment Receipts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3075">
                <a:tc vMerge="1"/>
                <a:tc gridSpan="5"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hMerge="1"/>
                <a:tc rowSpan="2" hMerge="1"/>
                <a:tc rowSpan="2" hMerge="1"/>
                <a:tc rowSpan="2" hMerge="1"/>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Multi-</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Currency</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EDI</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rowSpan="2">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rowSpan="2">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38100">
                <a:tc vMerge="1"/>
                <a:tc gridSpan="5" vMerge="1"/>
                <a:tc hMerge="1" vMerge="1"/>
                <a:tc hMerge="1" vMerge="1"/>
                <a:tc hMerge="1" vMerge="1"/>
                <a:tc hMerge="1" vMerge="1"/>
                <a:tc vMerge="1"/>
                <a:tc vMerge="1"/>
                <a:tc vMerge="1"/>
                <a:tc vMerge="1"/>
                <a:tc vMerge="1"/>
                <a:tc vMerge="1"/>
                <a:tc vMerge="1"/>
                <a:tc vMerge="1"/>
                <a:tc vMerge="1"/>
                <a:tc vMerge="1"/>
                <a:tc vMerge="1"/>
                <a:tc vMerge="1"/>
                <a:tc vMerge="1"/>
              </a:tr>
              <a:tr h="150675">
                <a:tc vMerge="1"/>
                <a:tc gridSpan="5">
                  <a:txBody>
                    <a:bodyPr/>
                    <a:lstStyle/>
                    <a:p>
                      <a:pPr indent="0" lvl="0" marL="0" rtl="0" algn="ctr">
                        <a:spcBef>
                          <a:spcPts val="0"/>
                        </a:spcBef>
                        <a:spcAft>
                          <a:spcPts val="0"/>
                        </a:spcAft>
                        <a:buNone/>
                      </a:pPr>
                      <a:r>
                        <a:rPr lang="en-US" sz="650">
                          <a:solidFill>
                            <a:srgbClr val="0C343D"/>
                          </a:solidFill>
                          <a:latin typeface="Calibri"/>
                          <a:ea typeface="Calibri"/>
                          <a:cs typeface="Calibri"/>
                          <a:sym typeface="Calibri"/>
                        </a:rPr>
                        <a:t>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hMerge="1"/>
                <a:tc hMerge="1"/>
                <a:tc hMerge="1"/>
                <a:tc hMerge="1"/>
                <a:tc>
                  <a:txBody>
                    <a:bodyPr/>
                    <a:lstStyle/>
                    <a:p>
                      <a:pPr indent="0" lvl="0" marL="0" rtl="0" algn="ctr">
                        <a:lnSpc>
                          <a:spcPct val="100000"/>
                        </a:lnSpc>
                        <a:spcBef>
                          <a:spcPts val="0"/>
                        </a:spcBef>
                        <a:spcAft>
                          <a:spcPts val="0"/>
                        </a:spcAft>
                        <a:buNone/>
                      </a:pPr>
                      <a:r>
                        <a:rPr lang="en-US" sz="650">
                          <a:solidFill>
                            <a:srgbClr val="0C343D"/>
                          </a:solidFill>
                          <a:latin typeface="Calibri"/>
                          <a:ea typeface="Calibri"/>
                          <a:cs typeface="Calibri"/>
                          <a:sym typeface="Calibri"/>
                        </a:rPr>
                        <a:t>Commissions</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650">
                        <a:solidFill>
                          <a:srgbClr val="0C343D"/>
                        </a:solidFill>
                        <a:latin typeface="Calibri"/>
                        <a:ea typeface="Calibri"/>
                        <a:cs typeface="Calibri"/>
                        <a:sym typeface="Calibri"/>
                      </a:endParaRPr>
                    </a:p>
                  </a:txBody>
                  <a:tcPr marT="0" marB="0" marR="0"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grpSp>
        <p:nvGrpSpPr>
          <p:cNvPr id="298" name="Google Shape;298;p18"/>
          <p:cNvGrpSpPr/>
          <p:nvPr/>
        </p:nvGrpSpPr>
        <p:grpSpPr>
          <a:xfrm>
            <a:off x="101556" y="762000"/>
            <a:ext cx="8848975" cy="162875"/>
            <a:chOff x="147500" y="678744"/>
            <a:chExt cx="8848975" cy="162875"/>
          </a:xfrm>
        </p:grpSpPr>
        <p:sp>
          <p:nvSpPr>
            <p:cNvPr id="299" name="Google Shape;299;p18"/>
            <p:cNvSpPr/>
            <p:nvPr/>
          </p:nvSpPr>
          <p:spPr>
            <a:xfrm>
              <a:off x="7134975" y="679019"/>
              <a:ext cx="18615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Customer Success</a:t>
              </a:r>
              <a:endParaRPr b="1" sz="750">
                <a:solidFill>
                  <a:srgbClr val="FFFFFF"/>
                </a:solidFill>
                <a:latin typeface="Montserrat"/>
                <a:ea typeface="Montserrat"/>
                <a:cs typeface="Montserrat"/>
                <a:sym typeface="Montserrat"/>
              </a:endParaRPr>
            </a:p>
          </p:txBody>
        </p:sp>
        <p:sp>
          <p:nvSpPr>
            <p:cNvPr id="300" name="Google Shape;300;p18"/>
            <p:cNvSpPr/>
            <p:nvPr/>
          </p:nvSpPr>
          <p:spPr>
            <a:xfrm>
              <a:off x="5609175" y="679019"/>
              <a:ext cx="16233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 Billing and Invoicing</a:t>
              </a:r>
              <a:endParaRPr b="1" sz="750">
                <a:solidFill>
                  <a:srgbClr val="FFFFFF"/>
                </a:solidFill>
                <a:latin typeface="Montserrat"/>
                <a:ea typeface="Montserrat"/>
                <a:cs typeface="Montserrat"/>
                <a:sym typeface="Montserrat"/>
              </a:endParaRPr>
            </a:p>
          </p:txBody>
        </p:sp>
        <p:sp>
          <p:nvSpPr>
            <p:cNvPr id="301" name="Google Shape;301;p18"/>
            <p:cNvSpPr/>
            <p:nvPr/>
          </p:nvSpPr>
          <p:spPr>
            <a:xfrm>
              <a:off x="4796725" y="679019"/>
              <a:ext cx="9918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Order to Fulfill</a:t>
              </a:r>
              <a:endParaRPr b="1" sz="750">
                <a:solidFill>
                  <a:srgbClr val="FFFFFF"/>
                </a:solidFill>
                <a:latin typeface="Montserrat"/>
                <a:ea typeface="Montserrat"/>
                <a:cs typeface="Montserrat"/>
                <a:sym typeface="Montserrat"/>
              </a:endParaRPr>
            </a:p>
          </p:txBody>
        </p:sp>
        <p:sp>
          <p:nvSpPr>
            <p:cNvPr id="302" name="Google Shape;302;p18"/>
            <p:cNvSpPr/>
            <p:nvPr/>
          </p:nvSpPr>
          <p:spPr>
            <a:xfrm>
              <a:off x="3882575" y="679019"/>
              <a:ext cx="9918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CLM</a:t>
              </a:r>
              <a:endParaRPr b="1" sz="750">
                <a:solidFill>
                  <a:srgbClr val="FFFFFF"/>
                </a:solidFill>
                <a:latin typeface="Montserrat"/>
                <a:ea typeface="Montserrat"/>
                <a:cs typeface="Montserrat"/>
                <a:sym typeface="Montserrat"/>
              </a:endParaRPr>
            </a:p>
          </p:txBody>
        </p:sp>
        <p:sp>
          <p:nvSpPr>
            <p:cNvPr id="303" name="Google Shape;303;p18"/>
            <p:cNvSpPr/>
            <p:nvPr/>
          </p:nvSpPr>
          <p:spPr>
            <a:xfrm>
              <a:off x="1114425" y="679019"/>
              <a:ext cx="28461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Opportunity &amp; Quote</a:t>
              </a:r>
              <a:endParaRPr b="1" sz="750">
                <a:solidFill>
                  <a:srgbClr val="FFFFFF"/>
                </a:solidFill>
                <a:latin typeface="Montserrat"/>
                <a:ea typeface="Montserrat"/>
                <a:cs typeface="Montserrat"/>
                <a:sym typeface="Montserrat"/>
              </a:endParaRPr>
            </a:p>
          </p:txBody>
        </p:sp>
        <p:sp>
          <p:nvSpPr>
            <p:cNvPr id="304" name="Google Shape;304;p18"/>
            <p:cNvSpPr/>
            <p:nvPr/>
          </p:nvSpPr>
          <p:spPr>
            <a:xfrm>
              <a:off x="147500" y="678744"/>
              <a:ext cx="1037400" cy="162600"/>
            </a:xfrm>
            <a:prstGeom prst="homePlate">
              <a:avLst>
                <a:gd fmla="val 50000" name="adj"/>
              </a:avLst>
            </a:prstGeom>
            <a:gradFill>
              <a:gsLst>
                <a:gs pos="0">
                  <a:srgbClr val="21A0DD"/>
                </a:gs>
                <a:gs pos="100000">
                  <a:srgbClr val="0B5394"/>
                </a:gs>
              </a:gsLst>
              <a:lin ang="0"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50">
                  <a:solidFill>
                    <a:srgbClr val="FFFFFF"/>
                  </a:solidFill>
                  <a:latin typeface="Montserrat"/>
                  <a:ea typeface="Montserrat"/>
                  <a:cs typeface="Montserrat"/>
                  <a:sym typeface="Montserrat"/>
                </a:rPr>
                <a:t>Lead Gen</a:t>
              </a:r>
              <a:endParaRPr b="1" sz="750">
                <a:solidFill>
                  <a:srgbClr val="FFFFFF"/>
                </a:solidFill>
                <a:latin typeface="Montserrat"/>
                <a:ea typeface="Montserrat"/>
                <a:cs typeface="Montserrat"/>
                <a:sym typeface="Montserra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sz="2000">
                <a:solidFill>
                  <a:srgbClr val="21A0DD"/>
                </a:solidFill>
                <a:latin typeface="Montserrat"/>
                <a:ea typeface="Montserrat"/>
                <a:cs typeface="Montserrat"/>
                <a:sym typeface="Montserrat"/>
              </a:rPr>
              <a:t>Discovery, Analysis &amp; Recommendations</a:t>
            </a:r>
            <a:endParaRPr sz="2000">
              <a:solidFill>
                <a:srgbClr val="21A0DD"/>
              </a:solidFill>
              <a:latin typeface="Montserrat"/>
              <a:ea typeface="Montserrat"/>
              <a:cs typeface="Montserrat"/>
              <a:sym typeface="Montserrat"/>
            </a:endParaRPr>
          </a:p>
        </p:txBody>
      </p:sp>
      <p:graphicFrame>
        <p:nvGraphicFramePr>
          <p:cNvPr id="311" name="Google Shape;311;p19"/>
          <p:cNvGraphicFramePr/>
          <p:nvPr/>
        </p:nvGraphicFramePr>
        <p:xfrm>
          <a:off x="594983" y="837282"/>
          <a:ext cx="3000000" cy="3000000"/>
        </p:xfrm>
        <a:graphic>
          <a:graphicData uri="http://schemas.openxmlformats.org/drawingml/2006/table">
            <a:tbl>
              <a:tblPr>
                <a:noFill/>
                <a:tableStyleId>{DD8A617B-5F9B-40CA-9DAC-21FBFD001285}</a:tableStyleId>
              </a:tblPr>
              <a:tblGrid>
                <a:gridCol w="2005875"/>
                <a:gridCol w="2005875"/>
                <a:gridCol w="2005875"/>
                <a:gridCol w="2005875"/>
              </a:tblGrid>
              <a:tr h="1237550">
                <a:tc>
                  <a:txBody>
                    <a:bodyPr/>
                    <a:lstStyle/>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Business Process Flow Review</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Product &amp; </a:t>
                      </a:r>
                      <a:endParaRPr b="1" i="0" sz="1000" u="none" cap="none" strike="noStrike">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Configuration</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Pricing Models &amp; Discounting</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Quote New &amp; </a:t>
                      </a:r>
                      <a:endParaRPr b="1" i="0" sz="1000" u="none" cap="none" strike="noStrike">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Renewals</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r>
              <a:tr h="1237550">
                <a:tc>
                  <a:txBody>
                    <a:bodyPr/>
                    <a:lstStyle/>
                    <a:p>
                      <a:pPr indent="0" lvl="0" marL="0" marR="0" rtl="0" algn="ctr">
                        <a:lnSpc>
                          <a:spcPct val="100000"/>
                        </a:lnSpc>
                        <a:spcBef>
                          <a:spcPts val="0"/>
                        </a:spcBef>
                        <a:spcAft>
                          <a:spcPts val="0"/>
                        </a:spcAft>
                        <a:buClr>
                          <a:srgbClr val="285466"/>
                        </a:buClr>
                        <a:buFont typeface="Calibri"/>
                        <a:buNone/>
                      </a:pPr>
                      <a:r>
                        <a:rPr b="1" lang="en-US" sz="1000">
                          <a:solidFill>
                            <a:srgbClr val="0D4B7D"/>
                          </a:solidFill>
                          <a:latin typeface="Montserrat"/>
                          <a:ea typeface="Montserrat"/>
                          <a:cs typeface="Montserrat"/>
                          <a:sym typeface="Montserrat"/>
                        </a:rPr>
                        <a:t>Supplier</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285466"/>
                        </a:buClr>
                        <a:buFont typeface="Calibri"/>
                        <a:buNone/>
                      </a:pPr>
                      <a:r>
                        <a:rPr b="1" lang="en-US" sz="1000">
                          <a:solidFill>
                            <a:srgbClr val="0D4B7D"/>
                          </a:solidFill>
                          <a:latin typeface="Montserrat"/>
                          <a:ea typeface="Montserrat"/>
                          <a:cs typeface="Montserrat"/>
                          <a:sym typeface="Montserrat"/>
                        </a:rPr>
                        <a:t>Management</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285466"/>
                        </a:buClr>
                        <a:buFont typeface="Calibri"/>
                        <a:buNone/>
                      </a:pPr>
                      <a:r>
                        <a:rPr b="1" lang="en-US" sz="1000">
                          <a:solidFill>
                            <a:srgbClr val="0D4B7D"/>
                          </a:solidFill>
                          <a:latin typeface="Montserrat"/>
                          <a:ea typeface="Montserrat"/>
                          <a:cs typeface="Montserrat"/>
                          <a:sym typeface="Montserrat"/>
                        </a:rPr>
                        <a:t>Workflow</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285466"/>
                        </a:buClr>
                        <a:buFont typeface="Calibri"/>
                        <a:buNone/>
                      </a:pPr>
                      <a:r>
                        <a:rPr b="1" i="0" lang="en-US" sz="1000" u="none" cap="none" strike="noStrike">
                          <a:solidFill>
                            <a:srgbClr val="0D4B7D"/>
                          </a:solidFill>
                          <a:latin typeface="Montserrat"/>
                          <a:ea typeface="Montserrat"/>
                          <a:cs typeface="Montserrat"/>
                          <a:sym typeface="Montserrat"/>
                        </a:rPr>
                        <a:t>Approvals</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Contracts</a:t>
                      </a:r>
                      <a:endParaRPr b="1" sz="1000" u="none" cap="none" strike="noStrike">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Font typeface="Arial"/>
                        <a:buNone/>
                      </a:pPr>
                      <a:r>
                        <a:t/>
                      </a:r>
                      <a:endParaRPr b="1" sz="10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b="1" lang="en-US" sz="1000">
                          <a:solidFill>
                            <a:srgbClr val="0D4B7D"/>
                          </a:solidFill>
                          <a:latin typeface="Montserrat"/>
                          <a:ea typeface="Montserrat"/>
                          <a:cs typeface="Montserrat"/>
                          <a:sym typeface="Montserrat"/>
                        </a:rPr>
                        <a:t>Financial</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Font typeface="Arial"/>
                        <a:buNone/>
                      </a:pPr>
                      <a:r>
                        <a:rPr b="1" lang="en-US" sz="1000">
                          <a:solidFill>
                            <a:srgbClr val="0D4B7D"/>
                          </a:solidFill>
                          <a:latin typeface="Montserrat"/>
                          <a:ea typeface="Montserrat"/>
                          <a:cs typeface="Montserrat"/>
                          <a:sym typeface="Montserrat"/>
                        </a:rPr>
                        <a:t>Management</a:t>
                      </a:r>
                      <a:endParaRPr b="1" sz="10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r>
              <a:tr h="1237550">
                <a:tc>
                  <a:txBody>
                    <a:bodyPr/>
                    <a:lstStyle/>
                    <a:p>
                      <a:pPr indent="0" lvl="0" marL="0" marR="0" rtl="0" algn="ctr">
                        <a:lnSpc>
                          <a:spcPct val="100000"/>
                        </a:lnSpc>
                        <a:spcBef>
                          <a:spcPts val="0"/>
                        </a:spcBef>
                        <a:spcAft>
                          <a:spcPts val="0"/>
                        </a:spcAft>
                        <a:buClr>
                          <a:srgbClr val="000000"/>
                        </a:buClr>
                        <a:buFont typeface="Arial"/>
                        <a:buNone/>
                      </a:pPr>
                      <a:r>
                        <a:rPr b="1" i="0" lang="en-US" sz="1000" u="none" cap="none" strike="noStrike">
                          <a:solidFill>
                            <a:srgbClr val="0D4B7D"/>
                          </a:solidFill>
                          <a:latin typeface="Montserrat"/>
                          <a:ea typeface="Montserrat"/>
                          <a:cs typeface="Montserrat"/>
                          <a:sym typeface="Montserrat"/>
                        </a:rPr>
                        <a:t>Order</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Font typeface="Arial"/>
                        <a:buNone/>
                      </a:pPr>
                      <a:r>
                        <a:rPr b="1" i="0" lang="en-US" sz="1000" u="none" cap="none" strike="noStrike">
                          <a:solidFill>
                            <a:srgbClr val="0D4B7D"/>
                          </a:solidFill>
                          <a:latin typeface="Montserrat"/>
                          <a:ea typeface="Montserrat"/>
                          <a:cs typeface="Montserrat"/>
                          <a:sym typeface="Montserrat"/>
                        </a:rPr>
                        <a:t>Management </a:t>
                      </a:r>
                      <a:endParaRPr b="1" sz="13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Change</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Management</a:t>
                      </a:r>
                      <a:endParaRPr b="1" sz="10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Data Migration, Integrations </a:t>
                      </a:r>
                      <a:endParaRPr b="1" sz="10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Project Plan,</a:t>
                      </a:r>
                      <a:endParaRPr b="1" sz="1000">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Font typeface="Arial"/>
                        <a:buNone/>
                      </a:pPr>
                      <a:r>
                        <a:rPr b="1" lang="en-US" sz="1000" u="none" cap="none" strike="noStrike">
                          <a:solidFill>
                            <a:srgbClr val="0D4B7D"/>
                          </a:solidFill>
                          <a:latin typeface="Montserrat"/>
                          <a:ea typeface="Montserrat"/>
                          <a:cs typeface="Montserrat"/>
                          <a:sym typeface="Montserrat"/>
                        </a:rPr>
                        <a:t>Roadmap</a:t>
                      </a:r>
                      <a:endParaRPr b="1" sz="1000">
                        <a:solidFill>
                          <a:srgbClr val="0D4B7D"/>
                        </a:solidFill>
                        <a:latin typeface="Montserrat"/>
                        <a:ea typeface="Montserrat"/>
                        <a:cs typeface="Montserrat"/>
                        <a:sym typeface="Montserrat"/>
                      </a:endParaRPr>
                    </a:p>
                  </a:txBody>
                  <a:tcPr marT="137150" marB="137150" marR="137150" marL="137150" anchor="b">
                    <a:lnL cap="flat" cmpd="sng" w="9525">
                      <a:solidFill>
                        <a:srgbClr val="65CDFF"/>
                      </a:solidFill>
                      <a:prstDash val="dot"/>
                      <a:round/>
                      <a:headEnd len="sm" w="sm" type="none"/>
                      <a:tailEnd len="sm" w="sm" type="none"/>
                    </a:lnL>
                    <a:lnR cap="flat" cmpd="sng" w="9525">
                      <a:solidFill>
                        <a:srgbClr val="65CDFF"/>
                      </a:solidFill>
                      <a:prstDash val="dot"/>
                      <a:round/>
                      <a:headEnd len="sm" w="sm" type="none"/>
                      <a:tailEnd len="sm" w="sm" type="none"/>
                    </a:lnR>
                    <a:lnT cap="flat" cmpd="sng" w="9525">
                      <a:solidFill>
                        <a:srgbClr val="65CDFF"/>
                      </a:solidFill>
                      <a:prstDash val="dot"/>
                      <a:round/>
                      <a:headEnd len="sm" w="sm" type="none"/>
                      <a:tailEnd len="sm" w="sm" type="none"/>
                    </a:lnT>
                    <a:lnB cap="flat" cmpd="sng" w="9525">
                      <a:solidFill>
                        <a:srgbClr val="65CDFF"/>
                      </a:solidFill>
                      <a:prstDash val="dot"/>
                      <a:round/>
                      <a:headEnd len="sm" w="sm" type="none"/>
                      <a:tailEnd len="sm" w="sm" type="none"/>
                    </a:lnB>
                  </a:tcPr>
                </a:tc>
              </a:tr>
            </a:tbl>
          </a:graphicData>
        </a:graphic>
      </p:graphicFrame>
      <p:pic>
        <p:nvPicPr>
          <p:cNvPr id="312" name="Google Shape;312;p19"/>
          <p:cNvPicPr preferRelativeResize="0"/>
          <p:nvPr/>
        </p:nvPicPr>
        <p:blipFill rotWithShape="1">
          <a:blip r:embed="rId3">
            <a:alphaModFix amt="40000"/>
          </a:blip>
          <a:srcRect b="0" l="0" r="0" t="0"/>
          <a:stretch/>
        </p:blipFill>
        <p:spPr>
          <a:xfrm>
            <a:off x="7451127" y="3629199"/>
            <a:ext cx="412451" cy="412468"/>
          </a:xfrm>
          <a:prstGeom prst="rect">
            <a:avLst/>
          </a:prstGeom>
          <a:noFill/>
          <a:ln>
            <a:noFill/>
          </a:ln>
        </p:spPr>
      </p:pic>
      <p:pic>
        <p:nvPicPr>
          <p:cNvPr id="313" name="Google Shape;313;p19"/>
          <p:cNvPicPr preferRelativeResize="0"/>
          <p:nvPr/>
        </p:nvPicPr>
        <p:blipFill>
          <a:blip r:embed="rId4">
            <a:alphaModFix amt="40000"/>
          </a:blip>
          <a:stretch>
            <a:fillRect/>
          </a:stretch>
        </p:blipFill>
        <p:spPr>
          <a:xfrm>
            <a:off x="1413908" y="1141276"/>
            <a:ext cx="412451" cy="412424"/>
          </a:xfrm>
          <a:prstGeom prst="rect">
            <a:avLst/>
          </a:prstGeom>
          <a:noFill/>
          <a:ln>
            <a:noFill/>
          </a:ln>
        </p:spPr>
      </p:pic>
      <p:pic>
        <p:nvPicPr>
          <p:cNvPr id="314" name="Google Shape;314;p19"/>
          <p:cNvPicPr preferRelativeResize="0"/>
          <p:nvPr/>
        </p:nvPicPr>
        <p:blipFill>
          <a:blip r:embed="rId5">
            <a:alphaModFix amt="40000"/>
          </a:blip>
          <a:stretch>
            <a:fillRect/>
          </a:stretch>
        </p:blipFill>
        <p:spPr>
          <a:xfrm>
            <a:off x="3387644" y="1141263"/>
            <a:ext cx="412451" cy="412451"/>
          </a:xfrm>
          <a:prstGeom prst="rect">
            <a:avLst/>
          </a:prstGeom>
          <a:noFill/>
          <a:ln>
            <a:noFill/>
          </a:ln>
        </p:spPr>
      </p:pic>
      <p:pic>
        <p:nvPicPr>
          <p:cNvPr id="315" name="Google Shape;315;p19"/>
          <p:cNvPicPr preferRelativeResize="0"/>
          <p:nvPr/>
        </p:nvPicPr>
        <p:blipFill>
          <a:blip r:embed="rId6">
            <a:alphaModFix amt="40000"/>
          </a:blip>
          <a:stretch>
            <a:fillRect/>
          </a:stretch>
        </p:blipFill>
        <p:spPr>
          <a:xfrm>
            <a:off x="5410265" y="1141263"/>
            <a:ext cx="412451" cy="412451"/>
          </a:xfrm>
          <a:prstGeom prst="rect">
            <a:avLst/>
          </a:prstGeom>
          <a:noFill/>
          <a:ln>
            <a:noFill/>
          </a:ln>
        </p:spPr>
      </p:pic>
      <p:pic>
        <p:nvPicPr>
          <p:cNvPr id="316" name="Google Shape;316;p19"/>
          <p:cNvPicPr preferRelativeResize="0"/>
          <p:nvPr/>
        </p:nvPicPr>
        <p:blipFill>
          <a:blip r:embed="rId7">
            <a:alphaModFix amt="40000"/>
          </a:blip>
          <a:stretch>
            <a:fillRect/>
          </a:stretch>
        </p:blipFill>
        <p:spPr>
          <a:xfrm>
            <a:off x="7451127" y="1141263"/>
            <a:ext cx="412451" cy="412451"/>
          </a:xfrm>
          <a:prstGeom prst="rect">
            <a:avLst/>
          </a:prstGeom>
          <a:noFill/>
          <a:ln>
            <a:noFill/>
          </a:ln>
        </p:spPr>
      </p:pic>
      <p:pic>
        <p:nvPicPr>
          <p:cNvPr id="317" name="Google Shape;317;p19"/>
          <p:cNvPicPr preferRelativeResize="0"/>
          <p:nvPr/>
        </p:nvPicPr>
        <p:blipFill>
          <a:blip r:embed="rId8">
            <a:alphaModFix amt="40000"/>
          </a:blip>
          <a:stretch>
            <a:fillRect/>
          </a:stretch>
        </p:blipFill>
        <p:spPr>
          <a:xfrm>
            <a:off x="1413909" y="2378799"/>
            <a:ext cx="412450" cy="412450"/>
          </a:xfrm>
          <a:prstGeom prst="rect">
            <a:avLst/>
          </a:prstGeom>
          <a:noFill/>
          <a:ln>
            <a:noFill/>
          </a:ln>
        </p:spPr>
      </p:pic>
      <p:pic>
        <p:nvPicPr>
          <p:cNvPr id="318" name="Google Shape;318;p19"/>
          <p:cNvPicPr preferRelativeResize="0"/>
          <p:nvPr/>
        </p:nvPicPr>
        <p:blipFill>
          <a:blip r:embed="rId9">
            <a:alphaModFix amt="40000"/>
          </a:blip>
          <a:stretch>
            <a:fillRect/>
          </a:stretch>
        </p:blipFill>
        <p:spPr>
          <a:xfrm>
            <a:off x="3387644" y="2378799"/>
            <a:ext cx="412450" cy="412450"/>
          </a:xfrm>
          <a:prstGeom prst="rect">
            <a:avLst/>
          </a:prstGeom>
          <a:noFill/>
          <a:ln>
            <a:noFill/>
          </a:ln>
        </p:spPr>
      </p:pic>
      <p:pic>
        <p:nvPicPr>
          <p:cNvPr id="319" name="Google Shape;319;p19"/>
          <p:cNvPicPr preferRelativeResize="0"/>
          <p:nvPr/>
        </p:nvPicPr>
        <p:blipFill>
          <a:blip r:embed="rId10">
            <a:alphaModFix amt="40000"/>
          </a:blip>
          <a:stretch>
            <a:fillRect/>
          </a:stretch>
        </p:blipFill>
        <p:spPr>
          <a:xfrm>
            <a:off x="5410265" y="2378799"/>
            <a:ext cx="412450" cy="412450"/>
          </a:xfrm>
          <a:prstGeom prst="rect">
            <a:avLst/>
          </a:prstGeom>
          <a:noFill/>
          <a:ln>
            <a:noFill/>
          </a:ln>
        </p:spPr>
      </p:pic>
      <p:pic>
        <p:nvPicPr>
          <p:cNvPr id="320" name="Google Shape;320;p19"/>
          <p:cNvPicPr preferRelativeResize="0"/>
          <p:nvPr/>
        </p:nvPicPr>
        <p:blipFill>
          <a:blip r:embed="rId11">
            <a:alphaModFix amt="40000"/>
          </a:blip>
          <a:stretch>
            <a:fillRect/>
          </a:stretch>
        </p:blipFill>
        <p:spPr>
          <a:xfrm>
            <a:off x="1413908" y="3629208"/>
            <a:ext cx="412451" cy="412451"/>
          </a:xfrm>
          <a:prstGeom prst="rect">
            <a:avLst/>
          </a:prstGeom>
          <a:noFill/>
          <a:ln>
            <a:noFill/>
          </a:ln>
        </p:spPr>
      </p:pic>
      <p:pic>
        <p:nvPicPr>
          <p:cNvPr id="321" name="Google Shape;321;p19"/>
          <p:cNvPicPr preferRelativeResize="0"/>
          <p:nvPr/>
        </p:nvPicPr>
        <p:blipFill>
          <a:blip r:embed="rId12">
            <a:alphaModFix amt="40000"/>
          </a:blip>
          <a:stretch>
            <a:fillRect/>
          </a:stretch>
        </p:blipFill>
        <p:spPr>
          <a:xfrm>
            <a:off x="5410265" y="3629208"/>
            <a:ext cx="412451" cy="412451"/>
          </a:xfrm>
          <a:prstGeom prst="rect">
            <a:avLst/>
          </a:prstGeom>
          <a:noFill/>
          <a:ln>
            <a:noFill/>
          </a:ln>
        </p:spPr>
      </p:pic>
      <p:grpSp>
        <p:nvGrpSpPr>
          <p:cNvPr id="322" name="Google Shape;322;p19"/>
          <p:cNvGrpSpPr/>
          <p:nvPr/>
        </p:nvGrpSpPr>
        <p:grpSpPr>
          <a:xfrm>
            <a:off x="3387648" y="3629211"/>
            <a:ext cx="412443" cy="412443"/>
            <a:chOff x="3353275" y="3604398"/>
            <a:chExt cx="508875" cy="508875"/>
          </a:xfrm>
        </p:grpSpPr>
        <p:pic>
          <p:nvPicPr>
            <p:cNvPr id="323" name="Google Shape;323;p19"/>
            <p:cNvPicPr preferRelativeResize="0"/>
            <p:nvPr/>
          </p:nvPicPr>
          <p:blipFill>
            <a:blip r:embed="rId13">
              <a:alphaModFix amt="40000"/>
            </a:blip>
            <a:stretch>
              <a:fillRect/>
            </a:stretch>
          </p:blipFill>
          <p:spPr>
            <a:xfrm>
              <a:off x="3353275" y="3604398"/>
              <a:ext cx="508875" cy="508875"/>
            </a:xfrm>
            <a:prstGeom prst="rect">
              <a:avLst/>
            </a:prstGeom>
            <a:noFill/>
            <a:ln>
              <a:noFill/>
            </a:ln>
          </p:spPr>
        </p:pic>
        <p:pic>
          <p:nvPicPr>
            <p:cNvPr id="324" name="Google Shape;324;p19"/>
            <p:cNvPicPr preferRelativeResize="0"/>
            <p:nvPr/>
          </p:nvPicPr>
          <p:blipFill>
            <a:blip r:embed="rId13">
              <a:alphaModFix amt="40000"/>
            </a:blip>
            <a:stretch>
              <a:fillRect/>
            </a:stretch>
          </p:blipFill>
          <p:spPr>
            <a:xfrm>
              <a:off x="3353275" y="3604398"/>
              <a:ext cx="508875" cy="508875"/>
            </a:xfrm>
            <a:prstGeom prst="rect">
              <a:avLst/>
            </a:prstGeom>
            <a:noFill/>
            <a:ln>
              <a:noFill/>
            </a:ln>
          </p:spPr>
        </p:pic>
      </p:grpSp>
      <p:pic>
        <p:nvPicPr>
          <p:cNvPr id="325" name="Google Shape;325;p19"/>
          <p:cNvPicPr preferRelativeResize="0"/>
          <p:nvPr/>
        </p:nvPicPr>
        <p:blipFill>
          <a:blip r:embed="rId14">
            <a:alphaModFix amt="40000"/>
          </a:blip>
          <a:stretch>
            <a:fillRect/>
          </a:stretch>
        </p:blipFill>
        <p:spPr>
          <a:xfrm>
            <a:off x="7451125" y="2385238"/>
            <a:ext cx="412450" cy="41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p:nvPr/>
        </p:nvSpPr>
        <p:spPr>
          <a:xfrm>
            <a:off x="387807"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32" name="Google Shape;332;p20"/>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sz="2000">
                <a:solidFill>
                  <a:srgbClr val="21A0DD"/>
                </a:solidFill>
                <a:latin typeface="Montserrat"/>
                <a:ea typeface="Montserrat"/>
                <a:cs typeface="Montserrat"/>
                <a:sym typeface="Montserrat"/>
              </a:rPr>
              <a:t>Business Functions</a:t>
            </a:r>
            <a:endParaRPr sz="2000">
              <a:solidFill>
                <a:srgbClr val="21A0DD"/>
              </a:solidFill>
              <a:latin typeface="Montserrat"/>
              <a:ea typeface="Montserrat"/>
              <a:cs typeface="Montserrat"/>
              <a:sym typeface="Montserrat"/>
            </a:endParaRPr>
          </a:p>
        </p:txBody>
      </p:sp>
      <p:sp>
        <p:nvSpPr>
          <p:cNvPr id="333" name="Google Shape;333;p20"/>
          <p:cNvSpPr/>
          <p:nvPr/>
        </p:nvSpPr>
        <p:spPr>
          <a:xfrm>
            <a:off x="685400" y="1575550"/>
            <a:ext cx="715200" cy="21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Sales</a:t>
            </a:r>
            <a:endParaRPr b="1" sz="1025">
              <a:solidFill>
                <a:srgbClr val="0D4B7D"/>
              </a:solidFill>
              <a:latin typeface="Montserrat"/>
              <a:ea typeface="Montserrat"/>
              <a:cs typeface="Montserrat"/>
              <a:sym typeface="Montserrat"/>
            </a:endParaRPr>
          </a:p>
        </p:txBody>
      </p:sp>
      <p:pic>
        <p:nvPicPr>
          <p:cNvPr id="334" name="Google Shape;334;p20"/>
          <p:cNvPicPr preferRelativeResize="0"/>
          <p:nvPr/>
        </p:nvPicPr>
        <p:blipFill>
          <a:blip r:embed="rId3">
            <a:alphaModFix amt="60000"/>
          </a:blip>
          <a:stretch>
            <a:fillRect/>
          </a:stretch>
        </p:blipFill>
        <p:spPr>
          <a:xfrm>
            <a:off x="902884" y="1208907"/>
            <a:ext cx="280207" cy="280207"/>
          </a:xfrm>
          <a:prstGeom prst="rect">
            <a:avLst/>
          </a:prstGeom>
          <a:noFill/>
          <a:ln>
            <a:noFill/>
          </a:ln>
        </p:spPr>
      </p:pic>
      <p:sp>
        <p:nvSpPr>
          <p:cNvPr id="335" name="Google Shape;335;p20"/>
          <p:cNvSpPr/>
          <p:nvPr/>
        </p:nvSpPr>
        <p:spPr>
          <a:xfrm>
            <a:off x="1799407"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36" name="Google Shape;336;p20"/>
          <p:cNvSpPr/>
          <p:nvPr/>
        </p:nvSpPr>
        <p:spPr>
          <a:xfrm>
            <a:off x="1799407" y="1425249"/>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Sales</a:t>
            </a:r>
            <a:endParaRPr b="1" sz="1025">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Operations</a:t>
            </a:r>
            <a:endParaRPr b="1" sz="1025">
              <a:solidFill>
                <a:srgbClr val="0D4B7D"/>
              </a:solidFill>
              <a:latin typeface="Montserrat"/>
              <a:ea typeface="Montserrat"/>
              <a:cs typeface="Montserrat"/>
              <a:sym typeface="Montserrat"/>
            </a:endParaRPr>
          </a:p>
        </p:txBody>
      </p:sp>
      <p:sp>
        <p:nvSpPr>
          <p:cNvPr id="337" name="Google Shape;337;p20"/>
          <p:cNvSpPr/>
          <p:nvPr/>
        </p:nvSpPr>
        <p:spPr>
          <a:xfrm>
            <a:off x="3211001"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38" name="Google Shape;338;p20"/>
          <p:cNvSpPr/>
          <p:nvPr/>
        </p:nvSpPr>
        <p:spPr>
          <a:xfrm>
            <a:off x="3211001" y="1425249"/>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Theater Operations</a:t>
            </a:r>
            <a:endParaRPr b="1" sz="1025">
              <a:solidFill>
                <a:srgbClr val="0D4B7D"/>
              </a:solidFill>
              <a:latin typeface="Montserrat"/>
              <a:ea typeface="Montserrat"/>
              <a:cs typeface="Montserrat"/>
              <a:sym typeface="Montserrat"/>
            </a:endParaRPr>
          </a:p>
        </p:txBody>
      </p:sp>
      <p:sp>
        <p:nvSpPr>
          <p:cNvPr id="339" name="Google Shape;339;p20"/>
          <p:cNvSpPr/>
          <p:nvPr/>
        </p:nvSpPr>
        <p:spPr>
          <a:xfrm>
            <a:off x="4622595"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40" name="Google Shape;340;p20"/>
          <p:cNvSpPr/>
          <p:nvPr/>
        </p:nvSpPr>
        <p:spPr>
          <a:xfrm>
            <a:off x="4622595" y="1425249"/>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Deals Desk</a:t>
            </a:r>
            <a:endParaRPr b="1" sz="1025">
              <a:solidFill>
                <a:srgbClr val="0D4B7D"/>
              </a:solidFill>
              <a:latin typeface="Montserrat"/>
              <a:ea typeface="Montserrat"/>
              <a:cs typeface="Montserrat"/>
              <a:sym typeface="Montserrat"/>
            </a:endParaRPr>
          </a:p>
        </p:txBody>
      </p:sp>
      <p:sp>
        <p:nvSpPr>
          <p:cNvPr id="341" name="Google Shape;341;p20"/>
          <p:cNvSpPr/>
          <p:nvPr/>
        </p:nvSpPr>
        <p:spPr>
          <a:xfrm>
            <a:off x="6034189"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42" name="Google Shape;342;p20"/>
          <p:cNvSpPr/>
          <p:nvPr/>
        </p:nvSpPr>
        <p:spPr>
          <a:xfrm>
            <a:off x="6034189" y="1425249"/>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Marketing</a:t>
            </a:r>
            <a:endParaRPr b="1" sz="1025">
              <a:solidFill>
                <a:srgbClr val="0D4B7D"/>
              </a:solidFill>
              <a:latin typeface="Montserrat"/>
              <a:ea typeface="Montserrat"/>
              <a:cs typeface="Montserrat"/>
              <a:sym typeface="Montserrat"/>
            </a:endParaRPr>
          </a:p>
        </p:txBody>
      </p:sp>
      <p:sp>
        <p:nvSpPr>
          <p:cNvPr id="343" name="Google Shape;343;p20"/>
          <p:cNvSpPr/>
          <p:nvPr/>
        </p:nvSpPr>
        <p:spPr>
          <a:xfrm>
            <a:off x="387813"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44" name="Google Shape;344;p20"/>
          <p:cNvSpPr/>
          <p:nvPr/>
        </p:nvSpPr>
        <p:spPr>
          <a:xfrm>
            <a:off x="387813"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Finance</a:t>
            </a:r>
            <a:endParaRPr b="1" sz="1025">
              <a:solidFill>
                <a:srgbClr val="0D4B7D"/>
              </a:solidFill>
              <a:latin typeface="Montserrat"/>
              <a:ea typeface="Montserrat"/>
              <a:cs typeface="Montserrat"/>
              <a:sym typeface="Montserrat"/>
            </a:endParaRPr>
          </a:p>
        </p:txBody>
      </p:sp>
      <p:sp>
        <p:nvSpPr>
          <p:cNvPr id="345" name="Google Shape;345;p20"/>
          <p:cNvSpPr/>
          <p:nvPr/>
        </p:nvSpPr>
        <p:spPr>
          <a:xfrm>
            <a:off x="1799407"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46" name="Google Shape;346;p20"/>
          <p:cNvSpPr/>
          <p:nvPr/>
        </p:nvSpPr>
        <p:spPr>
          <a:xfrm>
            <a:off x="1799407"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Legal &amp; Compliance</a:t>
            </a:r>
            <a:endParaRPr b="1" sz="1025">
              <a:solidFill>
                <a:srgbClr val="0D4B7D"/>
              </a:solidFill>
              <a:latin typeface="Montserrat"/>
              <a:ea typeface="Montserrat"/>
              <a:cs typeface="Montserrat"/>
              <a:sym typeface="Montserrat"/>
            </a:endParaRPr>
          </a:p>
        </p:txBody>
      </p:sp>
      <p:sp>
        <p:nvSpPr>
          <p:cNvPr id="347" name="Google Shape;347;p20"/>
          <p:cNvSpPr/>
          <p:nvPr/>
        </p:nvSpPr>
        <p:spPr>
          <a:xfrm>
            <a:off x="3211001"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48" name="Google Shape;348;p20"/>
          <p:cNvSpPr/>
          <p:nvPr/>
        </p:nvSpPr>
        <p:spPr>
          <a:xfrm>
            <a:off x="3211001"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Order Processing</a:t>
            </a:r>
            <a:endParaRPr b="1" sz="1025">
              <a:solidFill>
                <a:srgbClr val="0D4B7D"/>
              </a:solidFill>
              <a:latin typeface="Montserrat"/>
              <a:ea typeface="Montserrat"/>
              <a:cs typeface="Montserrat"/>
              <a:sym typeface="Montserrat"/>
            </a:endParaRPr>
          </a:p>
        </p:txBody>
      </p:sp>
      <p:sp>
        <p:nvSpPr>
          <p:cNvPr id="349" name="Google Shape;349;p20"/>
          <p:cNvSpPr/>
          <p:nvPr/>
        </p:nvSpPr>
        <p:spPr>
          <a:xfrm>
            <a:off x="4622595"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50" name="Google Shape;350;p20"/>
          <p:cNvSpPr/>
          <p:nvPr/>
        </p:nvSpPr>
        <p:spPr>
          <a:xfrm>
            <a:off x="4622595"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Renewals</a:t>
            </a:r>
            <a:endParaRPr b="1" sz="1025">
              <a:solidFill>
                <a:srgbClr val="0D4B7D"/>
              </a:solidFill>
              <a:latin typeface="Montserrat"/>
              <a:ea typeface="Montserrat"/>
              <a:cs typeface="Montserrat"/>
              <a:sym typeface="Montserrat"/>
            </a:endParaRPr>
          </a:p>
        </p:txBody>
      </p:sp>
      <p:sp>
        <p:nvSpPr>
          <p:cNvPr id="351" name="Google Shape;351;p20"/>
          <p:cNvSpPr/>
          <p:nvPr/>
        </p:nvSpPr>
        <p:spPr>
          <a:xfrm>
            <a:off x="6034189"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52" name="Google Shape;352;p20"/>
          <p:cNvSpPr/>
          <p:nvPr/>
        </p:nvSpPr>
        <p:spPr>
          <a:xfrm>
            <a:off x="6034189"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Product Operations</a:t>
            </a:r>
            <a:endParaRPr b="1" sz="1025">
              <a:solidFill>
                <a:srgbClr val="0D4B7D"/>
              </a:solidFill>
              <a:latin typeface="Montserrat"/>
              <a:ea typeface="Montserrat"/>
              <a:cs typeface="Montserrat"/>
              <a:sym typeface="Montserrat"/>
            </a:endParaRPr>
          </a:p>
        </p:txBody>
      </p:sp>
      <p:sp>
        <p:nvSpPr>
          <p:cNvPr id="353" name="Google Shape;353;p20"/>
          <p:cNvSpPr/>
          <p:nvPr/>
        </p:nvSpPr>
        <p:spPr>
          <a:xfrm>
            <a:off x="387813"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54" name="Google Shape;354;p20"/>
          <p:cNvSpPr/>
          <p:nvPr/>
        </p:nvSpPr>
        <p:spPr>
          <a:xfrm>
            <a:off x="387813"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Business </a:t>
            </a:r>
            <a:endParaRPr b="1" sz="1025">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Units</a:t>
            </a:r>
            <a:endParaRPr b="1" sz="1025">
              <a:solidFill>
                <a:srgbClr val="0D4B7D"/>
              </a:solidFill>
              <a:latin typeface="Montserrat"/>
              <a:ea typeface="Montserrat"/>
              <a:cs typeface="Montserrat"/>
              <a:sym typeface="Montserrat"/>
            </a:endParaRPr>
          </a:p>
        </p:txBody>
      </p:sp>
      <p:sp>
        <p:nvSpPr>
          <p:cNvPr id="355" name="Google Shape;355;p20"/>
          <p:cNvSpPr/>
          <p:nvPr/>
        </p:nvSpPr>
        <p:spPr>
          <a:xfrm>
            <a:off x="1799407"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56" name="Google Shape;356;p20"/>
          <p:cNvSpPr/>
          <p:nvPr/>
        </p:nvSpPr>
        <p:spPr>
          <a:xfrm>
            <a:off x="1799407"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Build &amp; Configuration</a:t>
            </a:r>
            <a:endParaRPr b="1" sz="1025">
              <a:solidFill>
                <a:srgbClr val="0D4B7D"/>
              </a:solidFill>
              <a:latin typeface="Montserrat"/>
              <a:ea typeface="Montserrat"/>
              <a:cs typeface="Montserrat"/>
              <a:sym typeface="Montserrat"/>
            </a:endParaRPr>
          </a:p>
        </p:txBody>
      </p:sp>
      <p:sp>
        <p:nvSpPr>
          <p:cNvPr id="357" name="Google Shape;357;p20"/>
          <p:cNvSpPr/>
          <p:nvPr/>
        </p:nvSpPr>
        <p:spPr>
          <a:xfrm>
            <a:off x="3211001"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58" name="Google Shape;358;p20"/>
          <p:cNvSpPr/>
          <p:nvPr/>
        </p:nvSpPr>
        <p:spPr>
          <a:xfrm>
            <a:off x="3211001"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Licensing</a:t>
            </a:r>
            <a:endParaRPr b="1" sz="1025">
              <a:solidFill>
                <a:srgbClr val="0D4B7D"/>
              </a:solidFill>
              <a:latin typeface="Montserrat"/>
              <a:ea typeface="Montserrat"/>
              <a:cs typeface="Montserrat"/>
              <a:sym typeface="Montserrat"/>
            </a:endParaRPr>
          </a:p>
        </p:txBody>
      </p:sp>
      <p:sp>
        <p:nvSpPr>
          <p:cNvPr id="359" name="Google Shape;359;p20"/>
          <p:cNvSpPr/>
          <p:nvPr/>
        </p:nvSpPr>
        <p:spPr>
          <a:xfrm>
            <a:off x="4622595"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60" name="Google Shape;360;p20"/>
          <p:cNvSpPr/>
          <p:nvPr/>
        </p:nvSpPr>
        <p:spPr>
          <a:xfrm>
            <a:off x="4622595"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Tax &amp; </a:t>
            </a:r>
            <a:endParaRPr b="1" sz="1025">
              <a:solidFill>
                <a:srgbClr val="0D4B7D"/>
              </a:solidFill>
              <a:latin typeface="Montserrat"/>
              <a:ea typeface="Montserrat"/>
              <a:cs typeface="Montserrat"/>
              <a:sym typeface="Montserrat"/>
            </a:endParaRPr>
          </a:p>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Customs</a:t>
            </a:r>
            <a:endParaRPr b="1" sz="1025">
              <a:solidFill>
                <a:srgbClr val="0D4B7D"/>
              </a:solidFill>
              <a:latin typeface="Montserrat"/>
              <a:ea typeface="Montserrat"/>
              <a:cs typeface="Montserrat"/>
              <a:sym typeface="Montserrat"/>
            </a:endParaRPr>
          </a:p>
        </p:txBody>
      </p:sp>
      <p:sp>
        <p:nvSpPr>
          <p:cNvPr id="361" name="Google Shape;361;p20"/>
          <p:cNvSpPr/>
          <p:nvPr/>
        </p:nvSpPr>
        <p:spPr>
          <a:xfrm>
            <a:off x="6034189"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62" name="Google Shape;362;p20"/>
          <p:cNvSpPr/>
          <p:nvPr/>
        </p:nvSpPr>
        <p:spPr>
          <a:xfrm>
            <a:off x="6034189"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Sales Compensation</a:t>
            </a:r>
            <a:endParaRPr b="1" sz="1025">
              <a:solidFill>
                <a:srgbClr val="0D4B7D"/>
              </a:solidFill>
              <a:latin typeface="Montserrat"/>
              <a:ea typeface="Montserrat"/>
              <a:cs typeface="Montserrat"/>
              <a:sym typeface="Montserrat"/>
            </a:endParaRPr>
          </a:p>
        </p:txBody>
      </p:sp>
      <p:sp>
        <p:nvSpPr>
          <p:cNvPr id="363" name="Google Shape;363;p20"/>
          <p:cNvSpPr/>
          <p:nvPr/>
        </p:nvSpPr>
        <p:spPr>
          <a:xfrm>
            <a:off x="7445777" y="1058550"/>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64" name="Google Shape;364;p20"/>
          <p:cNvSpPr/>
          <p:nvPr/>
        </p:nvSpPr>
        <p:spPr>
          <a:xfrm>
            <a:off x="7445777" y="1425249"/>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Channel Operations</a:t>
            </a:r>
            <a:endParaRPr b="1" sz="1025">
              <a:solidFill>
                <a:srgbClr val="0D4B7D"/>
              </a:solidFill>
              <a:latin typeface="Montserrat"/>
              <a:ea typeface="Montserrat"/>
              <a:cs typeface="Montserrat"/>
              <a:sym typeface="Montserrat"/>
            </a:endParaRPr>
          </a:p>
        </p:txBody>
      </p:sp>
      <p:sp>
        <p:nvSpPr>
          <p:cNvPr id="365" name="Google Shape;365;p20"/>
          <p:cNvSpPr/>
          <p:nvPr/>
        </p:nvSpPr>
        <p:spPr>
          <a:xfrm>
            <a:off x="7445777" y="2070313"/>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66" name="Google Shape;366;p20"/>
          <p:cNvSpPr/>
          <p:nvPr/>
        </p:nvSpPr>
        <p:spPr>
          <a:xfrm>
            <a:off x="7445777" y="2437011"/>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Pricing Operations</a:t>
            </a:r>
            <a:endParaRPr b="1" sz="1025">
              <a:solidFill>
                <a:srgbClr val="0D4B7D"/>
              </a:solidFill>
              <a:latin typeface="Montserrat"/>
              <a:ea typeface="Montserrat"/>
              <a:cs typeface="Montserrat"/>
              <a:sym typeface="Montserrat"/>
            </a:endParaRPr>
          </a:p>
        </p:txBody>
      </p:sp>
      <p:sp>
        <p:nvSpPr>
          <p:cNvPr id="367" name="Google Shape;367;p20"/>
          <p:cNvSpPr/>
          <p:nvPr/>
        </p:nvSpPr>
        <p:spPr>
          <a:xfrm>
            <a:off x="7445777" y="3082075"/>
            <a:ext cx="1310400" cy="895800"/>
          </a:xfrm>
          <a:prstGeom prst="roundRect">
            <a:avLst>
              <a:gd fmla="val 8045" name="adj"/>
            </a:avLst>
          </a:prstGeom>
          <a:solidFill>
            <a:srgbClr val="FFFFFF"/>
          </a:solidFill>
          <a:ln>
            <a:noFill/>
          </a:ln>
          <a:effectLst>
            <a:outerShdw blurRad="100013" sx="102000" rotWithShape="0" algn="ctr" sy="102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rgbClr val="FFFFFF"/>
              </a:solidFill>
              <a:latin typeface="Open Sans"/>
              <a:ea typeface="Open Sans"/>
              <a:cs typeface="Open Sans"/>
              <a:sym typeface="Open Sans"/>
            </a:endParaRPr>
          </a:p>
        </p:txBody>
      </p:sp>
      <p:sp>
        <p:nvSpPr>
          <p:cNvPr id="368" name="Google Shape;368;p20"/>
          <p:cNvSpPr/>
          <p:nvPr/>
        </p:nvSpPr>
        <p:spPr>
          <a:xfrm>
            <a:off x="7445777" y="3448774"/>
            <a:ext cx="1310400" cy="518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100"/>
              <a:buNone/>
            </a:pPr>
            <a:r>
              <a:rPr b="1" lang="en-US" sz="1025">
                <a:solidFill>
                  <a:srgbClr val="0D4B7D"/>
                </a:solidFill>
                <a:latin typeface="Montserrat"/>
                <a:ea typeface="Montserrat"/>
                <a:cs typeface="Montserrat"/>
                <a:sym typeface="Montserrat"/>
              </a:rPr>
              <a:t>Channel Finance</a:t>
            </a:r>
            <a:endParaRPr b="1" sz="1025">
              <a:solidFill>
                <a:srgbClr val="0D4B7D"/>
              </a:solidFill>
              <a:latin typeface="Montserrat"/>
              <a:ea typeface="Montserrat"/>
              <a:cs typeface="Montserrat"/>
              <a:sym typeface="Montserrat"/>
            </a:endParaRPr>
          </a:p>
        </p:txBody>
      </p:sp>
      <p:pic>
        <p:nvPicPr>
          <p:cNvPr id="369" name="Google Shape;369;p20"/>
          <p:cNvPicPr preferRelativeResize="0"/>
          <p:nvPr/>
        </p:nvPicPr>
        <p:blipFill>
          <a:blip r:embed="rId4">
            <a:alphaModFix amt="60000"/>
          </a:blip>
          <a:stretch>
            <a:fillRect/>
          </a:stretch>
        </p:blipFill>
        <p:spPr>
          <a:xfrm>
            <a:off x="5137682" y="3193244"/>
            <a:ext cx="280225" cy="280225"/>
          </a:xfrm>
          <a:prstGeom prst="rect">
            <a:avLst/>
          </a:prstGeom>
          <a:noFill/>
          <a:ln>
            <a:noFill/>
          </a:ln>
        </p:spPr>
      </p:pic>
      <p:pic>
        <p:nvPicPr>
          <p:cNvPr id="370" name="Google Shape;370;p20"/>
          <p:cNvPicPr preferRelativeResize="0"/>
          <p:nvPr/>
        </p:nvPicPr>
        <p:blipFill>
          <a:blip r:embed="rId5">
            <a:alphaModFix amt="60000"/>
          </a:blip>
          <a:stretch>
            <a:fillRect/>
          </a:stretch>
        </p:blipFill>
        <p:spPr>
          <a:xfrm>
            <a:off x="3726088" y="3193244"/>
            <a:ext cx="280225" cy="280225"/>
          </a:xfrm>
          <a:prstGeom prst="rect">
            <a:avLst/>
          </a:prstGeom>
          <a:noFill/>
          <a:ln>
            <a:noFill/>
          </a:ln>
        </p:spPr>
      </p:pic>
      <p:pic>
        <p:nvPicPr>
          <p:cNvPr id="371" name="Google Shape;371;p20"/>
          <p:cNvPicPr preferRelativeResize="0"/>
          <p:nvPr/>
        </p:nvPicPr>
        <p:blipFill>
          <a:blip r:embed="rId6">
            <a:alphaModFix amt="60000"/>
          </a:blip>
          <a:stretch>
            <a:fillRect/>
          </a:stretch>
        </p:blipFill>
        <p:spPr>
          <a:xfrm>
            <a:off x="2314494" y="1194498"/>
            <a:ext cx="280225" cy="280225"/>
          </a:xfrm>
          <a:prstGeom prst="rect">
            <a:avLst/>
          </a:prstGeom>
          <a:noFill/>
          <a:ln>
            <a:noFill/>
          </a:ln>
        </p:spPr>
      </p:pic>
      <p:pic>
        <p:nvPicPr>
          <p:cNvPr id="372" name="Google Shape;372;p20"/>
          <p:cNvPicPr preferRelativeResize="0"/>
          <p:nvPr/>
        </p:nvPicPr>
        <p:blipFill>
          <a:blip r:embed="rId7">
            <a:alphaModFix amt="60000"/>
          </a:blip>
          <a:stretch>
            <a:fillRect/>
          </a:stretch>
        </p:blipFill>
        <p:spPr>
          <a:xfrm>
            <a:off x="7934775" y="3167149"/>
            <a:ext cx="332399" cy="332401"/>
          </a:xfrm>
          <a:prstGeom prst="rect">
            <a:avLst/>
          </a:prstGeom>
          <a:noFill/>
          <a:ln>
            <a:noFill/>
          </a:ln>
        </p:spPr>
      </p:pic>
      <p:pic>
        <p:nvPicPr>
          <p:cNvPr id="373" name="Google Shape;373;p20"/>
          <p:cNvPicPr preferRelativeResize="0"/>
          <p:nvPr/>
        </p:nvPicPr>
        <p:blipFill>
          <a:blip r:embed="rId8">
            <a:alphaModFix amt="60000"/>
          </a:blip>
          <a:stretch>
            <a:fillRect/>
          </a:stretch>
        </p:blipFill>
        <p:spPr>
          <a:xfrm>
            <a:off x="6527825" y="3171801"/>
            <a:ext cx="323125" cy="323125"/>
          </a:xfrm>
          <a:prstGeom prst="rect">
            <a:avLst/>
          </a:prstGeom>
          <a:noFill/>
          <a:ln>
            <a:noFill/>
          </a:ln>
        </p:spPr>
      </p:pic>
      <p:pic>
        <p:nvPicPr>
          <p:cNvPr id="374" name="Google Shape;374;p20"/>
          <p:cNvPicPr preferRelativeResize="0"/>
          <p:nvPr/>
        </p:nvPicPr>
        <p:blipFill>
          <a:blip r:embed="rId9">
            <a:alphaModFix amt="60000"/>
          </a:blip>
          <a:stretch>
            <a:fillRect/>
          </a:stretch>
        </p:blipFill>
        <p:spPr>
          <a:xfrm>
            <a:off x="2314494" y="3193244"/>
            <a:ext cx="280225" cy="280225"/>
          </a:xfrm>
          <a:prstGeom prst="rect">
            <a:avLst/>
          </a:prstGeom>
          <a:noFill/>
          <a:ln>
            <a:noFill/>
          </a:ln>
        </p:spPr>
      </p:pic>
      <p:pic>
        <p:nvPicPr>
          <p:cNvPr id="375" name="Google Shape;375;p20"/>
          <p:cNvPicPr preferRelativeResize="0"/>
          <p:nvPr/>
        </p:nvPicPr>
        <p:blipFill>
          <a:blip r:embed="rId10">
            <a:alphaModFix amt="60000"/>
          </a:blip>
          <a:stretch>
            <a:fillRect/>
          </a:stretch>
        </p:blipFill>
        <p:spPr>
          <a:xfrm>
            <a:off x="5105957" y="1162763"/>
            <a:ext cx="343675" cy="343697"/>
          </a:xfrm>
          <a:prstGeom prst="rect">
            <a:avLst/>
          </a:prstGeom>
          <a:noFill/>
          <a:ln>
            <a:noFill/>
          </a:ln>
        </p:spPr>
      </p:pic>
      <p:pic>
        <p:nvPicPr>
          <p:cNvPr id="376" name="Google Shape;376;p20"/>
          <p:cNvPicPr preferRelativeResize="0"/>
          <p:nvPr/>
        </p:nvPicPr>
        <p:blipFill>
          <a:blip r:embed="rId11">
            <a:alphaModFix amt="60000"/>
          </a:blip>
          <a:stretch>
            <a:fillRect/>
          </a:stretch>
        </p:blipFill>
        <p:spPr>
          <a:xfrm>
            <a:off x="6549276" y="1194498"/>
            <a:ext cx="280225" cy="280225"/>
          </a:xfrm>
          <a:prstGeom prst="rect">
            <a:avLst/>
          </a:prstGeom>
          <a:noFill/>
          <a:ln>
            <a:noFill/>
          </a:ln>
        </p:spPr>
      </p:pic>
      <p:pic>
        <p:nvPicPr>
          <p:cNvPr id="377" name="Google Shape;377;p20"/>
          <p:cNvPicPr preferRelativeResize="0"/>
          <p:nvPr/>
        </p:nvPicPr>
        <p:blipFill>
          <a:blip r:embed="rId12">
            <a:alphaModFix amt="60000"/>
          </a:blip>
          <a:stretch>
            <a:fillRect/>
          </a:stretch>
        </p:blipFill>
        <p:spPr>
          <a:xfrm>
            <a:off x="3726088" y="1194498"/>
            <a:ext cx="280225" cy="280225"/>
          </a:xfrm>
          <a:prstGeom prst="rect">
            <a:avLst/>
          </a:prstGeom>
          <a:noFill/>
          <a:ln>
            <a:noFill/>
          </a:ln>
        </p:spPr>
      </p:pic>
      <p:pic>
        <p:nvPicPr>
          <p:cNvPr id="378" name="Google Shape;378;p20"/>
          <p:cNvPicPr preferRelativeResize="0"/>
          <p:nvPr/>
        </p:nvPicPr>
        <p:blipFill>
          <a:blip r:embed="rId13">
            <a:alphaModFix amt="60000"/>
          </a:blip>
          <a:stretch>
            <a:fillRect/>
          </a:stretch>
        </p:blipFill>
        <p:spPr>
          <a:xfrm>
            <a:off x="902900" y="3193244"/>
            <a:ext cx="280225" cy="280225"/>
          </a:xfrm>
          <a:prstGeom prst="rect">
            <a:avLst/>
          </a:prstGeom>
          <a:noFill/>
          <a:ln>
            <a:noFill/>
          </a:ln>
        </p:spPr>
      </p:pic>
      <p:pic>
        <p:nvPicPr>
          <p:cNvPr id="379" name="Google Shape;379;p20"/>
          <p:cNvPicPr preferRelativeResize="0"/>
          <p:nvPr/>
        </p:nvPicPr>
        <p:blipFill>
          <a:blip r:embed="rId14">
            <a:alphaModFix amt="60000"/>
          </a:blip>
          <a:stretch>
            <a:fillRect/>
          </a:stretch>
        </p:blipFill>
        <p:spPr>
          <a:xfrm>
            <a:off x="7960877" y="1194511"/>
            <a:ext cx="280200" cy="280200"/>
          </a:xfrm>
          <a:prstGeom prst="rect">
            <a:avLst/>
          </a:prstGeom>
          <a:noFill/>
          <a:ln>
            <a:noFill/>
          </a:ln>
        </p:spPr>
      </p:pic>
      <p:pic>
        <p:nvPicPr>
          <p:cNvPr id="380" name="Google Shape;380;p20"/>
          <p:cNvPicPr preferRelativeResize="0"/>
          <p:nvPr/>
        </p:nvPicPr>
        <p:blipFill>
          <a:blip r:embed="rId15">
            <a:alphaModFix amt="60000"/>
          </a:blip>
          <a:stretch>
            <a:fillRect/>
          </a:stretch>
        </p:blipFill>
        <p:spPr>
          <a:xfrm>
            <a:off x="7960864" y="2190686"/>
            <a:ext cx="280225" cy="280225"/>
          </a:xfrm>
          <a:prstGeom prst="rect">
            <a:avLst/>
          </a:prstGeom>
          <a:noFill/>
          <a:ln>
            <a:noFill/>
          </a:ln>
        </p:spPr>
      </p:pic>
      <p:pic>
        <p:nvPicPr>
          <p:cNvPr id="381" name="Google Shape;381;p20"/>
          <p:cNvPicPr preferRelativeResize="0"/>
          <p:nvPr/>
        </p:nvPicPr>
        <p:blipFill>
          <a:blip r:embed="rId16">
            <a:alphaModFix amt="60000"/>
          </a:blip>
          <a:stretch>
            <a:fillRect/>
          </a:stretch>
        </p:blipFill>
        <p:spPr>
          <a:xfrm>
            <a:off x="6549276" y="2190686"/>
            <a:ext cx="280225" cy="280225"/>
          </a:xfrm>
          <a:prstGeom prst="rect">
            <a:avLst/>
          </a:prstGeom>
          <a:noFill/>
          <a:ln>
            <a:noFill/>
          </a:ln>
        </p:spPr>
      </p:pic>
      <p:pic>
        <p:nvPicPr>
          <p:cNvPr id="382" name="Google Shape;382;p20"/>
          <p:cNvPicPr preferRelativeResize="0"/>
          <p:nvPr/>
        </p:nvPicPr>
        <p:blipFill>
          <a:blip r:embed="rId17">
            <a:alphaModFix amt="60000"/>
          </a:blip>
          <a:stretch>
            <a:fillRect/>
          </a:stretch>
        </p:blipFill>
        <p:spPr>
          <a:xfrm>
            <a:off x="902913" y="2190699"/>
            <a:ext cx="280200" cy="280200"/>
          </a:xfrm>
          <a:prstGeom prst="rect">
            <a:avLst/>
          </a:prstGeom>
          <a:noFill/>
          <a:ln>
            <a:noFill/>
          </a:ln>
        </p:spPr>
      </p:pic>
      <p:pic>
        <p:nvPicPr>
          <p:cNvPr id="383" name="Google Shape;383;p20"/>
          <p:cNvPicPr preferRelativeResize="0"/>
          <p:nvPr/>
        </p:nvPicPr>
        <p:blipFill>
          <a:blip r:embed="rId18">
            <a:alphaModFix amt="60000"/>
          </a:blip>
          <a:stretch>
            <a:fillRect/>
          </a:stretch>
        </p:blipFill>
        <p:spPr>
          <a:xfrm>
            <a:off x="2314507" y="2190699"/>
            <a:ext cx="280200" cy="280200"/>
          </a:xfrm>
          <a:prstGeom prst="rect">
            <a:avLst/>
          </a:prstGeom>
          <a:noFill/>
          <a:ln>
            <a:noFill/>
          </a:ln>
        </p:spPr>
      </p:pic>
      <p:pic>
        <p:nvPicPr>
          <p:cNvPr id="384" name="Google Shape;384;p20"/>
          <p:cNvPicPr preferRelativeResize="0"/>
          <p:nvPr/>
        </p:nvPicPr>
        <p:blipFill>
          <a:blip r:embed="rId19">
            <a:alphaModFix amt="60000"/>
          </a:blip>
          <a:stretch>
            <a:fillRect/>
          </a:stretch>
        </p:blipFill>
        <p:spPr>
          <a:xfrm>
            <a:off x="3726101" y="2190699"/>
            <a:ext cx="280200" cy="280200"/>
          </a:xfrm>
          <a:prstGeom prst="rect">
            <a:avLst/>
          </a:prstGeom>
          <a:noFill/>
          <a:ln>
            <a:noFill/>
          </a:ln>
        </p:spPr>
      </p:pic>
      <p:pic>
        <p:nvPicPr>
          <p:cNvPr id="385" name="Google Shape;385;p20"/>
          <p:cNvPicPr preferRelativeResize="0"/>
          <p:nvPr/>
        </p:nvPicPr>
        <p:blipFill>
          <a:blip r:embed="rId20">
            <a:alphaModFix amt="60000"/>
          </a:blip>
          <a:stretch>
            <a:fillRect/>
          </a:stretch>
        </p:blipFill>
        <p:spPr>
          <a:xfrm>
            <a:off x="5137695" y="2190699"/>
            <a:ext cx="280200" cy="280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1"/>
          <p:cNvSpPr/>
          <p:nvPr/>
        </p:nvSpPr>
        <p:spPr>
          <a:xfrm>
            <a:off x="486300" y="421115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1"/>
          <p:cNvSpPr/>
          <p:nvPr/>
        </p:nvSpPr>
        <p:spPr>
          <a:xfrm>
            <a:off x="486300" y="370160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1"/>
          <p:cNvSpPr/>
          <p:nvPr/>
        </p:nvSpPr>
        <p:spPr>
          <a:xfrm>
            <a:off x="486300" y="31806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1"/>
          <p:cNvSpPr/>
          <p:nvPr/>
        </p:nvSpPr>
        <p:spPr>
          <a:xfrm>
            <a:off x="486300" y="266538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486300" y="21501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486300" y="16964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1"/>
          <p:cNvSpPr/>
          <p:nvPr/>
        </p:nvSpPr>
        <p:spPr>
          <a:xfrm>
            <a:off x="486300" y="1174775"/>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1"/>
          <p:cNvSpPr/>
          <p:nvPr/>
        </p:nvSpPr>
        <p:spPr>
          <a:xfrm>
            <a:off x="486300" y="66925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1"/>
          <p:cNvSpPr txBox="1"/>
          <p:nvPr>
            <p:ph idx="4294967295"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Assessment &amp; Advisory - CPQ</a:t>
            </a:r>
            <a:endParaRPr/>
          </a:p>
        </p:txBody>
      </p:sp>
      <p:sp>
        <p:nvSpPr>
          <p:cNvPr id="400" name="Google Shape;400;p21"/>
          <p:cNvSpPr txBox="1"/>
          <p:nvPr/>
        </p:nvSpPr>
        <p:spPr>
          <a:xfrm>
            <a:off x="884946" y="691020"/>
            <a:ext cx="7295700" cy="387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Document AS-IS &amp; TO-BE process flows and Pain Points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Process, System and Data Transformation (future state GTM &amp; monetization models)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Organizational readiness (future state GTM &amp; monetization models)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Business Process Architecture (future state GTM &amp; monetization models)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Industry Best Practices; Identify Pain-points; review Recommendations - Big Rocks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High Level Epic &amp; Story Planning </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Personas for Sales and Sales Operations; Review User Experience (UX) requirements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Development Roadmap and Phases</a:t>
            </a:r>
            <a:endParaRPr sz="1100">
              <a:latin typeface="Montserrat"/>
              <a:ea typeface="Montserrat"/>
              <a:cs typeface="Montserrat"/>
              <a:sym typeface="Montserrat"/>
            </a:endParaRPr>
          </a:p>
        </p:txBody>
      </p:sp>
      <p:pic>
        <p:nvPicPr>
          <p:cNvPr id="401" name="Google Shape;401;p21"/>
          <p:cNvPicPr preferRelativeResize="0"/>
          <p:nvPr/>
        </p:nvPicPr>
        <p:blipFill>
          <a:blip r:embed="rId3">
            <a:alphaModFix amt="70000"/>
          </a:blip>
          <a:stretch>
            <a:fillRect/>
          </a:stretch>
        </p:blipFill>
        <p:spPr>
          <a:xfrm>
            <a:off x="575842" y="730757"/>
            <a:ext cx="271503" cy="271538"/>
          </a:xfrm>
          <a:prstGeom prst="rect">
            <a:avLst/>
          </a:prstGeom>
          <a:noFill/>
          <a:ln>
            <a:noFill/>
          </a:ln>
        </p:spPr>
      </p:pic>
      <p:pic>
        <p:nvPicPr>
          <p:cNvPr id="402" name="Google Shape;402;p21"/>
          <p:cNvPicPr preferRelativeResize="0"/>
          <p:nvPr/>
        </p:nvPicPr>
        <p:blipFill>
          <a:blip r:embed="rId4">
            <a:alphaModFix amt="70000"/>
          </a:blip>
          <a:stretch>
            <a:fillRect/>
          </a:stretch>
        </p:blipFill>
        <p:spPr>
          <a:xfrm>
            <a:off x="575850" y="1242245"/>
            <a:ext cx="271500" cy="271500"/>
          </a:xfrm>
          <a:prstGeom prst="rect">
            <a:avLst/>
          </a:prstGeom>
          <a:noFill/>
          <a:ln>
            <a:noFill/>
          </a:ln>
        </p:spPr>
      </p:pic>
      <p:pic>
        <p:nvPicPr>
          <p:cNvPr id="403" name="Google Shape;403;p21"/>
          <p:cNvPicPr preferRelativeResize="0"/>
          <p:nvPr/>
        </p:nvPicPr>
        <p:blipFill>
          <a:blip r:embed="rId5">
            <a:alphaModFix amt="70000"/>
          </a:blip>
          <a:stretch>
            <a:fillRect/>
          </a:stretch>
        </p:blipFill>
        <p:spPr>
          <a:xfrm>
            <a:off x="575850" y="1730170"/>
            <a:ext cx="271500" cy="271500"/>
          </a:xfrm>
          <a:prstGeom prst="rect">
            <a:avLst/>
          </a:prstGeom>
          <a:noFill/>
          <a:ln>
            <a:noFill/>
          </a:ln>
        </p:spPr>
      </p:pic>
      <p:pic>
        <p:nvPicPr>
          <p:cNvPr id="404" name="Google Shape;404;p21"/>
          <p:cNvPicPr preferRelativeResize="0"/>
          <p:nvPr/>
        </p:nvPicPr>
        <p:blipFill>
          <a:blip r:embed="rId6">
            <a:alphaModFix amt="70000"/>
          </a:blip>
          <a:stretch>
            <a:fillRect/>
          </a:stretch>
        </p:blipFill>
        <p:spPr>
          <a:xfrm>
            <a:off x="575850" y="2218095"/>
            <a:ext cx="271500" cy="271500"/>
          </a:xfrm>
          <a:prstGeom prst="rect">
            <a:avLst/>
          </a:prstGeom>
          <a:noFill/>
          <a:ln>
            <a:noFill/>
          </a:ln>
        </p:spPr>
      </p:pic>
      <p:pic>
        <p:nvPicPr>
          <p:cNvPr id="405" name="Google Shape;405;p21"/>
          <p:cNvPicPr preferRelativeResize="0"/>
          <p:nvPr/>
        </p:nvPicPr>
        <p:blipFill>
          <a:blip r:embed="rId7">
            <a:alphaModFix amt="60000"/>
          </a:blip>
          <a:stretch>
            <a:fillRect/>
          </a:stretch>
        </p:blipFill>
        <p:spPr>
          <a:xfrm>
            <a:off x="575850" y="2717381"/>
            <a:ext cx="271500" cy="271500"/>
          </a:xfrm>
          <a:prstGeom prst="rect">
            <a:avLst/>
          </a:prstGeom>
          <a:noFill/>
          <a:ln>
            <a:noFill/>
          </a:ln>
        </p:spPr>
      </p:pic>
      <p:pic>
        <p:nvPicPr>
          <p:cNvPr id="406" name="Google Shape;406;p21"/>
          <p:cNvPicPr preferRelativeResize="0"/>
          <p:nvPr/>
        </p:nvPicPr>
        <p:blipFill>
          <a:blip r:embed="rId8">
            <a:alphaModFix amt="70000"/>
          </a:blip>
          <a:stretch>
            <a:fillRect/>
          </a:stretch>
        </p:blipFill>
        <p:spPr>
          <a:xfrm>
            <a:off x="575850" y="3224729"/>
            <a:ext cx="271500" cy="271500"/>
          </a:xfrm>
          <a:prstGeom prst="rect">
            <a:avLst/>
          </a:prstGeom>
          <a:noFill/>
          <a:ln>
            <a:noFill/>
          </a:ln>
        </p:spPr>
      </p:pic>
      <p:pic>
        <p:nvPicPr>
          <p:cNvPr id="407" name="Google Shape;407;p21"/>
          <p:cNvPicPr preferRelativeResize="0"/>
          <p:nvPr/>
        </p:nvPicPr>
        <p:blipFill>
          <a:blip r:embed="rId9">
            <a:alphaModFix amt="70000"/>
          </a:blip>
          <a:stretch>
            <a:fillRect/>
          </a:stretch>
        </p:blipFill>
        <p:spPr>
          <a:xfrm>
            <a:off x="575850" y="3723645"/>
            <a:ext cx="271500" cy="271500"/>
          </a:xfrm>
          <a:prstGeom prst="rect">
            <a:avLst/>
          </a:prstGeom>
          <a:noFill/>
          <a:ln>
            <a:noFill/>
          </a:ln>
        </p:spPr>
      </p:pic>
      <p:pic>
        <p:nvPicPr>
          <p:cNvPr id="408" name="Google Shape;408;p21"/>
          <p:cNvPicPr preferRelativeResize="0"/>
          <p:nvPr/>
        </p:nvPicPr>
        <p:blipFill>
          <a:blip r:embed="rId10">
            <a:alphaModFix amt="60000"/>
          </a:blip>
          <a:stretch>
            <a:fillRect/>
          </a:stretch>
        </p:blipFill>
        <p:spPr>
          <a:xfrm>
            <a:off x="575850" y="4222570"/>
            <a:ext cx="263075" cy="263075"/>
          </a:xfrm>
          <a:prstGeom prst="rect">
            <a:avLst/>
          </a:prstGeom>
          <a:noFill/>
          <a:ln>
            <a:noFill/>
          </a:ln>
        </p:spPr>
      </p:pic>
      <p:cxnSp>
        <p:nvCxnSpPr>
          <p:cNvPr id="409" name="Google Shape;409;p21"/>
          <p:cNvCxnSpPr/>
          <p:nvPr/>
        </p:nvCxnSpPr>
        <p:spPr>
          <a:xfrm>
            <a:off x="995150" y="111012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0" name="Google Shape;410;p21"/>
          <p:cNvCxnSpPr/>
          <p:nvPr/>
        </p:nvCxnSpPr>
        <p:spPr>
          <a:xfrm>
            <a:off x="995150" y="163383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1" name="Google Shape;411;p21"/>
          <p:cNvCxnSpPr/>
          <p:nvPr/>
        </p:nvCxnSpPr>
        <p:spPr>
          <a:xfrm>
            <a:off x="995150" y="2111685"/>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2" name="Google Shape;412;p21"/>
          <p:cNvCxnSpPr/>
          <p:nvPr/>
        </p:nvCxnSpPr>
        <p:spPr>
          <a:xfrm>
            <a:off x="995150" y="261301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3" name="Google Shape;413;p21"/>
          <p:cNvCxnSpPr/>
          <p:nvPr/>
        </p:nvCxnSpPr>
        <p:spPr>
          <a:xfrm>
            <a:off x="995150" y="3112642"/>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4" name="Google Shape;414;p21"/>
          <p:cNvCxnSpPr/>
          <p:nvPr/>
        </p:nvCxnSpPr>
        <p:spPr>
          <a:xfrm>
            <a:off x="995150" y="3608859"/>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15" name="Google Shape;415;p21"/>
          <p:cNvCxnSpPr/>
          <p:nvPr/>
        </p:nvCxnSpPr>
        <p:spPr>
          <a:xfrm>
            <a:off x="995150" y="4118828"/>
            <a:ext cx="6560100" cy="0"/>
          </a:xfrm>
          <a:prstGeom prst="straightConnector1">
            <a:avLst/>
          </a:prstGeom>
          <a:noFill/>
          <a:ln cap="flat" cmpd="sng" w="9525">
            <a:solidFill>
              <a:srgbClr val="21A0DD"/>
            </a:solidFill>
            <a:prstDash val="dot"/>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2"/>
          <p:cNvSpPr/>
          <p:nvPr/>
        </p:nvSpPr>
        <p:spPr>
          <a:xfrm flipH="1">
            <a:off x="726487" y="907163"/>
            <a:ext cx="3589500" cy="825300"/>
          </a:xfrm>
          <a:prstGeom prst="roundRect">
            <a:avLst>
              <a:gd fmla="val 48323" name="adj"/>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12251"/>
              </a:solidFill>
            </a:endParaRPr>
          </a:p>
        </p:txBody>
      </p:sp>
      <p:sp>
        <p:nvSpPr>
          <p:cNvPr id="422" name="Google Shape;422;p22"/>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Timeline &amp; Budgetary Estimate - CPQ Assessment</a:t>
            </a:r>
            <a:endParaRPr>
              <a:solidFill>
                <a:srgbClr val="21A0DD"/>
              </a:solidFill>
            </a:endParaRPr>
          </a:p>
        </p:txBody>
      </p:sp>
      <p:sp>
        <p:nvSpPr>
          <p:cNvPr id="423" name="Google Shape;423;p22"/>
          <p:cNvSpPr txBox="1"/>
          <p:nvPr/>
        </p:nvSpPr>
        <p:spPr>
          <a:xfrm>
            <a:off x="1545520" y="1024147"/>
            <a:ext cx="2532600" cy="5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Total Estimated Weeks/Hours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US" sz="2000">
                <a:solidFill>
                  <a:srgbClr val="1FA0DD"/>
                </a:solidFill>
                <a:latin typeface="Century Gothic"/>
                <a:ea typeface="Century Gothic"/>
                <a:cs typeface="Century Gothic"/>
                <a:sym typeface="Century Gothic"/>
              </a:rPr>
              <a:t>8</a:t>
            </a:r>
            <a:r>
              <a:rPr b="1" lang="en-US" sz="2000">
                <a:solidFill>
                  <a:srgbClr val="1FA0DD"/>
                </a:solidFill>
                <a:latin typeface="Century Gothic"/>
                <a:ea typeface="Century Gothic"/>
                <a:cs typeface="Century Gothic"/>
                <a:sym typeface="Century Gothic"/>
              </a:rPr>
              <a:t> weeks/ 880 hrs</a:t>
            </a:r>
            <a:endParaRPr b="1" sz="2000">
              <a:latin typeface="Century Gothic"/>
              <a:ea typeface="Century Gothic"/>
              <a:cs typeface="Century Gothic"/>
              <a:sym typeface="Century Gothic"/>
            </a:endParaRPr>
          </a:p>
        </p:txBody>
      </p:sp>
      <p:graphicFrame>
        <p:nvGraphicFramePr>
          <p:cNvPr id="424" name="Google Shape;424;p22"/>
          <p:cNvGraphicFramePr/>
          <p:nvPr/>
        </p:nvGraphicFramePr>
        <p:xfrm>
          <a:off x="726488" y="1997972"/>
          <a:ext cx="3000000" cy="3000000"/>
        </p:xfrm>
        <a:graphic>
          <a:graphicData uri="http://schemas.openxmlformats.org/drawingml/2006/table">
            <a:tbl>
              <a:tblPr>
                <a:noFill/>
                <a:tableStyleId>{07876114-0284-437C-941D-8F7499022289}</a:tableStyleId>
              </a:tblPr>
              <a:tblGrid>
                <a:gridCol w="2582100"/>
                <a:gridCol w="620100"/>
                <a:gridCol w="620225"/>
                <a:gridCol w="642100"/>
                <a:gridCol w="615500"/>
                <a:gridCol w="631900"/>
                <a:gridCol w="660325"/>
                <a:gridCol w="654700"/>
                <a:gridCol w="630050"/>
              </a:tblGrid>
              <a:tr h="350">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Phase Role</a:t>
                      </a:r>
                      <a:endParaRPr b="1" sz="1200">
                        <a:solidFill>
                          <a:srgbClr val="FFFFFF"/>
                        </a:solidFill>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WK1</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WK2</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WK3</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WK4</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WK5</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WK6</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WK7</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WK8</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Assess</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9200"/>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9200"/>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Analyze</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Advice</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r h="309450">
                <a:tc>
                  <a:txBody>
                    <a:bodyPr/>
                    <a:lstStyle/>
                    <a:p>
                      <a:pPr indent="0" lvl="0" marL="0" rtl="0" algn="l">
                        <a:spcBef>
                          <a:spcPts val="0"/>
                        </a:spcBef>
                        <a:spcAft>
                          <a:spcPts val="0"/>
                        </a:spcAft>
                        <a:buNone/>
                      </a:pPr>
                      <a:r>
                        <a:rPr b="1" lang="en-US" sz="1100">
                          <a:latin typeface="Calibri"/>
                          <a:ea typeface="Calibri"/>
                          <a:cs typeface="Calibri"/>
                          <a:sym typeface="Calibri"/>
                        </a:rPr>
                        <a:t>Align</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solidFill>
                      <a:srgbClr val="CFE2F3"/>
                    </a:solidFill>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Engagement</a:t>
                      </a:r>
                      <a:r>
                        <a:rPr b="1" lang="en-US" sz="1100">
                          <a:latin typeface="Calibri"/>
                          <a:ea typeface="Calibri"/>
                          <a:cs typeface="Calibri"/>
                          <a:sym typeface="Calibri"/>
                        </a:rPr>
                        <a:t> Manager</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a:t>
                      </a:r>
                      <a:r>
                        <a:rPr b="1" lang="en-US" sz="1200">
                          <a:solidFill>
                            <a:srgbClr val="666666"/>
                          </a:solidFill>
                          <a:latin typeface="Calibri"/>
                          <a:ea typeface="Calibri"/>
                          <a:cs typeface="Calibri"/>
                          <a:sym typeface="Calibri"/>
                        </a:rPr>
                        <a:t>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Business Architect - QTC</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Solution Architect - QTC</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UX Director </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20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r>
            </a:tbl>
          </a:graphicData>
        </a:graphic>
      </p:graphicFrame>
      <p:pic>
        <p:nvPicPr>
          <p:cNvPr id="425" name="Google Shape;425;p22"/>
          <p:cNvPicPr preferRelativeResize="0"/>
          <p:nvPr/>
        </p:nvPicPr>
        <p:blipFill>
          <a:blip r:embed="rId3">
            <a:alphaModFix amt="60000"/>
          </a:blip>
          <a:stretch>
            <a:fillRect/>
          </a:stretch>
        </p:blipFill>
        <p:spPr>
          <a:xfrm>
            <a:off x="1046834" y="1070463"/>
            <a:ext cx="498675" cy="498675"/>
          </a:xfrm>
          <a:prstGeom prst="rect">
            <a:avLst/>
          </a:prstGeom>
          <a:noFill/>
          <a:ln>
            <a:noFill/>
          </a:ln>
        </p:spPr>
      </p:pic>
      <p:sp>
        <p:nvSpPr>
          <p:cNvPr id="426" name="Google Shape;426;p22"/>
          <p:cNvSpPr/>
          <p:nvPr/>
        </p:nvSpPr>
        <p:spPr>
          <a:xfrm flipH="1">
            <a:off x="4828012" y="907163"/>
            <a:ext cx="3589500" cy="825300"/>
          </a:xfrm>
          <a:prstGeom prst="roundRect">
            <a:avLst>
              <a:gd fmla="val 48323" name="adj"/>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12251"/>
              </a:solidFill>
            </a:endParaRPr>
          </a:p>
        </p:txBody>
      </p:sp>
      <p:sp>
        <p:nvSpPr>
          <p:cNvPr id="427" name="Google Shape;427;p22"/>
          <p:cNvSpPr txBox="1"/>
          <p:nvPr/>
        </p:nvSpPr>
        <p:spPr>
          <a:xfrm>
            <a:off x="6364709" y="1024138"/>
            <a:ext cx="1353000" cy="5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Estimated Cost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US" sz="2000">
                <a:solidFill>
                  <a:srgbClr val="FF8C00"/>
                </a:solidFill>
                <a:latin typeface="Century Gothic"/>
                <a:ea typeface="Century Gothic"/>
                <a:cs typeface="Century Gothic"/>
                <a:sym typeface="Century Gothic"/>
              </a:rPr>
              <a:t>$132,000</a:t>
            </a:r>
            <a:endParaRPr b="1" sz="2000">
              <a:solidFill>
                <a:srgbClr val="FF8C00"/>
              </a:solidFill>
              <a:latin typeface="Century Gothic"/>
              <a:ea typeface="Century Gothic"/>
              <a:cs typeface="Century Gothic"/>
              <a:sym typeface="Century Gothic"/>
            </a:endParaRPr>
          </a:p>
        </p:txBody>
      </p:sp>
      <p:pic>
        <p:nvPicPr>
          <p:cNvPr id="428" name="Google Shape;428;p22"/>
          <p:cNvPicPr preferRelativeResize="0"/>
          <p:nvPr/>
        </p:nvPicPr>
        <p:blipFill>
          <a:blip r:embed="rId4">
            <a:alphaModFix amt="50000"/>
          </a:blip>
          <a:stretch>
            <a:fillRect/>
          </a:stretch>
        </p:blipFill>
        <p:spPr>
          <a:xfrm>
            <a:off x="5882284" y="1102963"/>
            <a:ext cx="466175" cy="466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3"/>
          <p:cNvSpPr/>
          <p:nvPr/>
        </p:nvSpPr>
        <p:spPr>
          <a:xfrm>
            <a:off x="486300" y="421115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3"/>
          <p:cNvSpPr/>
          <p:nvPr/>
        </p:nvSpPr>
        <p:spPr>
          <a:xfrm>
            <a:off x="486300" y="370160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
          <p:cNvSpPr/>
          <p:nvPr/>
        </p:nvSpPr>
        <p:spPr>
          <a:xfrm>
            <a:off x="486300" y="31806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3"/>
          <p:cNvSpPr/>
          <p:nvPr/>
        </p:nvSpPr>
        <p:spPr>
          <a:xfrm>
            <a:off x="486300" y="266538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p:nvPr/>
        </p:nvSpPr>
        <p:spPr>
          <a:xfrm>
            <a:off x="486300" y="21501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3"/>
          <p:cNvSpPr/>
          <p:nvPr/>
        </p:nvSpPr>
        <p:spPr>
          <a:xfrm>
            <a:off x="486300" y="1696438"/>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3"/>
          <p:cNvSpPr/>
          <p:nvPr/>
        </p:nvSpPr>
        <p:spPr>
          <a:xfrm>
            <a:off x="486300" y="1174775"/>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p:nvPr/>
        </p:nvSpPr>
        <p:spPr>
          <a:xfrm>
            <a:off x="486300" y="669250"/>
            <a:ext cx="206400" cy="206400"/>
          </a:xfrm>
          <a:prstGeom prst="ellipse">
            <a:avLst/>
          </a:prstGeom>
          <a:solidFill>
            <a:srgbClr val="D0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txBox="1"/>
          <p:nvPr>
            <p:ph idx="4294967295"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Assessment &amp; Advisory - Salesforce</a:t>
            </a:r>
            <a:endParaRPr/>
          </a:p>
        </p:txBody>
      </p:sp>
      <p:sp>
        <p:nvSpPr>
          <p:cNvPr id="443" name="Google Shape;443;p23"/>
          <p:cNvSpPr txBox="1"/>
          <p:nvPr/>
        </p:nvSpPr>
        <p:spPr>
          <a:xfrm>
            <a:off x="884946" y="691020"/>
            <a:ext cx="7295700" cy="387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Campaign, Account, Lead, Opportunity Management process and implementation</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Territory Management, Pipeline, Forecast &amp; Sales Collaboration process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Industry Best Practices; Identify Pain-points; review Recommendations - Big Rocks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R</a:t>
            </a:r>
            <a:r>
              <a:rPr lang="en-US" sz="1100">
                <a:solidFill>
                  <a:schemeClr val="dk1"/>
                </a:solidFill>
                <a:latin typeface="Montserrat"/>
                <a:ea typeface="Montserrat"/>
                <a:cs typeface="Montserrat"/>
                <a:sym typeface="Montserrat"/>
              </a:rPr>
              <a:t>eports</a:t>
            </a:r>
            <a:r>
              <a:rPr lang="en-US" sz="1100">
                <a:solidFill>
                  <a:schemeClr val="dk1"/>
                </a:solidFill>
                <a:latin typeface="Montserrat"/>
                <a:ea typeface="Montserrat"/>
                <a:cs typeface="Montserrat"/>
                <a:sym typeface="Montserrat"/>
              </a:rPr>
              <a:t> &amp; Dashboards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triggers, flows, customizations, configurations performance, security issues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Data Quality assessment</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User adoption, roles and permission sets</a:t>
            </a:r>
            <a:endParaRPr sz="1100">
              <a:solidFill>
                <a:schemeClr val="dk1"/>
              </a:solidFill>
              <a:latin typeface="Montserrat"/>
              <a:ea typeface="Montserrat"/>
              <a:cs typeface="Montserrat"/>
              <a:sym typeface="Montserrat"/>
            </a:endParaRPr>
          </a:p>
          <a:p>
            <a:pPr indent="0" lvl="0" marL="0" rtl="0" algn="l">
              <a:lnSpc>
                <a:spcPct val="115000"/>
              </a:lnSpc>
              <a:spcBef>
                <a:spcPts val="2400"/>
              </a:spcBef>
              <a:spcAft>
                <a:spcPts val="0"/>
              </a:spcAft>
              <a:buNone/>
            </a:pPr>
            <a:r>
              <a:rPr lang="en-US" sz="1100">
                <a:solidFill>
                  <a:schemeClr val="dk1"/>
                </a:solidFill>
                <a:latin typeface="Montserrat"/>
                <a:ea typeface="Montserrat"/>
                <a:cs typeface="Montserrat"/>
                <a:sym typeface="Montserrat"/>
              </a:rPr>
              <a:t>Review new features &amp; functionality for Sales Cloud</a:t>
            </a:r>
            <a:endParaRPr sz="1100">
              <a:solidFill>
                <a:schemeClr val="dk1"/>
              </a:solidFill>
              <a:latin typeface="Montserrat"/>
              <a:ea typeface="Montserrat"/>
              <a:cs typeface="Montserrat"/>
              <a:sym typeface="Montserrat"/>
            </a:endParaRPr>
          </a:p>
        </p:txBody>
      </p:sp>
      <p:pic>
        <p:nvPicPr>
          <p:cNvPr id="444" name="Google Shape;444;p23"/>
          <p:cNvPicPr preferRelativeResize="0"/>
          <p:nvPr/>
        </p:nvPicPr>
        <p:blipFill>
          <a:blip r:embed="rId3">
            <a:alphaModFix amt="70000"/>
          </a:blip>
          <a:stretch>
            <a:fillRect/>
          </a:stretch>
        </p:blipFill>
        <p:spPr>
          <a:xfrm>
            <a:off x="575842" y="730757"/>
            <a:ext cx="271503" cy="271538"/>
          </a:xfrm>
          <a:prstGeom prst="rect">
            <a:avLst/>
          </a:prstGeom>
          <a:noFill/>
          <a:ln>
            <a:noFill/>
          </a:ln>
        </p:spPr>
      </p:pic>
      <p:pic>
        <p:nvPicPr>
          <p:cNvPr id="445" name="Google Shape;445;p23"/>
          <p:cNvPicPr preferRelativeResize="0"/>
          <p:nvPr/>
        </p:nvPicPr>
        <p:blipFill>
          <a:blip r:embed="rId4">
            <a:alphaModFix amt="70000"/>
          </a:blip>
          <a:stretch>
            <a:fillRect/>
          </a:stretch>
        </p:blipFill>
        <p:spPr>
          <a:xfrm>
            <a:off x="575850" y="1242245"/>
            <a:ext cx="271500" cy="271500"/>
          </a:xfrm>
          <a:prstGeom prst="rect">
            <a:avLst/>
          </a:prstGeom>
          <a:noFill/>
          <a:ln>
            <a:noFill/>
          </a:ln>
        </p:spPr>
      </p:pic>
      <p:pic>
        <p:nvPicPr>
          <p:cNvPr id="446" name="Google Shape;446;p23"/>
          <p:cNvPicPr preferRelativeResize="0"/>
          <p:nvPr/>
        </p:nvPicPr>
        <p:blipFill>
          <a:blip r:embed="rId5">
            <a:alphaModFix amt="70000"/>
          </a:blip>
          <a:stretch>
            <a:fillRect/>
          </a:stretch>
        </p:blipFill>
        <p:spPr>
          <a:xfrm>
            <a:off x="575850" y="1730170"/>
            <a:ext cx="271500" cy="271500"/>
          </a:xfrm>
          <a:prstGeom prst="rect">
            <a:avLst/>
          </a:prstGeom>
          <a:noFill/>
          <a:ln>
            <a:noFill/>
          </a:ln>
        </p:spPr>
      </p:pic>
      <p:pic>
        <p:nvPicPr>
          <p:cNvPr id="447" name="Google Shape;447;p23"/>
          <p:cNvPicPr preferRelativeResize="0"/>
          <p:nvPr/>
        </p:nvPicPr>
        <p:blipFill>
          <a:blip r:embed="rId6">
            <a:alphaModFix amt="70000"/>
          </a:blip>
          <a:stretch>
            <a:fillRect/>
          </a:stretch>
        </p:blipFill>
        <p:spPr>
          <a:xfrm>
            <a:off x="575850" y="2218095"/>
            <a:ext cx="271500" cy="271500"/>
          </a:xfrm>
          <a:prstGeom prst="rect">
            <a:avLst/>
          </a:prstGeom>
          <a:noFill/>
          <a:ln>
            <a:noFill/>
          </a:ln>
        </p:spPr>
      </p:pic>
      <p:pic>
        <p:nvPicPr>
          <p:cNvPr id="448" name="Google Shape;448;p23"/>
          <p:cNvPicPr preferRelativeResize="0"/>
          <p:nvPr/>
        </p:nvPicPr>
        <p:blipFill>
          <a:blip r:embed="rId7">
            <a:alphaModFix amt="60000"/>
          </a:blip>
          <a:stretch>
            <a:fillRect/>
          </a:stretch>
        </p:blipFill>
        <p:spPr>
          <a:xfrm>
            <a:off x="575850" y="2717381"/>
            <a:ext cx="271500" cy="271500"/>
          </a:xfrm>
          <a:prstGeom prst="rect">
            <a:avLst/>
          </a:prstGeom>
          <a:noFill/>
          <a:ln>
            <a:noFill/>
          </a:ln>
        </p:spPr>
      </p:pic>
      <p:pic>
        <p:nvPicPr>
          <p:cNvPr id="449" name="Google Shape;449;p23"/>
          <p:cNvPicPr preferRelativeResize="0"/>
          <p:nvPr/>
        </p:nvPicPr>
        <p:blipFill>
          <a:blip r:embed="rId8">
            <a:alphaModFix amt="70000"/>
          </a:blip>
          <a:stretch>
            <a:fillRect/>
          </a:stretch>
        </p:blipFill>
        <p:spPr>
          <a:xfrm>
            <a:off x="575850" y="3224729"/>
            <a:ext cx="271500" cy="271500"/>
          </a:xfrm>
          <a:prstGeom prst="rect">
            <a:avLst/>
          </a:prstGeom>
          <a:noFill/>
          <a:ln>
            <a:noFill/>
          </a:ln>
        </p:spPr>
      </p:pic>
      <p:pic>
        <p:nvPicPr>
          <p:cNvPr id="450" name="Google Shape;450;p23"/>
          <p:cNvPicPr preferRelativeResize="0"/>
          <p:nvPr/>
        </p:nvPicPr>
        <p:blipFill>
          <a:blip r:embed="rId9">
            <a:alphaModFix amt="70000"/>
          </a:blip>
          <a:stretch>
            <a:fillRect/>
          </a:stretch>
        </p:blipFill>
        <p:spPr>
          <a:xfrm>
            <a:off x="575850" y="3723645"/>
            <a:ext cx="271500" cy="271500"/>
          </a:xfrm>
          <a:prstGeom prst="rect">
            <a:avLst/>
          </a:prstGeom>
          <a:noFill/>
          <a:ln>
            <a:noFill/>
          </a:ln>
        </p:spPr>
      </p:pic>
      <p:pic>
        <p:nvPicPr>
          <p:cNvPr id="451" name="Google Shape;451;p23"/>
          <p:cNvPicPr preferRelativeResize="0"/>
          <p:nvPr/>
        </p:nvPicPr>
        <p:blipFill>
          <a:blip r:embed="rId10">
            <a:alphaModFix amt="60000"/>
          </a:blip>
          <a:stretch>
            <a:fillRect/>
          </a:stretch>
        </p:blipFill>
        <p:spPr>
          <a:xfrm>
            <a:off x="575850" y="4222570"/>
            <a:ext cx="263075" cy="263075"/>
          </a:xfrm>
          <a:prstGeom prst="rect">
            <a:avLst/>
          </a:prstGeom>
          <a:noFill/>
          <a:ln>
            <a:noFill/>
          </a:ln>
        </p:spPr>
      </p:pic>
      <p:cxnSp>
        <p:nvCxnSpPr>
          <p:cNvPr id="452" name="Google Shape;452;p23"/>
          <p:cNvCxnSpPr/>
          <p:nvPr/>
        </p:nvCxnSpPr>
        <p:spPr>
          <a:xfrm>
            <a:off x="995150" y="111012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3" name="Google Shape;453;p23"/>
          <p:cNvCxnSpPr/>
          <p:nvPr/>
        </p:nvCxnSpPr>
        <p:spPr>
          <a:xfrm>
            <a:off x="995150" y="163383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4" name="Google Shape;454;p23"/>
          <p:cNvCxnSpPr/>
          <p:nvPr/>
        </p:nvCxnSpPr>
        <p:spPr>
          <a:xfrm>
            <a:off x="995150" y="2111685"/>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5" name="Google Shape;455;p23"/>
          <p:cNvCxnSpPr/>
          <p:nvPr/>
        </p:nvCxnSpPr>
        <p:spPr>
          <a:xfrm>
            <a:off x="995150" y="2613018"/>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6" name="Google Shape;456;p23"/>
          <p:cNvCxnSpPr/>
          <p:nvPr/>
        </p:nvCxnSpPr>
        <p:spPr>
          <a:xfrm>
            <a:off x="995150" y="3112642"/>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7" name="Google Shape;457;p23"/>
          <p:cNvCxnSpPr/>
          <p:nvPr/>
        </p:nvCxnSpPr>
        <p:spPr>
          <a:xfrm>
            <a:off x="995150" y="3608859"/>
            <a:ext cx="6560100" cy="0"/>
          </a:xfrm>
          <a:prstGeom prst="straightConnector1">
            <a:avLst/>
          </a:prstGeom>
          <a:noFill/>
          <a:ln cap="flat" cmpd="sng" w="9525">
            <a:solidFill>
              <a:srgbClr val="21A0DD"/>
            </a:solidFill>
            <a:prstDash val="dot"/>
            <a:round/>
            <a:headEnd len="med" w="med" type="none"/>
            <a:tailEnd len="med" w="med" type="none"/>
          </a:ln>
        </p:spPr>
      </p:cxnSp>
      <p:cxnSp>
        <p:nvCxnSpPr>
          <p:cNvPr id="458" name="Google Shape;458;p23"/>
          <p:cNvCxnSpPr/>
          <p:nvPr/>
        </p:nvCxnSpPr>
        <p:spPr>
          <a:xfrm>
            <a:off x="995150" y="4118828"/>
            <a:ext cx="6560100" cy="0"/>
          </a:xfrm>
          <a:prstGeom prst="straightConnector1">
            <a:avLst/>
          </a:prstGeom>
          <a:noFill/>
          <a:ln cap="flat" cmpd="sng" w="9525">
            <a:solidFill>
              <a:srgbClr val="21A0DD"/>
            </a:solidFill>
            <a:prstDash val="dot"/>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4"/>
          <p:cNvSpPr/>
          <p:nvPr/>
        </p:nvSpPr>
        <p:spPr>
          <a:xfrm flipH="1">
            <a:off x="726487" y="907163"/>
            <a:ext cx="3589500" cy="825300"/>
          </a:xfrm>
          <a:prstGeom prst="roundRect">
            <a:avLst>
              <a:gd fmla="val 48323" name="adj"/>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12251"/>
              </a:solidFill>
            </a:endParaRPr>
          </a:p>
        </p:txBody>
      </p:sp>
      <p:sp>
        <p:nvSpPr>
          <p:cNvPr id="465" name="Google Shape;465;p24"/>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Timeline &amp; Budgetary Estimate - Sales</a:t>
            </a:r>
            <a:r>
              <a:rPr lang="en-US"/>
              <a:t>force health-check</a:t>
            </a:r>
            <a:endParaRPr>
              <a:solidFill>
                <a:srgbClr val="21A0DD"/>
              </a:solidFill>
            </a:endParaRPr>
          </a:p>
        </p:txBody>
      </p:sp>
      <p:sp>
        <p:nvSpPr>
          <p:cNvPr id="466" name="Google Shape;466;p24"/>
          <p:cNvSpPr txBox="1"/>
          <p:nvPr/>
        </p:nvSpPr>
        <p:spPr>
          <a:xfrm>
            <a:off x="1545520" y="1024147"/>
            <a:ext cx="2532600" cy="5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Total Estimated Weeks/Hours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US" sz="2000">
                <a:solidFill>
                  <a:srgbClr val="1FA0DD"/>
                </a:solidFill>
                <a:latin typeface="Century Gothic"/>
                <a:ea typeface="Century Gothic"/>
                <a:cs typeface="Century Gothic"/>
                <a:sym typeface="Century Gothic"/>
              </a:rPr>
              <a:t>8 weeks/ 720 hrs</a:t>
            </a:r>
            <a:endParaRPr b="1" sz="2000">
              <a:latin typeface="Century Gothic"/>
              <a:ea typeface="Century Gothic"/>
              <a:cs typeface="Century Gothic"/>
              <a:sym typeface="Century Gothic"/>
            </a:endParaRPr>
          </a:p>
        </p:txBody>
      </p:sp>
      <p:graphicFrame>
        <p:nvGraphicFramePr>
          <p:cNvPr id="467" name="Google Shape;467;p24"/>
          <p:cNvGraphicFramePr/>
          <p:nvPr/>
        </p:nvGraphicFramePr>
        <p:xfrm>
          <a:off x="726488" y="1997972"/>
          <a:ext cx="3000000" cy="3000000"/>
        </p:xfrm>
        <a:graphic>
          <a:graphicData uri="http://schemas.openxmlformats.org/drawingml/2006/table">
            <a:tbl>
              <a:tblPr>
                <a:noFill/>
                <a:tableStyleId>{07876114-0284-437C-941D-8F7499022289}</a:tableStyleId>
              </a:tblPr>
              <a:tblGrid>
                <a:gridCol w="2582100"/>
                <a:gridCol w="620100"/>
                <a:gridCol w="620225"/>
                <a:gridCol w="642100"/>
                <a:gridCol w="615500"/>
                <a:gridCol w="631900"/>
                <a:gridCol w="660325"/>
                <a:gridCol w="654700"/>
                <a:gridCol w="630050"/>
              </a:tblGrid>
              <a:tr h="350">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Phase Role</a:t>
                      </a:r>
                      <a:endParaRPr b="1" sz="1200">
                        <a:solidFill>
                          <a:srgbClr val="FFFFFF"/>
                        </a:solidFill>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WK1</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WK2</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WK3</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WK4</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WK5</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WK6</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WK7</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spcBef>
                          <a:spcPts val="0"/>
                        </a:spcBef>
                        <a:spcAft>
                          <a:spcPts val="0"/>
                        </a:spcAft>
                        <a:buNone/>
                      </a:pPr>
                      <a:r>
                        <a:rPr b="1" lang="en-US" sz="1200">
                          <a:solidFill>
                            <a:srgbClr val="FFFFFF"/>
                          </a:solidFill>
                          <a:latin typeface="Calibri"/>
                          <a:ea typeface="Calibri"/>
                          <a:cs typeface="Calibri"/>
                          <a:sym typeface="Calibri"/>
                        </a:rPr>
                        <a:t>WK8</a:t>
                      </a:r>
                      <a:endParaRPr>
                        <a:solidFill>
                          <a:srgbClr val="FFFFFF"/>
                        </a:solidFill>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Assess</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9200"/>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9200"/>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Analyze</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Advice</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r>
              <a:tr h="309450">
                <a:tc>
                  <a:txBody>
                    <a:bodyPr/>
                    <a:lstStyle/>
                    <a:p>
                      <a:pPr indent="0" lvl="0" marL="0" rtl="0" algn="l">
                        <a:spcBef>
                          <a:spcPts val="0"/>
                        </a:spcBef>
                        <a:spcAft>
                          <a:spcPts val="0"/>
                        </a:spcAft>
                        <a:buNone/>
                      </a:pPr>
                      <a:r>
                        <a:rPr b="1" lang="en-US" sz="1100">
                          <a:latin typeface="Calibri"/>
                          <a:ea typeface="Calibri"/>
                          <a:cs typeface="Calibri"/>
                          <a:sym typeface="Calibri"/>
                        </a:rPr>
                        <a:t>Align</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012251"/>
                      </a:solidFill>
                      <a:prstDash val="solid"/>
                      <a:round/>
                      <a:headEnd len="sm" w="sm" type="none"/>
                      <a:tailEnd len="sm" w="sm" type="none"/>
                    </a:lnB>
                    <a:solidFill>
                      <a:srgbClr val="CFE2F3"/>
                    </a:solidFill>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Engagement Manager</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10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12251"/>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Business Analyst - CRM</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50">
                <a:tc>
                  <a:txBody>
                    <a:bodyPr/>
                    <a:lstStyle/>
                    <a:p>
                      <a:pPr indent="0" lvl="0" marL="0" rtl="0" algn="l">
                        <a:spcBef>
                          <a:spcPts val="0"/>
                        </a:spcBef>
                        <a:spcAft>
                          <a:spcPts val="0"/>
                        </a:spcAft>
                        <a:buNone/>
                      </a:pPr>
                      <a:r>
                        <a:rPr b="1" lang="en-US" sz="1100">
                          <a:latin typeface="Calibri"/>
                          <a:ea typeface="Calibri"/>
                          <a:cs typeface="Calibri"/>
                          <a:sym typeface="Calibri"/>
                        </a:rPr>
                        <a:t>Technical</a:t>
                      </a:r>
                      <a:r>
                        <a:rPr b="1" lang="en-US" sz="1100">
                          <a:latin typeface="Calibri"/>
                          <a:ea typeface="Calibri"/>
                          <a:cs typeface="Calibri"/>
                          <a:sym typeface="Calibri"/>
                        </a:rPr>
                        <a:t> Architect - Salesforce</a:t>
                      </a:r>
                      <a:endParaRPr b="1" sz="1100">
                        <a:latin typeface="Calibri"/>
                        <a:ea typeface="Calibri"/>
                        <a:cs typeface="Calibri"/>
                        <a:sym typeface="Calibri"/>
                      </a:endParaRPr>
                    </a:p>
                  </a:txBody>
                  <a:tcPr marT="27425" marB="27425" marR="91425" marL="91425" anchor="ctr">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rgbClr val="666666"/>
                          </a:solidFill>
                          <a:latin typeface="Calibri"/>
                          <a:ea typeface="Calibri"/>
                          <a:cs typeface="Calibri"/>
                          <a:sym typeface="Calibri"/>
                        </a:rPr>
                        <a:t>40</a:t>
                      </a:r>
                      <a:endParaRPr b="1" sz="1200">
                        <a:solidFill>
                          <a:srgbClr val="666666"/>
                        </a:solidFill>
                        <a:latin typeface="Calibri"/>
                        <a:ea typeface="Calibri"/>
                        <a:cs typeface="Calibri"/>
                        <a:sym typeface="Calibri"/>
                      </a:endParaRPr>
                    </a:p>
                  </a:txBody>
                  <a:tcPr marT="27425" marB="27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468" name="Google Shape;468;p24"/>
          <p:cNvPicPr preferRelativeResize="0"/>
          <p:nvPr/>
        </p:nvPicPr>
        <p:blipFill>
          <a:blip r:embed="rId3">
            <a:alphaModFix amt="60000"/>
          </a:blip>
          <a:stretch>
            <a:fillRect/>
          </a:stretch>
        </p:blipFill>
        <p:spPr>
          <a:xfrm>
            <a:off x="1046834" y="1070463"/>
            <a:ext cx="498675" cy="498675"/>
          </a:xfrm>
          <a:prstGeom prst="rect">
            <a:avLst/>
          </a:prstGeom>
          <a:noFill/>
          <a:ln>
            <a:noFill/>
          </a:ln>
        </p:spPr>
      </p:pic>
      <p:sp>
        <p:nvSpPr>
          <p:cNvPr id="469" name="Google Shape;469;p24"/>
          <p:cNvSpPr/>
          <p:nvPr/>
        </p:nvSpPr>
        <p:spPr>
          <a:xfrm flipH="1">
            <a:off x="4828012" y="907163"/>
            <a:ext cx="3589500" cy="825300"/>
          </a:xfrm>
          <a:prstGeom prst="roundRect">
            <a:avLst>
              <a:gd fmla="val 48323" name="adj"/>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12251"/>
              </a:solidFill>
            </a:endParaRPr>
          </a:p>
        </p:txBody>
      </p:sp>
      <p:sp>
        <p:nvSpPr>
          <p:cNvPr id="470" name="Google Shape;470;p24"/>
          <p:cNvSpPr txBox="1"/>
          <p:nvPr/>
        </p:nvSpPr>
        <p:spPr>
          <a:xfrm>
            <a:off x="6364709" y="1024138"/>
            <a:ext cx="1353000" cy="5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Estimated Cost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US" sz="2000">
                <a:solidFill>
                  <a:srgbClr val="FF8C00"/>
                </a:solidFill>
                <a:latin typeface="Century Gothic"/>
                <a:ea typeface="Century Gothic"/>
                <a:cs typeface="Century Gothic"/>
                <a:sym typeface="Century Gothic"/>
              </a:rPr>
              <a:t>$96,000</a:t>
            </a:r>
            <a:endParaRPr b="1" sz="2000">
              <a:solidFill>
                <a:srgbClr val="FF8C00"/>
              </a:solidFill>
              <a:latin typeface="Century Gothic"/>
              <a:ea typeface="Century Gothic"/>
              <a:cs typeface="Century Gothic"/>
              <a:sym typeface="Century Gothic"/>
            </a:endParaRPr>
          </a:p>
        </p:txBody>
      </p:sp>
      <p:pic>
        <p:nvPicPr>
          <p:cNvPr id="471" name="Google Shape;471;p24"/>
          <p:cNvPicPr preferRelativeResize="0"/>
          <p:nvPr/>
        </p:nvPicPr>
        <p:blipFill>
          <a:blip r:embed="rId4">
            <a:alphaModFix amt="50000"/>
          </a:blip>
          <a:stretch>
            <a:fillRect/>
          </a:stretch>
        </p:blipFill>
        <p:spPr>
          <a:xfrm>
            <a:off x="5882284" y="1102963"/>
            <a:ext cx="466175" cy="466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5"/>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Assessment &amp; Advisory - Plan </a:t>
            </a:r>
            <a:endParaRPr sz="2000">
              <a:solidFill>
                <a:srgbClr val="21A0DD"/>
              </a:solidFill>
              <a:latin typeface="Montserrat"/>
              <a:ea typeface="Montserrat"/>
              <a:cs typeface="Montserrat"/>
              <a:sym typeface="Montserrat"/>
            </a:endParaRPr>
          </a:p>
        </p:txBody>
      </p:sp>
      <p:graphicFrame>
        <p:nvGraphicFramePr>
          <p:cNvPr id="478" name="Google Shape;478;p25"/>
          <p:cNvGraphicFramePr/>
          <p:nvPr/>
        </p:nvGraphicFramePr>
        <p:xfrm>
          <a:off x="152400" y="691483"/>
          <a:ext cx="3000000" cy="3000000"/>
        </p:xfrm>
        <a:graphic>
          <a:graphicData uri="http://schemas.openxmlformats.org/drawingml/2006/table">
            <a:tbl>
              <a:tblPr>
                <a:noFill/>
                <a:tableStyleId>{C507A6E1-4639-4C93-A315-86B896DA5E4F}</a:tableStyleId>
              </a:tblPr>
              <a:tblGrid>
                <a:gridCol w="771125"/>
                <a:gridCol w="1583450"/>
                <a:gridCol w="1459825"/>
                <a:gridCol w="1701325"/>
                <a:gridCol w="1591025"/>
                <a:gridCol w="1668525"/>
              </a:tblGrid>
              <a:tr h="120775">
                <a:tc>
                  <a:txBody>
                    <a:bodyPr/>
                    <a:lstStyle/>
                    <a:p>
                      <a:pPr indent="0" lvl="0" marL="0" rtl="0" algn="l">
                        <a:lnSpc>
                          <a:spcPct val="100000"/>
                        </a:lnSpc>
                        <a:spcBef>
                          <a:spcPts val="0"/>
                        </a:spcBef>
                        <a:spcAft>
                          <a:spcPts val="0"/>
                        </a:spcAft>
                        <a:buNone/>
                      </a:pPr>
                      <a:r>
                        <a:t/>
                      </a:r>
                      <a:endParaRPr sz="55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F3F3F3"/>
                    </a:solidFill>
                  </a:tcPr>
                </a:tc>
                <a:tc>
                  <a:txBody>
                    <a:bodyPr/>
                    <a:lstStyle/>
                    <a:p>
                      <a:pPr indent="0" lvl="0" marL="0" rtl="0" algn="ctr">
                        <a:lnSpc>
                          <a:spcPct val="100000"/>
                        </a:lnSpc>
                        <a:spcBef>
                          <a:spcPts val="0"/>
                        </a:spcBef>
                        <a:spcAft>
                          <a:spcPts val="0"/>
                        </a:spcAft>
                        <a:buNone/>
                      </a:pPr>
                      <a:r>
                        <a:rPr b="1" lang="en-US" sz="900">
                          <a:solidFill>
                            <a:srgbClr val="FFFFFF"/>
                          </a:solidFill>
                          <a:latin typeface="Century Gothic"/>
                          <a:ea typeface="Century Gothic"/>
                          <a:cs typeface="Century Gothic"/>
                          <a:sym typeface="Century Gothic"/>
                        </a:rPr>
                        <a:t>Day#1</a:t>
                      </a:r>
                      <a:endParaRPr b="1" sz="900">
                        <a:solidFill>
                          <a:srgbClr val="FFFFFF"/>
                        </a:solidFill>
                        <a:latin typeface="Century Gothic"/>
                        <a:ea typeface="Century Gothic"/>
                        <a:cs typeface="Century Gothic"/>
                        <a:sym typeface="Century Gothic"/>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ctr">
                        <a:lnSpc>
                          <a:spcPct val="100000"/>
                        </a:lnSpc>
                        <a:spcBef>
                          <a:spcPts val="0"/>
                        </a:spcBef>
                        <a:spcAft>
                          <a:spcPts val="0"/>
                        </a:spcAft>
                        <a:buNone/>
                      </a:pPr>
                      <a:r>
                        <a:rPr b="1" lang="en-US" sz="900">
                          <a:solidFill>
                            <a:srgbClr val="FFFFFF"/>
                          </a:solidFill>
                          <a:latin typeface="Century Gothic"/>
                          <a:ea typeface="Century Gothic"/>
                          <a:cs typeface="Century Gothic"/>
                          <a:sym typeface="Century Gothic"/>
                        </a:rPr>
                        <a:t>Day#2</a:t>
                      </a:r>
                      <a:endParaRPr b="1" sz="900">
                        <a:solidFill>
                          <a:srgbClr val="FFFFFF"/>
                        </a:solidFill>
                        <a:latin typeface="Century Gothic"/>
                        <a:ea typeface="Century Gothic"/>
                        <a:cs typeface="Century Gothic"/>
                        <a:sym typeface="Century Gothic"/>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ctr">
                        <a:lnSpc>
                          <a:spcPct val="100000"/>
                        </a:lnSpc>
                        <a:spcBef>
                          <a:spcPts val="0"/>
                        </a:spcBef>
                        <a:spcAft>
                          <a:spcPts val="0"/>
                        </a:spcAft>
                        <a:buNone/>
                      </a:pPr>
                      <a:r>
                        <a:rPr b="1" lang="en-US" sz="900">
                          <a:solidFill>
                            <a:srgbClr val="FFFFFF"/>
                          </a:solidFill>
                          <a:latin typeface="Century Gothic"/>
                          <a:ea typeface="Century Gothic"/>
                          <a:cs typeface="Century Gothic"/>
                          <a:sym typeface="Century Gothic"/>
                        </a:rPr>
                        <a:t>Day#3</a:t>
                      </a:r>
                      <a:endParaRPr b="1" sz="900">
                        <a:solidFill>
                          <a:srgbClr val="FFFFFF"/>
                        </a:solidFill>
                        <a:latin typeface="Century Gothic"/>
                        <a:ea typeface="Century Gothic"/>
                        <a:cs typeface="Century Gothic"/>
                        <a:sym typeface="Century Gothic"/>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ctr">
                        <a:lnSpc>
                          <a:spcPct val="100000"/>
                        </a:lnSpc>
                        <a:spcBef>
                          <a:spcPts val="0"/>
                        </a:spcBef>
                        <a:spcAft>
                          <a:spcPts val="0"/>
                        </a:spcAft>
                        <a:buNone/>
                      </a:pPr>
                      <a:r>
                        <a:rPr b="1" lang="en-US" sz="900">
                          <a:solidFill>
                            <a:srgbClr val="FFFFFF"/>
                          </a:solidFill>
                          <a:latin typeface="Century Gothic"/>
                          <a:ea typeface="Century Gothic"/>
                          <a:cs typeface="Century Gothic"/>
                          <a:sym typeface="Century Gothic"/>
                        </a:rPr>
                        <a:t>Day#4</a:t>
                      </a:r>
                      <a:endParaRPr b="1" sz="900">
                        <a:solidFill>
                          <a:srgbClr val="FFFFFF"/>
                        </a:solidFill>
                        <a:latin typeface="Century Gothic"/>
                        <a:ea typeface="Century Gothic"/>
                        <a:cs typeface="Century Gothic"/>
                        <a:sym typeface="Century Gothic"/>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ctr">
                        <a:lnSpc>
                          <a:spcPct val="100000"/>
                        </a:lnSpc>
                        <a:spcBef>
                          <a:spcPts val="0"/>
                        </a:spcBef>
                        <a:spcAft>
                          <a:spcPts val="0"/>
                        </a:spcAft>
                        <a:buNone/>
                      </a:pPr>
                      <a:r>
                        <a:rPr b="1" lang="en-US" sz="900">
                          <a:solidFill>
                            <a:srgbClr val="FFFFFF"/>
                          </a:solidFill>
                          <a:latin typeface="Century Gothic"/>
                          <a:ea typeface="Century Gothic"/>
                          <a:cs typeface="Century Gothic"/>
                          <a:sym typeface="Century Gothic"/>
                        </a:rPr>
                        <a:t>Day#5</a:t>
                      </a:r>
                      <a:endParaRPr b="1" sz="900">
                        <a:solidFill>
                          <a:srgbClr val="FFFFFF"/>
                        </a:solidFill>
                        <a:latin typeface="Century Gothic"/>
                        <a:ea typeface="Century Gothic"/>
                        <a:cs typeface="Century Gothic"/>
                        <a:sym typeface="Century Gothic"/>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r>
              <a:tr h="290150">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Week#1</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(Discovery/AS-IS)</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Kick Off</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Org Hierarchy</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RH Go-to-Market</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Overview - NA Comm</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Oracle BMI Demo</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Upgrade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Services (Consulting / Training)</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Technical Architecture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FutureState Round#2 - Training</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Future State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KPI Overview</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HIgh Level Solution Overview</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374825">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Week#2</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(Discovery/AS-IS)</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Pricing and PriceLists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KPI POV</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OrderForm &amp; Non-Standard Clauses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BTL data review</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Pricing, discounting, SKUs as-is (high-level)</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Current State of NAT</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Master Data - Sri</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CPQ/CLM Adoption KPIs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Expert Services Pricing and Discounting Roll-out Matrix</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BTL Metrics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WK#3, WK#4, WK#5 Planning</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Internal Huddle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Sync for Week#3</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13550">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Week#3</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(Products/Rules</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/Bundles)</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Products - SKUs/Families - List of Products, Categories, Attributes, Product Model, Guided Selling, Search Filters, Attribute Rules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Order Management Impact and Scope of CPQ/CLM</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Introduction to Business and Transaction Rules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Introduce Product hierarchy in Oracle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Non-transactional contracts review</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CPQ/CLM Roadmapping</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Internal Huddle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Roadmapping</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roadmap hierarchy</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Renewals AS-IS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Pricing and Discounting Solution !</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Pricing/Discounting Best Practices - Chad, Kevin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Special Bid Approval Process - Kelly, Kearnan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Use cases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Roadmapping</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NPI Process Review</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Brainstorming TO BE State- Phase 1 &amp; Phase-2</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Order Form/Non-Std Clauses Follow-Up</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Contract Migration + Storage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CPQ/CLM Roadmapping</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Documentation / Key Decisions (Offline)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ChannelLoad/EDI AS-IS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CPQ/CLM Roadmapping</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Sync on Week 4 Schedule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544200">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Week#4</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(Pricing &amp; </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Discounting)</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CPQ data architectural boundaries - Sri</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Pricing/product master as-is review - Jeff Castor, etc</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Roadmap Discussion</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Quoting process with Carolyn - 17 Shadowman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Roadmap sync</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Roadmap Discussion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Quoting Flow - Future State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Meeting PnT Team - Introducing APTTUS Expert Services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Expert Services: Renewals As Is - Terry, Mark</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CPQ Approvals - Carolyn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 Red Hat CLG Meet+Greet - Legal Stakeholders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Expert Services CPQ/ CLM Renewals As Is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customer buying programs w/ Apttus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Internal Huddle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Future Product Models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 Deal Reg and Teaming Agreements Process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Non Pricing Business Rules - Sri, Rob</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aMind Design Assumptions/Implementation SOW</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Approvals - Carolyn</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690700">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Week#5</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(Quote &amp; Contract)</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order form standard clauses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Approvals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Architecture considerations - Srini</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aMind Design Assumptions/Implementation SOW - round 2</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Product Entitlement Process/CPQ Overlap (Products - Visibility Rules, Rules / Constraints, Bundles)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Use Cases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Additional Use Cases -</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UAT discussion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Further discussions about architectural boundaries -</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Open Questions on To Be CPQ</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Mainspring Expectations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CPQ/Entitlement Process Pt2</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Docusign-Redhat-Apttus Sync</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Follow up: Product Categorization and Product Selling Rules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 RHT Weekly Touchpoint</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Roadmap Assumptions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Meet and greet - Seherish and Apttus expert services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Quoting End-to-End process review - with Carolyn !</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Full CPQ Process Flow Proposal - Review with team</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Documentation / Key Decisions (Offline)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Reporting Considerations with Matt Gilmore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Quoting - Additional Scenarios - Contd</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Deal Reg and Teaming Agreements with Jerry Lumpkin</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Partner Programs discussion with Steve Mungall </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CLM Roadmap Assumptions - Pt. 2</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459525">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Week#6</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(OM, Q2O)</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use of ESB between SF &amp; Red Hat</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Discuss Product Bundles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Product Pricing Questions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CPQ and Revenue Requirements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Refine Requirements and User Stories (pt 2)</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 CPQ End to End Flow w/ Tiaan - optional for others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Refine Requirements and User Stories (pt 3)</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Potential for annual spend automation in CPQ</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Apttus - RHT Weekly Touchpoint</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Data Integration &amp; Migration : Quote to Order</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Renewals Conversation with B Cornell</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Export Compliance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Phase 2 &amp; 3 Capabilities Review</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90150">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Week#7</a:t>
                      </a:r>
                      <a:endParaRPr b="1" sz="700">
                        <a:solidFill>
                          <a:srgbClr val="434343"/>
                        </a:solidFill>
                        <a:latin typeface="Calibri"/>
                        <a:ea typeface="Calibri"/>
                        <a:cs typeface="Calibri"/>
                        <a:sym typeface="Calibri"/>
                      </a:endParaRPr>
                    </a:p>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(Project Planning)</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Renewals Framework and Use Cases for CPQ</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Refine Requirements and User Stories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CPQ CLM collaboration</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Project Planning (Resource / Schedule) - CLM/CPQ PI 1</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Project Planning (Resource / Schedule) - CLM/CPQ PI 1</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KPI Measures and Reports</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Review/handoff Apttus deliverables with aMind</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Wrap up planning for CPQ/CLM</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Documentation / Key Decisions (Offline)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374825">
                <a:tc>
                  <a:txBody>
                    <a:bodyPr/>
                    <a:lstStyle/>
                    <a:p>
                      <a:pPr indent="0" lvl="0" marL="0" rtl="0" algn="ctr">
                        <a:lnSpc>
                          <a:spcPct val="100000"/>
                        </a:lnSpc>
                        <a:spcBef>
                          <a:spcPts val="0"/>
                        </a:spcBef>
                        <a:spcAft>
                          <a:spcPts val="0"/>
                        </a:spcAft>
                        <a:buNone/>
                      </a:pPr>
                      <a:r>
                        <a:rPr b="1" lang="en-US" sz="700">
                          <a:solidFill>
                            <a:srgbClr val="434343"/>
                          </a:solidFill>
                          <a:latin typeface="Calibri"/>
                          <a:ea typeface="Calibri"/>
                          <a:cs typeface="Calibri"/>
                          <a:sym typeface="Calibri"/>
                        </a:rPr>
                        <a:t>Week#8</a:t>
                      </a:r>
                      <a:endParaRPr b="1" sz="700">
                        <a:solidFill>
                          <a:srgbClr val="434343"/>
                        </a:solidFill>
                        <a:latin typeface="Calibri"/>
                        <a:ea typeface="Calibri"/>
                        <a:cs typeface="Calibri"/>
                        <a:sym typeface="Calibri"/>
                      </a:endParaRPr>
                    </a:p>
                  </a:txBody>
                  <a:tcPr marT="18275" marB="18275" marR="0" marL="45700">
                    <a:lnL cap="flat" cmpd="sng" w="9525">
                      <a:solidFill>
                        <a:srgbClr val="D9D9D9">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Sunset and Decision Tree Strategy for Systems and Processes, impact on change management</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Systems Retiring - Decommission Plan - BMI, WebStore (Soft vs. Hard Deadline)</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Change Management &amp; Adoption (Phases/Waves/etc) - Internal</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Change Management &amp; Adoption (Phases/Waves/etc) - Channels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Support strategy/center of excellence</a:t>
                      </a:r>
                      <a:endParaRPr sz="550">
                        <a:solidFill>
                          <a:srgbClr val="434343"/>
                        </a:solidFill>
                        <a:latin typeface="Calibri"/>
                        <a:ea typeface="Calibri"/>
                        <a:cs typeface="Calibri"/>
                        <a:sym typeface="Calibri"/>
                      </a:endParaRPr>
                    </a:p>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Wrap up - Open Items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en-US" sz="550">
                          <a:solidFill>
                            <a:srgbClr val="434343"/>
                          </a:solidFill>
                          <a:latin typeface="Calibri"/>
                          <a:ea typeface="Calibri"/>
                          <a:cs typeface="Calibri"/>
                          <a:sym typeface="Calibri"/>
                        </a:rPr>
                        <a:t>Wrap up - Open Items</a:t>
                      </a:r>
                      <a:endParaRPr sz="550">
                        <a:solidFill>
                          <a:srgbClr val="434343"/>
                        </a:solidFill>
                        <a:latin typeface="Calibri"/>
                        <a:ea typeface="Calibri"/>
                        <a:cs typeface="Calibri"/>
                        <a:sym typeface="Calibri"/>
                      </a:endParaRPr>
                    </a:p>
                  </a:txBody>
                  <a:tcPr marT="18275" marB="18275" marR="0" marL="45700">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FFFFFF"/>
                    </a:solidFill>
                  </a:tcPr>
                </a:tc>
              </a:tr>
            </a:tbl>
          </a:graphicData>
        </a:graphic>
      </p:graphicFrame>
      <p:sp>
        <p:nvSpPr>
          <p:cNvPr id="479" name="Google Shape;479;p25"/>
          <p:cNvSpPr/>
          <p:nvPr/>
        </p:nvSpPr>
        <p:spPr>
          <a:xfrm>
            <a:off x="5174425" y="175225"/>
            <a:ext cx="1608000" cy="381300"/>
          </a:xfrm>
          <a:prstGeom prst="ribbon2">
            <a:avLst>
              <a:gd fmla="val 16667" name="adj1"/>
              <a:gd fmla="val 50000" name="adj2"/>
            </a:avLst>
          </a:prstGeom>
          <a:solidFill>
            <a:srgbClr val="FFD966"/>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Sample</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6"/>
          <p:cNvSpPr txBox="1"/>
          <p:nvPr>
            <p:ph idx="4294967295" type="title"/>
          </p:nvPr>
        </p:nvSpPr>
        <p:spPr>
          <a:xfrm>
            <a:off x="498575" y="-21500"/>
            <a:ext cx="66444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Assessment &amp; Advisory - Plan </a:t>
            </a:r>
            <a:endParaRPr sz="2000">
              <a:solidFill>
                <a:srgbClr val="21A0DD"/>
              </a:solidFill>
              <a:latin typeface="Montserrat"/>
              <a:ea typeface="Montserrat"/>
              <a:cs typeface="Montserrat"/>
              <a:sym typeface="Montserrat"/>
            </a:endParaRPr>
          </a:p>
        </p:txBody>
      </p:sp>
      <p:graphicFrame>
        <p:nvGraphicFramePr>
          <p:cNvPr id="486" name="Google Shape;486;p26"/>
          <p:cNvGraphicFramePr/>
          <p:nvPr/>
        </p:nvGraphicFramePr>
        <p:xfrm>
          <a:off x="450000" y="627700"/>
          <a:ext cx="3000000" cy="3000000"/>
        </p:xfrm>
        <a:graphic>
          <a:graphicData uri="http://schemas.openxmlformats.org/drawingml/2006/table">
            <a:tbl>
              <a:tblPr>
                <a:noFill/>
                <a:tableStyleId>{C507A6E1-4639-4C93-A315-86B896DA5E4F}</a:tableStyleId>
              </a:tblPr>
              <a:tblGrid>
                <a:gridCol w="449925"/>
                <a:gridCol w="2242475"/>
                <a:gridCol w="1140075"/>
                <a:gridCol w="1440125"/>
                <a:gridCol w="2971400"/>
              </a:tblGrid>
              <a:tr h="373800">
                <a:tc>
                  <a:txBody>
                    <a:bodyPr/>
                    <a:lstStyle/>
                    <a:p>
                      <a:pPr indent="0" lvl="0" marL="0" rtl="0" algn="ctr">
                        <a:lnSpc>
                          <a:spcPct val="100000"/>
                        </a:lnSpc>
                        <a:spcBef>
                          <a:spcPts val="0"/>
                        </a:spcBef>
                        <a:spcAft>
                          <a:spcPts val="0"/>
                        </a:spcAft>
                        <a:buNone/>
                      </a:pPr>
                      <a:r>
                        <a:rPr b="1" lang="en-US" sz="1000">
                          <a:solidFill>
                            <a:srgbClr val="FFFFFF"/>
                          </a:solidFill>
                          <a:latin typeface="Century Gothic"/>
                          <a:ea typeface="Century Gothic"/>
                          <a:cs typeface="Century Gothic"/>
                          <a:sym typeface="Century Gothic"/>
                        </a:rPr>
                        <a:t>WK #</a:t>
                      </a:r>
                      <a:endParaRPr b="1" sz="1000">
                        <a:solidFill>
                          <a:srgbClr val="FFFFFF"/>
                        </a:solidFill>
                        <a:latin typeface="Century Gothic"/>
                        <a:ea typeface="Century Gothic"/>
                        <a:cs typeface="Century Gothic"/>
                        <a:sym typeface="Century Gothic"/>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lnSpc>
                          <a:spcPct val="100000"/>
                        </a:lnSpc>
                        <a:spcBef>
                          <a:spcPts val="0"/>
                        </a:spcBef>
                        <a:spcAft>
                          <a:spcPts val="0"/>
                        </a:spcAft>
                        <a:buNone/>
                      </a:pPr>
                      <a:r>
                        <a:rPr b="1" lang="en-US" sz="1000">
                          <a:solidFill>
                            <a:srgbClr val="FFFFFF"/>
                          </a:solidFill>
                          <a:latin typeface="Century Gothic"/>
                          <a:ea typeface="Century Gothic"/>
                          <a:cs typeface="Century Gothic"/>
                          <a:sym typeface="Century Gothic"/>
                        </a:rPr>
                        <a:t>Activity</a:t>
                      </a:r>
                      <a:endParaRPr b="1" sz="1000">
                        <a:solidFill>
                          <a:srgbClr val="FFFFFF"/>
                        </a:solidFill>
                        <a:latin typeface="Century Gothic"/>
                        <a:ea typeface="Century Gothic"/>
                        <a:cs typeface="Century Gothic"/>
                        <a:sym typeface="Century Gothic"/>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ctr">
                        <a:lnSpc>
                          <a:spcPct val="100000"/>
                        </a:lnSpc>
                        <a:spcBef>
                          <a:spcPts val="0"/>
                        </a:spcBef>
                        <a:spcAft>
                          <a:spcPts val="0"/>
                        </a:spcAft>
                        <a:buNone/>
                      </a:pPr>
                      <a:r>
                        <a:rPr b="1" lang="en-US" sz="1000">
                          <a:solidFill>
                            <a:srgbClr val="FFFFFF"/>
                          </a:solidFill>
                          <a:latin typeface="Century Gothic"/>
                          <a:ea typeface="Century Gothic"/>
                          <a:cs typeface="Century Gothic"/>
                          <a:sym typeface="Century Gothic"/>
                        </a:rPr>
                        <a:t>Duration (Days)</a:t>
                      </a:r>
                      <a:endParaRPr b="1" sz="1000">
                        <a:solidFill>
                          <a:srgbClr val="FFFFFF"/>
                        </a:solidFill>
                        <a:latin typeface="Century Gothic"/>
                        <a:ea typeface="Century Gothic"/>
                        <a:cs typeface="Century Gothic"/>
                        <a:sym typeface="Century Gothic"/>
                      </a:endParaRPr>
                    </a:p>
                  </a:txBody>
                  <a:tcPr marT="0" marB="0"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lnSpc>
                          <a:spcPct val="100000"/>
                        </a:lnSpc>
                        <a:spcBef>
                          <a:spcPts val="0"/>
                        </a:spcBef>
                        <a:spcAft>
                          <a:spcPts val="0"/>
                        </a:spcAft>
                        <a:buNone/>
                      </a:pPr>
                      <a:r>
                        <a:rPr b="1" lang="en-US" sz="1000">
                          <a:solidFill>
                            <a:srgbClr val="FFFFFF"/>
                          </a:solidFill>
                          <a:latin typeface="Century Gothic"/>
                          <a:ea typeface="Century Gothic"/>
                          <a:cs typeface="Century Gothic"/>
                          <a:sym typeface="Century Gothic"/>
                        </a:rPr>
                        <a:t>Activity Type</a:t>
                      </a:r>
                      <a:endParaRPr b="1" sz="1000">
                        <a:solidFill>
                          <a:srgbClr val="FFFFFF"/>
                        </a:solidFill>
                        <a:latin typeface="Century Gothic"/>
                        <a:ea typeface="Century Gothic"/>
                        <a:cs typeface="Century Gothic"/>
                        <a:sym typeface="Century Gothic"/>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a:txBody>
                    <a:bodyPr/>
                    <a:lstStyle/>
                    <a:p>
                      <a:pPr indent="0" lvl="0" marL="0" rtl="0" algn="l">
                        <a:lnSpc>
                          <a:spcPct val="100000"/>
                        </a:lnSpc>
                        <a:spcBef>
                          <a:spcPts val="0"/>
                        </a:spcBef>
                        <a:spcAft>
                          <a:spcPts val="0"/>
                        </a:spcAft>
                        <a:buNone/>
                      </a:pPr>
                      <a:r>
                        <a:rPr b="1" lang="en-US" sz="1000">
                          <a:solidFill>
                            <a:srgbClr val="FFFFFF"/>
                          </a:solidFill>
                          <a:latin typeface="Century Gothic"/>
                          <a:ea typeface="Century Gothic"/>
                          <a:cs typeface="Century Gothic"/>
                          <a:sym typeface="Century Gothic"/>
                        </a:rPr>
                        <a:t>Deliverables</a:t>
                      </a:r>
                      <a:endParaRPr b="1" sz="1000">
                        <a:solidFill>
                          <a:srgbClr val="FFFFFF"/>
                        </a:solidFill>
                        <a:latin typeface="Century Gothic"/>
                        <a:ea typeface="Century Gothic"/>
                        <a:cs typeface="Century Gothic"/>
                        <a:sym typeface="Century Gothic"/>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r>
              <a:tr h="29695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1</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Kick off &amp; Planning</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1</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Meetings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Overall plan</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7380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1</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Review Go-To-Market, </a:t>
                      </a:r>
                      <a:endParaRPr b="1" sz="1000">
                        <a:latin typeface="Calibri"/>
                        <a:ea typeface="Calibri"/>
                        <a:cs typeface="Calibri"/>
                        <a:sym typeface="Calibri"/>
                      </a:endParaRPr>
                    </a:p>
                    <a:p>
                      <a:pPr indent="0" lvl="0" marL="0" rtl="0" algn="l">
                        <a:lnSpc>
                          <a:spcPct val="100000"/>
                        </a:lnSpc>
                        <a:spcBef>
                          <a:spcPts val="0"/>
                        </a:spcBef>
                        <a:spcAft>
                          <a:spcPts val="0"/>
                        </a:spcAft>
                        <a:buNone/>
                      </a:pPr>
                      <a:r>
                        <a:rPr b="1" lang="en-US" sz="1000">
                          <a:latin typeface="Calibri"/>
                          <a:ea typeface="Calibri"/>
                          <a:cs typeface="Calibri"/>
                          <a:sym typeface="Calibri"/>
                        </a:rPr>
                        <a:t>Quote (New &amp; Renewal Discovery)</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1</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AS-IS processes and key pain points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7380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1</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Review product and pricing processes </a:t>
                      </a:r>
                      <a:endParaRPr b="1" sz="1000">
                        <a:latin typeface="Calibri"/>
                        <a:ea typeface="Calibri"/>
                        <a:cs typeface="Calibri"/>
                        <a:sym typeface="Calibri"/>
                      </a:endParaRPr>
                    </a:p>
                    <a:p>
                      <a:pPr indent="0" lvl="0" marL="0" rtl="0" algn="l">
                        <a:lnSpc>
                          <a:spcPct val="100000"/>
                        </a:lnSpc>
                        <a:spcBef>
                          <a:spcPts val="0"/>
                        </a:spcBef>
                        <a:spcAft>
                          <a:spcPts val="0"/>
                        </a:spcAft>
                        <a:buNone/>
                      </a:pPr>
                      <a:r>
                        <a:rPr b="1" lang="en-US" sz="1000">
                          <a:latin typeface="Calibri"/>
                          <a:ea typeface="Calibri"/>
                          <a:cs typeface="Calibri"/>
                          <a:sym typeface="Calibri"/>
                        </a:rPr>
                        <a:t>&amp;</a:t>
                      </a:r>
                      <a:r>
                        <a:rPr b="1" lang="en-US" sz="1000">
                          <a:latin typeface="Calibri"/>
                          <a:ea typeface="Calibri"/>
                          <a:cs typeface="Calibri"/>
                          <a:sym typeface="Calibri"/>
                        </a:rPr>
                        <a:t> data</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3</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AS-IS processes and key pain points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9135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2</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Quoting Process Flow ( Direct, Indirect, Channels, New, Changes, Renewals)</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AS-IS processes and key pain points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6945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3</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Proposals &amp; Approvals</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AS-IS processes and key pain points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7380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4</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Contracts, Assets, Master Data, Order Management</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AS-IS processes and key pain points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9135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5</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Data Migrations &amp; Integrations, CPQ</a:t>
                      </a:r>
                      <a:endParaRPr b="1" sz="1000">
                        <a:latin typeface="Calibri"/>
                        <a:ea typeface="Calibri"/>
                        <a:cs typeface="Calibri"/>
                        <a:sym typeface="Calibri"/>
                      </a:endParaRPr>
                    </a:p>
                    <a:p>
                      <a:pPr indent="0" lvl="0" marL="0" rtl="0" algn="l">
                        <a:lnSpc>
                          <a:spcPct val="100000"/>
                        </a:lnSpc>
                        <a:spcBef>
                          <a:spcPts val="0"/>
                        </a:spcBef>
                        <a:spcAft>
                          <a:spcPts val="0"/>
                        </a:spcAft>
                        <a:buNone/>
                      </a:pPr>
                      <a:r>
                        <a:rPr b="1" lang="en-US" sz="1000">
                          <a:latin typeface="Calibri"/>
                          <a:ea typeface="Calibri"/>
                          <a:cs typeface="Calibri"/>
                          <a:sym typeface="Calibri"/>
                        </a:rPr>
                        <a:t>To Be Architecture and Process Review</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Workshops, Internal Huddle</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Build Data Flows and Architecture - AS-IS &amp; TO-Ee</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7380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6</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1000">
                          <a:latin typeface="Calibri"/>
                          <a:ea typeface="Calibri"/>
                          <a:cs typeface="Calibri"/>
                          <a:sym typeface="Calibri"/>
                        </a:rPr>
                        <a:t>Proof of Concept for the Solution</a:t>
                      </a:r>
                      <a:endParaRPr b="1" sz="1000">
                        <a:latin typeface="Calibri"/>
                        <a:ea typeface="Calibri"/>
                        <a:cs typeface="Calibri"/>
                        <a:sym typeface="Calibri"/>
                      </a:endParaRPr>
                    </a:p>
                    <a:p>
                      <a:pPr indent="0" lvl="0" marL="0" rtl="0" algn="l">
                        <a:lnSpc>
                          <a:spcPct val="100000"/>
                        </a:lnSpc>
                        <a:spcBef>
                          <a:spcPts val="0"/>
                        </a:spcBef>
                        <a:spcAft>
                          <a:spcPts val="0"/>
                        </a:spcAft>
                        <a:buNone/>
                      </a:pPr>
                      <a:r>
                        <a:rPr b="1" lang="en-US" sz="1000">
                          <a:latin typeface="Calibri"/>
                          <a:ea typeface="Calibri"/>
                          <a:cs typeface="Calibri"/>
                          <a:sym typeface="Calibri"/>
                        </a:rPr>
                        <a:t>Documentation</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POC Build, Reviews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73800">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7</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US" sz="1000">
                          <a:latin typeface="Calibri"/>
                          <a:ea typeface="Calibri"/>
                          <a:cs typeface="Calibri"/>
                          <a:sym typeface="Calibri"/>
                        </a:rPr>
                        <a:t>Proof of Concept for the Solution</a:t>
                      </a:r>
                      <a:endParaRPr b="1"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000">
                          <a:latin typeface="Calibri"/>
                          <a:ea typeface="Calibri"/>
                          <a:cs typeface="Calibri"/>
                          <a:sym typeface="Calibri"/>
                        </a:rPr>
                        <a:t>Documentation</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POC Build, Reviews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Document : TO-BE Process; Detailed Requirements &amp; Use Case Inventory; Data Architecture &amp; Migration Plan</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56325">
                <a:tc>
                  <a:txBody>
                    <a:bodyPr/>
                    <a:lstStyle/>
                    <a:p>
                      <a:pPr indent="0" lvl="0" marL="0" rtl="0" algn="ctr">
                        <a:lnSpc>
                          <a:spcPct val="100000"/>
                        </a:lnSpc>
                        <a:spcBef>
                          <a:spcPts val="0"/>
                        </a:spcBef>
                        <a:spcAft>
                          <a:spcPts val="0"/>
                        </a:spcAft>
                        <a:buNone/>
                      </a:pPr>
                      <a:r>
                        <a:rPr lang="en-US" sz="1000">
                          <a:latin typeface="Calibri"/>
                          <a:ea typeface="Calibri"/>
                          <a:cs typeface="Calibri"/>
                          <a:sym typeface="Calibri"/>
                        </a:rPr>
                        <a:t>8</a:t>
                      </a:r>
                      <a:endParaRPr sz="1000">
                        <a:latin typeface="Calibri"/>
                        <a:ea typeface="Calibri"/>
                        <a:cs typeface="Calibri"/>
                        <a:sym typeface="Calibri"/>
                      </a:endParaRPr>
                    </a:p>
                  </a:txBody>
                  <a:tcPr marT="0" marB="0" marR="0" marL="91425" anchor="ctr">
                    <a:lnL cap="flat" cmpd="sng" w="9525">
                      <a:solidFill>
                        <a:srgbClr val="B7B7B7">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None/>
                      </a:pPr>
                      <a:r>
                        <a:rPr b="1" lang="en-US" sz="1000">
                          <a:latin typeface="Calibri"/>
                          <a:ea typeface="Calibri"/>
                          <a:cs typeface="Calibri"/>
                          <a:sym typeface="Calibri"/>
                        </a:rPr>
                        <a:t>Project Planning, Cutover Strategy, Resource Planning</a:t>
                      </a:r>
                      <a:endParaRPr b="1" sz="1000">
                        <a:latin typeface="Calibri"/>
                        <a:ea typeface="Calibri"/>
                        <a:cs typeface="Calibri"/>
                        <a:sym typeface="Calibri"/>
                      </a:endParaRPr>
                    </a:p>
                  </a:txBody>
                  <a:tcPr marT="0" marB="0" marR="91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ctr">
                        <a:lnSpc>
                          <a:spcPct val="100000"/>
                        </a:lnSpc>
                        <a:spcBef>
                          <a:spcPts val="0"/>
                        </a:spcBef>
                        <a:spcAft>
                          <a:spcPts val="0"/>
                        </a:spcAft>
                        <a:buNone/>
                      </a:pPr>
                      <a:r>
                        <a:rPr b="1" lang="en-US" sz="1000">
                          <a:solidFill>
                            <a:srgbClr val="21A0DD"/>
                          </a:solidFill>
                          <a:latin typeface="Calibri"/>
                          <a:ea typeface="Calibri"/>
                          <a:cs typeface="Calibri"/>
                          <a:sym typeface="Calibri"/>
                        </a:rPr>
                        <a:t>5</a:t>
                      </a:r>
                      <a:endParaRPr b="1" sz="1000">
                        <a:solidFill>
                          <a:srgbClr val="21A0DD"/>
                        </a:solidFill>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Internal Huddle</a:t>
                      </a:r>
                      <a:endParaRPr sz="1000">
                        <a:latin typeface="Calibri"/>
                        <a:ea typeface="Calibri"/>
                        <a:cs typeface="Calibri"/>
                        <a:sym typeface="Calibri"/>
                      </a:endParaRPr>
                    </a:p>
                    <a:p>
                      <a:pPr indent="0" lvl="0" marL="0" rtl="0" algn="l">
                        <a:lnSpc>
                          <a:spcPct val="100000"/>
                        </a:lnSpc>
                        <a:spcBef>
                          <a:spcPts val="0"/>
                        </a:spcBef>
                        <a:spcAft>
                          <a:spcPts val="0"/>
                        </a:spcAft>
                        <a:buNone/>
                      </a:pPr>
                      <a:r>
                        <a:rPr lang="en-US" sz="1000">
                          <a:latin typeface="Calibri"/>
                          <a:ea typeface="Calibri"/>
                          <a:cs typeface="Calibri"/>
                          <a:sym typeface="Calibri"/>
                        </a:rPr>
                        <a:t>Meetings</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lang="en-US" sz="1000">
                          <a:latin typeface="Calibri"/>
                          <a:ea typeface="Calibri"/>
                          <a:cs typeface="Calibri"/>
                          <a:sym typeface="Calibri"/>
                        </a:rPr>
                        <a:t>Review TO-BE process &amp; Sign Off</a:t>
                      </a:r>
                      <a:endParaRPr sz="1000">
                        <a:latin typeface="Calibri"/>
                        <a:ea typeface="Calibri"/>
                        <a:cs typeface="Calibri"/>
                        <a:sym typeface="Calibri"/>
                      </a:endParaRPr>
                    </a:p>
                  </a:txBody>
                  <a:tcPr marT="0" marB="0" marR="0" marL="91425" anchor="ctr">
                    <a:lnL cap="flat" cmpd="sng" w="9525">
                      <a:solidFill>
                        <a:srgbClr val="D9D9D9"/>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r>
            </a:tbl>
          </a:graphicData>
        </a:graphic>
      </p:graphicFrame>
      <p:sp>
        <p:nvSpPr>
          <p:cNvPr id="487" name="Google Shape;487;p26"/>
          <p:cNvSpPr/>
          <p:nvPr/>
        </p:nvSpPr>
        <p:spPr>
          <a:xfrm>
            <a:off x="5174425" y="175225"/>
            <a:ext cx="1608000" cy="381300"/>
          </a:xfrm>
          <a:prstGeom prst="ribbon2">
            <a:avLst>
              <a:gd fmla="val 16667" name="adj1"/>
              <a:gd fmla="val 50000" name="adj2"/>
            </a:avLst>
          </a:prstGeom>
          <a:solidFill>
            <a:srgbClr val="FFD966"/>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Sample</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7"/>
          <p:cNvSpPr txBox="1"/>
          <p:nvPr>
            <p:ph idx="4294967295"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solidFill>
                  <a:srgbClr val="21A0DD"/>
                </a:solidFill>
              </a:rPr>
              <a:t>Weekly Plan - Sample</a:t>
            </a:r>
            <a:endParaRPr>
              <a:solidFill>
                <a:srgbClr val="21A0DD"/>
              </a:solidFill>
            </a:endParaRPr>
          </a:p>
        </p:txBody>
      </p:sp>
      <p:graphicFrame>
        <p:nvGraphicFramePr>
          <p:cNvPr id="494" name="Google Shape;494;p27"/>
          <p:cNvGraphicFramePr/>
          <p:nvPr/>
        </p:nvGraphicFramePr>
        <p:xfrm>
          <a:off x="496850" y="600420"/>
          <a:ext cx="3000000" cy="3000000"/>
        </p:xfrm>
        <a:graphic>
          <a:graphicData uri="http://schemas.openxmlformats.org/drawingml/2006/table">
            <a:tbl>
              <a:tblPr>
                <a:noFill/>
                <a:tableStyleId>{07876114-0284-437C-941D-8F7499022289}</a:tableStyleId>
              </a:tblPr>
              <a:tblGrid>
                <a:gridCol w="1358550"/>
                <a:gridCol w="1358550"/>
                <a:gridCol w="1358550"/>
                <a:gridCol w="1418350"/>
                <a:gridCol w="1398425"/>
                <a:gridCol w="1338600"/>
              </a:tblGrid>
              <a:tr h="389250">
                <a:tc gridSpan="6">
                  <a:txBody>
                    <a:bodyPr/>
                    <a:lstStyle/>
                    <a:p>
                      <a:pPr indent="0" lvl="0" marL="0" rtl="0" algn="ctr">
                        <a:spcBef>
                          <a:spcPts val="0"/>
                        </a:spcBef>
                        <a:spcAft>
                          <a:spcPts val="0"/>
                        </a:spcAft>
                        <a:buNone/>
                      </a:pPr>
                      <a:r>
                        <a:rPr b="1" lang="en-US">
                          <a:solidFill>
                            <a:srgbClr val="FFFFFF"/>
                          </a:solidFill>
                          <a:latin typeface="Century Gothic"/>
                          <a:ea typeface="Century Gothic"/>
                          <a:cs typeface="Century Gothic"/>
                          <a:sym typeface="Century Gothic"/>
                        </a:rPr>
                        <a:t>Assessment &amp; Advisory Schedule | Week 1</a:t>
                      </a:r>
                      <a:endParaRPr b="1">
                        <a:solidFill>
                          <a:srgbClr val="FFFFFF"/>
                        </a:solidFill>
                        <a:latin typeface="Century Gothic"/>
                        <a:ea typeface="Century Gothic"/>
                        <a:cs typeface="Century Gothic"/>
                        <a:sym typeface="Century Gothic"/>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012251"/>
                    </a:solidFill>
                  </a:tcPr>
                </a:tc>
                <a:tc hMerge="1"/>
                <a:tc hMerge="1"/>
                <a:tc hMerge="1"/>
                <a:tc hMerge="1"/>
                <a:tc hMerge="1"/>
              </a:tr>
              <a:tr h="200500">
                <a:tc gridSpan="3">
                  <a:txBody>
                    <a:bodyPr/>
                    <a:lstStyle/>
                    <a:p>
                      <a:pPr indent="0" lvl="0" marL="0" rtl="0" algn="ctr">
                        <a:spcBef>
                          <a:spcPts val="0"/>
                        </a:spcBef>
                        <a:spcAft>
                          <a:spcPts val="0"/>
                        </a:spcAft>
                        <a:buNone/>
                      </a:pPr>
                      <a:r>
                        <a:rPr b="1" lang="en-US" sz="1100">
                          <a:latin typeface="Calibri"/>
                          <a:ea typeface="Calibri"/>
                          <a:cs typeface="Calibri"/>
                          <a:sym typeface="Calibri"/>
                        </a:rPr>
                        <a:t>Start Time - </a:t>
                      </a:r>
                      <a:r>
                        <a:rPr b="1" lang="en-US" sz="1100">
                          <a:solidFill>
                            <a:schemeClr val="dk1"/>
                          </a:solidFill>
                          <a:latin typeface="Calibri"/>
                          <a:ea typeface="Calibri"/>
                          <a:cs typeface="Calibri"/>
                          <a:sym typeface="Calibri"/>
                        </a:rPr>
                        <a:t>8:00 AM</a:t>
                      </a:r>
                      <a:endParaRPr b="1" sz="11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hMerge="1"/>
                <a:tc gridSpan="3">
                  <a:txBody>
                    <a:bodyPr/>
                    <a:lstStyle/>
                    <a:p>
                      <a:pPr indent="0" lvl="0" marL="0" rtl="0" algn="ctr">
                        <a:spcBef>
                          <a:spcPts val="0"/>
                        </a:spcBef>
                        <a:spcAft>
                          <a:spcPts val="0"/>
                        </a:spcAft>
                        <a:buNone/>
                      </a:pPr>
                      <a:r>
                        <a:rPr b="1" lang="en-US" sz="1100">
                          <a:solidFill>
                            <a:schemeClr val="dk1"/>
                          </a:solidFill>
                          <a:latin typeface="Calibri"/>
                          <a:ea typeface="Calibri"/>
                          <a:cs typeface="Calibri"/>
                          <a:sym typeface="Calibri"/>
                        </a:rPr>
                        <a:t>Time Interval: 90 Min</a:t>
                      </a:r>
                      <a:endParaRPr b="1" sz="11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tcPr>
                </a:tc>
                <a:tc hMerge="1"/>
                <a:tc hMerge="1"/>
              </a:tr>
              <a:tr h="184050">
                <a:tc>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Time</a:t>
                      </a:r>
                      <a:endParaRPr b="1" sz="1000">
                        <a:solidFill>
                          <a:srgbClr val="FFFFFF"/>
                        </a:solidFill>
                        <a:latin typeface="Calibri"/>
                        <a:ea typeface="Calibri"/>
                        <a:cs typeface="Calibri"/>
                        <a:sym typeface="Calibri"/>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Mon </a:t>
                      </a:r>
                      <a:r>
                        <a:rPr lang="en-US" sz="1000">
                          <a:solidFill>
                            <a:srgbClr val="FFFFFF"/>
                          </a:solidFill>
                          <a:latin typeface="Calibri"/>
                          <a:ea typeface="Calibri"/>
                          <a:cs typeface="Calibri"/>
                          <a:sym typeface="Calibri"/>
                        </a:rPr>
                        <a:t>(Sep 4)</a:t>
                      </a:r>
                      <a:endParaRPr sz="1000">
                        <a:solidFill>
                          <a:srgbClr val="FFFFFF"/>
                        </a:solidFill>
                      </a:endParaRPr>
                    </a:p>
                  </a:txBody>
                  <a:tcPr marT="9125" marB="91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Tue</a:t>
                      </a:r>
                      <a:r>
                        <a:rPr lang="en-US" sz="1000">
                          <a:solidFill>
                            <a:srgbClr val="FFFFFF"/>
                          </a:solidFill>
                          <a:latin typeface="Calibri"/>
                          <a:ea typeface="Calibri"/>
                          <a:cs typeface="Calibri"/>
                          <a:sym typeface="Calibri"/>
                        </a:rPr>
                        <a:t> (Sep 5)</a:t>
                      </a:r>
                      <a:endParaRPr sz="1000">
                        <a:solidFill>
                          <a:srgbClr val="FFFFFF"/>
                        </a:solidFill>
                      </a:endParaRPr>
                    </a:p>
                  </a:txBody>
                  <a:tcPr marT="9125" marB="91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Calibri"/>
                          <a:ea typeface="Calibri"/>
                          <a:cs typeface="Calibri"/>
                          <a:sym typeface="Calibri"/>
                        </a:rPr>
                        <a:t>Wed</a:t>
                      </a:r>
                      <a:r>
                        <a:rPr lang="en-US" sz="1000">
                          <a:solidFill>
                            <a:srgbClr val="FFFFFF"/>
                          </a:solidFill>
                          <a:latin typeface="Calibri"/>
                          <a:ea typeface="Calibri"/>
                          <a:cs typeface="Calibri"/>
                          <a:sym typeface="Calibri"/>
                        </a:rPr>
                        <a:t> </a:t>
                      </a:r>
                      <a:r>
                        <a:rPr lang="en-US" sz="1000">
                          <a:solidFill>
                            <a:srgbClr val="FFFFFF"/>
                          </a:solidFill>
                          <a:latin typeface="Calibri"/>
                          <a:ea typeface="Calibri"/>
                          <a:cs typeface="Calibri"/>
                          <a:sym typeface="Calibri"/>
                        </a:rPr>
                        <a:t>(Sep 6)</a:t>
                      </a:r>
                      <a:endParaRPr sz="1000">
                        <a:solidFill>
                          <a:srgbClr val="FFFFFF"/>
                        </a:solidFill>
                      </a:endParaRPr>
                    </a:p>
                  </a:txBody>
                  <a:tcPr marT="9125" marB="91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Thu</a:t>
                      </a:r>
                      <a:r>
                        <a:rPr lang="en-US" sz="1000">
                          <a:solidFill>
                            <a:srgbClr val="FFFFFF"/>
                          </a:solidFill>
                          <a:latin typeface="Calibri"/>
                          <a:ea typeface="Calibri"/>
                          <a:cs typeface="Calibri"/>
                          <a:sym typeface="Calibri"/>
                        </a:rPr>
                        <a:t> (Sep 7)</a:t>
                      </a:r>
                      <a:endParaRPr sz="1000">
                        <a:solidFill>
                          <a:srgbClr val="FFFFFF"/>
                        </a:solidFill>
                      </a:endParaRPr>
                    </a:p>
                  </a:txBody>
                  <a:tcPr marT="9125" marB="91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c>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Fri</a:t>
                      </a:r>
                      <a:r>
                        <a:rPr lang="en-US" sz="1000">
                          <a:solidFill>
                            <a:srgbClr val="FFFFFF"/>
                          </a:solidFill>
                          <a:latin typeface="Calibri"/>
                          <a:ea typeface="Calibri"/>
                          <a:cs typeface="Calibri"/>
                          <a:sym typeface="Calibri"/>
                        </a:rPr>
                        <a:t> (Sep 8)</a:t>
                      </a:r>
                      <a:endParaRPr sz="1000">
                        <a:solidFill>
                          <a:srgbClr val="FFFFFF"/>
                        </a:solidFill>
                      </a:endParaRPr>
                    </a:p>
                  </a:txBody>
                  <a:tcPr marT="9125" marB="9125" marR="91425" marL="91425"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alpha val="0"/>
                        </a:srgbClr>
                      </a:solidFill>
                      <a:prstDash val="solid"/>
                      <a:round/>
                      <a:headEnd len="sm" w="sm" type="none"/>
                      <a:tailEnd len="sm" w="sm" type="none"/>
                    </a:lnB>
                    <a:solidFill>
                      <a:srgbClr val="21A0DD"/>
                    </a:solidFill>
                  </a:tcPr>
                </a:tc>
              </a:tr>
              <a:tr h="282700">
                <a:tc>
                  <a:txBody>
                    <a:bodyPr/>
                    <a:lstStyle/>
                    <a:p>
                      <a:pPr indent="0" lvl="0" marL="0" rtl="0" algn="ctr">
                        <a:spcBef>
                          <a:spcPts val="0"/>
                        </a:spcBef>
                        <a:spcAft>
                          <a:spcPts val="0"/>
                        </a:spcAft>
                        <a:buNone/>
                      </a:pPr>
                      <a:r>
                        <a:rPr lang="en-US" sz="800">
                          <a:latin typeface="Calibri"/>
                          <a:ea typeface="Calibri"/>
                          <a:cs typeface="Calibri"/>
                          <a:sym typeface="Calibri"/>
                        </a:rPr>
                        <a:t>08:30 AM</a:t>
                      </a:r>
                      <a:endParaRPr sz="800">
                        <a:latin typeface="Calibri"/>
                        <a:ea typeface="Calibri"/>
                        <a:cs typeface="Calibri"/>
                        <a:sym typeface="Calibri"/>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tcPr>
                </a:tc>
                <a:tc rowSpan="3">
                  <a:txBody>
                    <a:bodyPr/>
                    <a:lstStyle/>
                    <a:p>
                      <a:pPr indent="0" lvl="0" marL="0" rtl="0" algn="ctr">
                        <a:spcBef>
                          <a:spcPts val="0"/>
                        </a:spcBef>
                        <a:spcAft>
                          <a:spcPts val="0"/>
                        </a:spcAft>
                        <a:buNone/>
                      </a:pPr>
                      <a:r>
                        <a:rPr b="1" lang="en-US" sz="1000">
                          <a:latin typeface="Calibri"/>
                          <a:ea typeface="Calibri"/>
                          <a:cs typeface="Calibri"/>
                          <a:sym typeface="Calibri"/>
                        </a:rPr>
                        <a:t>Kick Off &amp; Planning</a:t>
                      </a:r>
                      <a:endParaRPr b="1" sz="1000">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D0EEFF"/>
                    </a:solidFill>
                  </a:tcPr>
                </a:tc>
                <a:tc rowSpan="3">
                  <a:txBody>
                    <a:bodyPr/>
                    <a:lstStyle/>
                    <a:p>
                      <a:pPr indent="0" lvl="0" marL="0" rtl="0" algn="ctr">
                        <a:spcBef>
                          <a:spcPts val="0"/>
                        </a:spcBef>
                        <a:spcAft>
                          <a:spcPts val="0"/>
                        </a:spcAft>
                        <a:buNone/>
                      </a:pPr>
                      <a:r>
                        <a:rPr b="1" lang="en-US" sz="1000">
                          <a:latin typeface="Calibri"/>
                          <a:ea typeface="Calibri"/>
                          <a:cs typeface="Calibri"/>
                          <a:sym typeface="Calibri"/>
                        </a:rPr>
                        <a:t>Quoting Processes</a:t>
                      </a:r>
                      <a:endParaRPr b="1" sz="1000">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9FC5E8"/>
                    </a:solidFill>
                  </a:tcPr>
                </a:tc>
                <a:tc rowSpan="3">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Products &amp; Configurations</a:t>
                      </a:r>
                      <a:endParaRPr b="1" sz="1000">
                        <a:solidFill>
                          <a:srgbClr val="FFFFFF"/>
                        </a:solidFill>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3D85C6"/>
                    </a:solidFill>
                  </a:tcPr>
                </a:tc>
                <a:tc rowSpan="3">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Products &amp; Configurations</a:t>
                      </a:r>
                      <a:endParaRPr b="1" sz="1000">
                        <a:solidFill>
                          <a:srgbClr val="FFFFFF"/>
                        </a:solidFill>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012251"/>
                    </a:solidFill>
                  </a:tcPr>
                </a:tc>
                <a:tc rowSpan="3">
                  <a:txBody>
                    <a:bodyPr/>
                    <a:lstStyle/>
                    <a:p>
                      <a:pPr indent="0" lvl="0" marL="0" rtl="0" algn="ctr">
                        <a:spcBef>
                          <a:spcPts val="0"/>
                        </a:spcBef>
                        <a:spcAft>
                          <a:spcPts val="0"/>
                        </a:spcAft>
                        <a:buNone/>
                      </a:pPr>
                      <a:r>
                        <a:rPr b="1" lang="en-US" sz="1000">
                          <a:solidFill>
                            <a:srgbClr val="FF8C00"/>
                          </a:solidFill>
                          <a:latin typeface="Calibri"/>
                          <a:ea typeface="Calibri"/>
                          <a:cs typeface="Calibri"/>
                          <a:sym typeface="Calibri"/>
                        </a:rPr>
                        <a:t>Pricing &amp; Discounts</a:t>
                      </a:r>
                      <a:endParaRPr b="1" sz="1000">
                        <a:solidFill>
                          <a:srgbClr val="FF8C00"/>
                        </a:solidFill>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alpha val="0"/>
                        </a:srgbClr>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09:00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5117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09:30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10</a:t>
                      </a:r>
                      <a:r>
                        <a:rPr lang="en-US" sz="800">
                          <a:solidFill>
                            <a:schemeClr val="dk1"/>
                          </a:solidFill>
                          <a:latin typeface="Calibri"/>
                          <a:ea typeface="Calibri"/>
                          <a:cs typeface="Calibri"/>
                          <a:sym typeface="Calibri"/>
                        </a:rPr>
                        <a:t>:00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b="1"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b="1"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b="1"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b="1"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b="1" sz="800"/>
                    </a:p>
                  </a:txBody>
                  <a:tcPr marT="9125" marB="9125" marR="91425" marL="91425" anchor="ctr">
                    <a:lnL cap="flat" cmpd="sng" w="9525">
                      <a:solidFill>
                        <a:srgbClr val="FFFFFF"/>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10:30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rowSpan="3">
                  <a:txBody>
                    <a:bodyPr/>
                    <a:lstStyle/>
                    <a:p>
                      <a:pPr indent="0" lvl="0" marL="0" rtl="0" algn="ctr">
                        <a:spcBef>
                          <a:spcPts val="0"/>
                        </a:spcBef>
                        <a:spcAft>
                          <a:spcPts val="0"/>
                        </a:spcAft>
                        <a:buNone/>
                      </a:pPr>
                      <a:r>
                        <a:rPr b="1" lang="en-US" sz="1000">
                          <a:latin typeface="Calibri"/>
                          <a:ea typeface="Calibri"/>
                          <a:cs typeface="Calibri"/>
                          <a:sym typeface="Calibri"/>
                        </a:rPr>
                        <a:t>GTM</a:t>
                      </a:r>
                      <a:endParaRPr b="1" sz="1000">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0EEFF"/>
                    </a:solidFill>
                  </a:tcPr>
                </a:tc>
                <a:tc rowSpan="3">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Quoting Processes</a:t>
                      </a:r>
                      <a:endParaRPr b="1" sz="10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9FC5E8"/>
                    </a:solidFill>
                  </a:tcPr>
                </a:tc>
                <a:tc rowSpan="3">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Products &amp; Configurations</a:t>
                      </a:r>
                      <a:endParaRPr b="1" sz="10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3D85C6"/>
                    </a:solidFill>
                  </a:tcPr>
                </a:tc>
                <a:tc rowSpan="3">
                  <a:txBody>
                    <a:bodyPr/>
                    <a:lstStyle/>
                    <a:p>
                      <a:pPr indent="0" lvl="0" marL="0" rtl="0" algn="ctr">
                        <a:spcBef>
                          <a:spcPts val="0"/>
                        </a:spcBef>
                        <a:spcAft>
                          <a:spcPts val="0"/>
                        </a:spcAft>
                        <a:buNone/>
                      </a:pPr>
                      <a:r>
                        <a:rPr b="1" lang="en-US" sz="1000">
                          <a:solidFill>
                            <a:srgbClr val="FF8C00"/>
                          </a:solidFill>
                          <a:latin typeface="Calibri"/>
                          <a:ea typeface="Calibri"/>
                          <a:cs typeface="Calibri"/>
                          <a:sym typeface="Calibri"/>
                        </a:rPr>
                        <a:t>Pricing &amp; Discounts</a:t>
                      </a:r>
                      <a:endParaRPr b="1" sz="1000">
                        <a:solidFill>
                          <a:srgbClr val="FF8C00"/>
                        </a:solidFill>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rowSpan="3">
                  <a:txBody>
                    <a:bodyPr/>
                    <a:lstStyle/>
                    <a:p>
                      <a:pPr indent="0" lvl="0" marL="0" rtl="0" algn="ctr">
                        <a:spcBef>
                          <a:spcPts val="0"/>
                        </a:spcBef>
                        <a:spcAft>
                          <a:spcPts val="0"/>
                        </a:spcAft>
                        <a:buNone/>
                      </a:pPr>
                      <a:r>
                        <a:rPr b="1" lang="en-US" sz="1000">
                          <a:solidFill>
                            <a:srgbClr val="FF8C00"/>
                          </a:solidFill>
                          <a:latin typeface="Calibri"/>
                          <a:ea typeface="Calibri"/>
                          <a:cs typeface="Calibri"/>
                          <a:sym typeface="Calibri"/>
                        </a:rPr>
                        <a:t>Pricing &amp; Discounts</a:t>
                      </a:r>
                      <a:endParaRPr b="1" sz="1000">
                        <a:solidFill>
                          <a:srgbClr val="FF8C00"/>
                        </a:solidFill>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11:00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11:30 AM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12:00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12:30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sz="800"/>
                    </a:p>
                  </a:txBody>
                  <a:tcPr marT="9125" marB="9125" marR="91425" marL="91425" anchor="ctr">
                    <a:lnL cap="flat" cmpd="sng" w="9525">
                      <a:solidFill>
                        <a:srgbClr val="FFFFFF"/>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01</a:t>
                      </a:r>
                      <a:r>
                        <a:rPr lang="en-US" sz="800">
                          <a:solidFill>
                            <a:schemeClr val="dk1"/>
                          </a:solidFill>
                          <a:latin typeface="Calibri"/>
                          <a:ea typeface="Calibri"/>
                          <a:cs typeface="Calibri"/>
                          <a:sym typeface="Calibri"/>
                        </a:rPr>
                        <a:t>:00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rowSpan="4">
                  <a:txBody>
                    <a:bodyPr/>
                    <a:lstStyle/>
                    <a:p>
                      <a:pPr indent="0" lvl="0" marL="0" rtl="0" algn="ctr">
                        <a:spcBef>
                          <a:spcPts val="0"/>
                        </a:spcBef>
                        <a:spcAft>
                          <a:spcPts val="0"/>
                        </a:spcAft>
                        <a:buNone/>
                      </a:pPr>
                      <a:r>
                        <a:rPr b="1" lang="en-US" sz="1000">
                          <a:latin typeface="Calibri"/>
                          <a:ea typeface="Calibri"/>
                          <a:cs typeface="Calibri"/>
                          <a:sym typeface="Calibri"/>
                        </a:rPr>
                        <a:t>Review Documentation</a:t>
                      </a:r>
                      <a:endParaRPr b="1" sz="1000">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3F3F3"/>
                    </a:solidFill>
                  </a:tcPr>
                </a:tc>
                <a:tc rowSpan="4">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Review Documentation</a:t>
                      </a:r>
                      <a:endParaRPr b="1"/>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3F3F3"/>
                    </a:solidFill>
                  </a:tcPr>
                </a:tc>
                <a:tc rowSpan="4">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Review</a:t>
                      </a:r>
                      <a:endParaRPr b="1" sz="1000">
                        <a:solidFill>
                          <a:schemeClr val="dk1"/>
                        </a:solidFill>
                        <a:latin typeface="Calibri"/>
                        <a:ea typeface="Calibri"/>
                        <a:cs typeface="Calibri"/>
                        <a:sym typeface="Calibri"/>
                      </a:endParaRPr>
                    </a:p>
                    <a:p>
                      <a:pPr indent="0" lvl="0" marL="0" rtl="0" algn="ctr">
                        <a:spcBef>
                          <a:spcPts val="0"/>
                        </a:spcBef>
                        <a:spcAft>
                          <a:spcPts val="0"/>
                        </a:spcAft>
                        <a:buNone/>
                      </a:pPr>
                      <a:r>
                        <a:rPr b="1" lang="en-US" sz="1000">
                          <a:solidFill>
                            <a:schemeClr val="dk1"/>
                          </a:solidFill>
                          <a:latin typeface="Calibri"/>
                          <a:ea typeface="Calibri"/>
                          <a:cs typeface="Calibri"/>
                          <a:sym typeface="Calibri"/>
                        </a:rPr>
                        <a:t>Documentation</a:t>
                      </a:r>
                      <a:endParaRPr b="1"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3F3F3"/>
                    </a:solidFill>
                  </a:tcPr>
                </a:tc>
                <a:tc rowSpan="4">
                  <a:txBody>
                    <a:bodyPr/>
                    <a:lstStyle/>
                    <a:p>
                      <a:pPr indent="0" lvl="0" marL="0" rtl="0" algn="ctr">
                        <a:spcBef>
                          <a:spcPts val="0"/>
                        </a:spcBef>
                        <a:spcAft>
                          <a:spcPts val="0"/>
                        </a:spcAft>
                        <a:buClr>
                          <a:schemeClr val="dk1"/>
                        </a:buClr>
                        <a:buSzPts val="1100"/>
                        <a:buFont typeface="Arial"/>
                        <a:buNone/>
                      </a:pPr>
                      <a:r>
                        <a:rPr b="1" lang="en-US" sz="1000">
                          <a:solidFill>
                            <a:schemeClr val="dk1"/>
                          </a:solidFill>
                          <a:latin typeface="Calibri"/>
                          <a:ea typeface="Calibri"/>
                          <a:cs typeface="Calibri"/>
                          <a:sym typeface="Calibri"/>
                        </a:rPr>
                        <a:t>Review</a:t>
                      </a:r>
                      <a:endParaRPr b="1" sz="1000">
                        <a:solidFill>
                          <a:schemeClr val="dk1"/>
                        </a:solidFill>
                        <a:latin typeface="Calibri"/>
                        <a:ea typeface="Calibri"/>
                        <a:cs typeface="Calibri"/>
                        <a:sym typeface="Calibri"/>
                      </a:endParaRPr>
                    </a:p>
                    <a:p>
                      <a:pPr indent="0" lvl="0" marL="0" rtl="0" algn="ctr">
                        <a:spcBef>
                          <a:spcPts val="0"/>
                        </a:spcBef>
                        <a:spcAft>
                          <a:spcPts val="0"/>
                        </a:spcAft>
                        <a:buNone/>
                      </a:pPr>
                      <a:r>
                        <a:rPr b="1" lang="en-US" sz="1000">
                          <a:solidFill>
                            <a:schemeClr val="dk1"/>
                          </a:solidFill>
                          <a:latin typeface="Calibri"/>
                          <a:ea typeface="Calibri"/>
                          <a:cs typeface="Calibri"/>
                          <a:sym typeface="Calibri"/>
                        </a:rPr>
                        <a:t>Documentation</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3F3F3"/>
                    </a:solidFill>
                  </a:tcPr>
                </a:tc>
                <a:tc rowSpan="4">
                  <a:txBody>
                    <a:bodyPr/>
                    <a:lstStyle/>
                    <a:p>
                      <a:pPr indent="0" lvl="0" marL="0" rtl="0" algn="ctr">
                        <a:spcBef>
                          <a:spcPts val="0"/>
                        </a:spcBef>
                        <a:spcAft>
                          <a:spcPts val="0"/>
                        </a:spcAft>
                        <a:buClr>
                          <a:schemeClr val="dk1"/>
                        </a:buClr>
                        <a:buSzPts val="1100"/>
                        <a:buFont typeface="Arial"/>
                        <a:buNone/>
                      </a:pPr>
                      <a:r>
                        <a:rPr b="1" lang="en-US" sz="1000">
                          <a:solidFill>
                            <a:schemeClr val="dk1"/>
                          </a:solidFill>
                          <a:latin typeface="Calibri"/>
                          <a:ea typeface="Calibri"/>
                          <a:cs typeface="Calibri"/>
                          <a:sym typeface="Calibri"/>
                        </a:rPr>
                        <a:t>Review</a:t>
                      </a:r>
                      <a:endParaRPr b="1" sz="1000">
                        <a:solidFill>
                          <a:schemeClr val="dk1"/>
                        </a:solidFill>
                        <a:latin typeface="Calibri"/>
                        <a:ea typeface="Calibri"/>
                        <a:cs typeface="Calibri"/>
                        <a:sym typeface="Calibri"/>
                      </a:endParaRPr>
                    </a:p>
                    <a:p>
                      <a:pPr indent="0" lvl="0" marL="0" rtl="0" algn="ctr">
                        <a:spcBef>
                          <a:spcPts val="0"/>
                        </a:spcBef>
                        <a:spcAft>
                          <a:spcPts val="0"/>
                        </a:spcAft>
                        <a:buNone/>
                      </a:pPr>
                      <a:r>
                        <a:rPr b="1" lang="en-US" sz="1000">
                          <a:solidFill>
                            <a:schemeClr val="dk1"/>
                          </a:solidFill>
                          <a:latin typeface="Calibri"/>
                          <a:ea typeface="Calibri"/>
                          <a:cs typeface="Calibri"/>
                          <a:sym typeface="Calibri"/>
                        </a:rPr>
                        <a:t>Documentation</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3F3F3"/>
                    </a:soli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01:30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02:00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02:30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03:00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rowSpan="4">
                  <a:txBody>
                    <a:bodyPr/>
                    <a:lstStyle/>
                    <a:p>
                      <a:pPr indent="0" lvl="0" marL="0" rtl="0" algn="ctr">
                        <a:spcBef>
                          <a:spcPts val="0"/>
                        </a:spcBef>
                        <a:spcAft>
                          <a:spcPts val="0"/>
                        </a:spcAft>
                        <a:buNone/>
                      </a:pPr>
                      <a:r>
                        <a:rPr b="1" lang="en-US" sz="1000">
                          <a:solidFill>
                            <a:srgbClr val="FFFFFF"/>
                          </a:solidFill>
                          <a:latin typeface="Calibri"/>
                          <a:ea typeface="Calibri"/>
                          <a:cs typeface="Calibri"/>
                          <a:sym typeface="Calibri"/>
                        </a:rPr>
                        <a:t>Internal</a:t>
                      </a:r>
                      <a:endParaRPr b="1" sz="1000">
                        <a:solidFill>
                          <a:srgbClr val="FFFFFF"/>
                        </a:solidFill>
                        <a:latin typeface="Calibri"/>
                        <a:ea typeface="Calibri"/>
                        <a:cs typeface="Calibri"/>
                        <a:sym typeface="Calibri"/>
                      </a:endParaRPr>
                    </a:p>
                    <a:p>
                      <a:pPr indent="0" lvl="0" marL="0" rtl="0" algn="ctr">
                        <a:spcBef>
                          <a:spcPts val="0"/>
                        </a:spcBef>
                        <a:spcAft>
                          <a:spcPts val="0"/>
                        </a:spcAft>
                        <a:buNone/>
                      </a:pPr>
                      <a:r>
                        <a:rPr b="1" lang="en-US" sz="1000">
                          <a:solidFill>
                            <a:srgbClr val="FFFFFF"/>
                          </a:solidFill>
                          <a:latin typeface="Calibri"/>
                          <a:ea typeface="Calibri"/>
                          <a:cs typeface="Calibri"/>
                          <a:sym typeface="Calibri"/>
                        </a:rPr>
                        <a:t>Huddle</a:t>
                      </a:r>
                      <a:endParaRPr b="1" sz="1000">
                        <a:solidFill>
                          <a:srgbClr val="FFFFFF"/>
                        </a:solidFill>
                        <a:latin typeface="Calibri"/>
                        <a:ea typeface="Calibri"/>
                        <a:cs typeface="Calibri"/>
                        <a:sym typeface="Calibri"/>
                      </a:endParaRPr>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gradFill>
                      <a:gsLst>
                        <a:gs pos="0">
                          <a:srgbClr val="0D4582"/>
                        </a:gs>
                        <a:gs pos="50000">
                          <a:srgbClr val="0B5394"/>
                        </a:gs>
                        <a:gs pos="100000">
                          <a:srgbClr val="21A0DD"/>
                        </a:gs>
                      </a:gsLst>
                      <a:lin ang="2698631" scaled="0"/>
                    </a:gradFill>
                  </a:tcPr>
                </a:tc>
                <a:tc rowSpan="4">
                  <a:txBody>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Calibri"/>
                          <a:ea typeface="Calibri"/>
                          <a:cs typeface="Calibri"/>
                          <a:sym typeface="Calibri"/>
                        </a:rPr>
                        <a:t>Internal</a:t>
                      </a:r>
                      <a:endParaRPr b="1" sz="1000">
                        <a:solidFill>
                          <a:srgbClr val="FFFFFF"/>
                        </a:solidFill>
                        <a:latin typeface="Calibri"/>
                        <a:ea typeface="Calibri"/>
                        <a:cs typeface="Calibri"/>
                        <a:sym typeface="Calibri"/>
                      </a:endParaRPr>
                    </a:p>
                    <a:p>
                      <a:pPr indent="0" lvl="0" marL="0" rtl="0" algn="ctr">
                        <a:spcBef>
                          <a:spcPts val="0"/>
                        </a:spcBef>
                        <a:spcAft>
                          <a:spcPts val="0"/>
                        </a:spcAft>
                        <a:buNone/>
                      </a:pPr>
                      <a:r>
                        <a:rPr b="1" lang="en-US" sz="1000">
                          <a:solidFill>
                            <a:srgbClr val="FFFFFF"/>
                          </a:solidFill>
                          <a:latin typeface="Calibri"/>
                          <a:ea typeface="Calibri"/>
                          <a:cs typeface="Calibri"/>
                          <a:sym typeface="Calibri"/>
                        </a:rPr>
                        <a:t>Huddle</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gradFill>
                      <a:gsLst>
                        <a:gs pos="0">
                          <a:srgbClr val="0D4582"/>
                        </a:gs>
                        <a:gs pos="50000">
                          <a:srgbClr val="0B5394"/>
                        </a:gs>
                        <a:gs pos="100000">
                          <a:srgbClr val="21A0DD"/>
                        </a:gs>
                      </a:gsLst>
                      <a:lin ang="2698631" scaled="0"/>
                    </a:gradFill>
                  </a:tcPr>
                </a:tc>
                <a:tc rowSpan="4">
                  <a:txBody>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Calibri"/>
                          <a:ea typeface="Calibri"/>
                          <a:cs typeface="Calibri"/>
                          <a:sym typeface="Calibri"/>
                        </a:rPr>
                        <a:t>Internal</a:t>
                      </a:r>
                      <a:endParaRPr b="1" sz="1000">
                        <a:solidFill>
                          <a:srgbClr val="FFFFFF"/>
                        </a:solidFill>
                        <a:latin typeface="Calibri"/>
                        <a:ea typeface="Calibri"/>
                        <a:cs typeface="Calibri"/>
                        <a:sym typeface="Calibri"/>
                      </a:endParaRPr>
                    </a:p>
                    <a:p>
                      <a:pPr indent="0" lvl="0" marL="0" rtl="0" algn="ctr">
                        <a:spcBef>
                          <a:spcPts val="0"/>
                        </a:spcBef>
                        <a:spcAft>
                          <a:spcPts val="0"/>
                        </a:spcAft>
                        <a:buNone/>
                      </a:pPr>
                      <a:r>
                        <a:rPr b="1" lang="en-US" sz="1000">
                          <a:solidFill>
                            <a:srgbClr val="FFFFFF"/>
                          </a:solidFill>
                          <a:latin typeface="Calibri"/>
                          <a:ea typeface="Calibri"/>
                          <a:cs typeface="Calibri"/>
                          <a:sym typeface="Calibri"/>
                        </a:rPr>
                        <a:t>Huddle</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gradFill>
                      <a:gsLst>
                        <a:gs pos="0">
                          <a:srgbClr val="0D4582"/>
                        </a:gs>
                        <a:gs pos="50000">
                          <a:srgbClr val="0B5394"/>
                        </a:gs>
                        <a:gs pos="100000">
                          <a:srgbClr val="21A0DD"/>
                        </a:gs>
                      </a:gsLst>
                      <a:lin ang="2698631" scaled="0"/>
                    </a:gradFill>
                  </a:tcPr>
                </a:tc>
                <a:tc rowSpan="4">
                  <a:txBody>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Calibri"/>
                          <a:ea typeface="Calibri"/>
                          <a:cs typeface="Calibri"/>
                          <a:sym typeface="Calibri"/>
                        </a:rPr>
                        <a:t>Internal</a:t>
                      </a:r>
                      <a:endParaRPr b="1" sz="1000">
                        <a:solidFill>
                          <a:srgbClr val="FFFFFF"/>
                        </a:solidFill>
                        <a:latin typeface="Calibri"/>
                        <a:ea typeface="Calibri"/>
                        <a:cs typeface="Calibri"/>
                        <a:sym typeface="Calibri"/>
                      </a:endParaRPr>
                    </a:p>
                    <a:p>
                      <a:pPr indent="0" lvl="0" marL="0" rtl="0" algn="ctr">
                        <a:spcBef>
                          <a:spcPts val="0"/>
                        </a:spcBef>
                        <a:spcAft>
                          <a:spcPts val="0"/>
                        </a:spcAft>
                        <a:buNone/>
                      </a:pPr>
                      <a:r>
                        <a:rPr b="1" lang="en-US" sz="1000">
                          <a:solidFill>
                            <a:srgbClr val="FFFFFF"/>
                          </a:solidFill>
                          <a:latin typeface="Calibri"/>
                          <a:ea typeface="Calibri"/>
                          <a:cs typeface="Calibri"/>
                          <a:sym typeface="Calibri"/>
                        </a:rPr>
                        <a:t>Huddle</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gradFill>
                      <a:gsLst>
                        <a:gs pos="0">
                          <a:srgbClr val="0D4582"/>
                        </a:gs>
                        <a:gs pos="50000">
                          <a:srgbClr val="0B5394"/>
                        </a:gs>
                        <a:gs pos="100000">
                          <a:srgbClr val="21A0DD"/>
                        </a:gs>
                      </a:gsLst>
                      <a:lin ang="2698631" scaled="0"/>
                    </a:gradFill>
                  </a:tcPr>
                </a:tc>
                <a:tc rowSpan="4">
                  <a:txBody>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Calibri"/>
                          <a:ea typeface="Calibri"/>
                          <a:cs typeface="Calibri"/>
                          <a:sym typeface="Calibri"/>
                        </a:rPr>
                        <a:t>Internal</a:t>
                      </a:r>
                      <a:endParaRPr b="1" sz="1000">
                        <a:solidFill>
                          <a:srgbClr val="FFFFFF"/>
                        </a:solidFill>
                        <a:latin typeface="Calibri"/>
                        <a:ea typeface="Calibri"/>
                        <a:cs typeface="Calibri"/>
                        <a:sym typeface="Calibri"/>
                      </a:endParaRPr>
                    </a:p>
                    <a:p>
                      <a:pPr indent="0" lvl="0" marL="0" rtl="0" algn="ctr">
                        <a:spcBef>
                          <a:spcPts val="0"/>
                        </a:spcBef>
                        <a:spcAft>
                          <a:spcPts val="0"/>
                        </a:spcAft>
                        <a:buNone/>
                      </a:pPr>
                      <a:r>
                        <a:rPr b="1" lang="en-US" sz="1000">
                          <a:solidFill>
                            <a:srgbClr val="FFFFFF"/>
                          </a:solidFill>
                          <a:latin typeface="Calibri"/>
                          <a:ea typeface="Calibri"/>
                          <a:cs typeface="Calibri"/>
                          <a:sym typeface="Calibri"/>
                        </a:rPr>
                        <a:t>Huddle</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gradFill>
                      <a:gsLst>
                        <a:gs pos="0">
                          <a:srgbClr val="0D4582"/>
                        </a:gs>
                        <a:gs pos="50000">
                          <a:srgbClr val="0B5394"/>
                        </a:gs>
                        <a:gs pos="100000">
                          <a:srgbClr val="21A0DD"/>
                        </a:gs>
                      </a:gsLst>
                      <a:lin ang="2698631" scaled="0"/>
                    </a:gradFill>
                  </a:tcPr>
                </a:tc>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03:30 PM</a:t>
                      </a:r>
                      <a:endParaRPr sz="800"/>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04:00 PM</a:t>
                      </a:r>
                      <a:endParaRPr sz="800">
                        <a:solidFill>
                          <a:schemeClr val="dk1"/>
                        </a:solidFill>
                        <a:latin typeface="Calibri"/>
                        <a:ea typeface="Calibri"/>
                        <a:cs typeface="Calibri"/>
                        <a:sym typeface="Calibri"/>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174625">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04:30 PM</a:t>
                      </a:r>
                      <a:endParaRPr sz="800">
                        <a:solidFill>
                          <a:schemeClr val="dk1"/>
                        </a:solidFill>
                        <a:latin typeface="Calibri"/>
                        <a:ea typeface="Calibri"/>
                        <a:cs typeface="Calibri"/>
                        <a:sym typeface="Calibri"/>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vMerge="1"/>
                <a:tc vMerge="1"/>
                <a:tc vMerge="1"/>
                <a:tc vMerge="1"/>
                <a:tc vMerge="1"/>
              </a:tr>
              <a:tr h="298400">
                <a:tc>
                  <a:txBody>
                    <a:bodyPr/>
                    <a:lstStyle/>
                    <a:p>
                      <a:pPr indent="0" lvl="0" marL="0" rtl="0" algn="ctr">
                        <a:spcBef>
                          <a:spcPts val="0"/>
                        </a:spcBef>
                        <a:spcAft>
                          <a:spcPts val="0"/>
                        </a:spcAft>
                        <a:buNone/>
                      </a:pPr>
                      <a:r>
                        <a:rPr lang="en-US" sz="800">
                          <a:solidFill>
                            <a:schemeClr val="dk1"/>
                          </a:solidFill>
                          <a:latin typeface="Calibri"/>
                          <a:ea typeface="Calibri"/>
                          <a:cs typeface="Calibri"/>
                          <a:sym typeface="Calibri"/>
                        </a:rPr>
                        <a:t>05:00 PM</a:t>
                      </a:r>
                      <a:endParaRPr sz="800">
                        <a:solidFill>
                          <a:schemeClr val="dk1"/>
                        </a:solidFill>
                        <a:latin typeface="Calibri"/>
                        <a:ea typeface="Calibri"/>
                        <a:cs typeface="Calibri"/>
                        <a:sym typeface="Calibri"/>
                      </a:endParaRPr>
                    </a:p>
                  </a:txBody>
                  <a:tcPr marT="9125" marB="9125" marR="91425" marL="91425"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tcPr>
                </a:tc>
                <a:tc>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Status Meeting</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D0EEFF"/>
                    </a:solidFill>
                  </a:tcPr>
                </a:tc>
                <a:tc>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Status Meeting</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D0EEFF"/>
                    </a:solidFill>
                  </a:tcPr>
                </a:tc>
                <a:tc>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Status Meeting</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D0EEFF"/>
                    </a:solidFill>
                  </a:tcPr>
                </a:tc>
                <a:tc>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Status Meeting</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D0EEFF"/>
                    </a:solidFill>
                  </a:tcPr>
                </a:tc>
                <a:tc>
                  <a:txBody>
                    <a:bodyPr/>
                    <a:lstStyle/>
                    <a:p>
                      <a:pPr indent="0" lvl="0" marL="0" rtl="0" algn="ctr">
                        <a:spcBef>
                          <a:spcPts val="0"/>
                        </a:spcBef>
                        <a:spcAft>
                          <a:spcPts val="0"/>
                        </a:spcAft>
                        <a:buNone/>
                      </a:pPr>
                      <a:r>
                        <a:rPr b="1" lang="en-US" sz="1000">
                          <a:solidFill>
                            <a:schemeClr val="dk1"/>
                          </a:solidFill>
                          <a:latin typeface="Calibri"/>
                          <a:ea typeface="Calibri"/>
                          <a:cs typeface="Calibri"/>
                          <a:sym typeface="Calibri"/>
                        </a:rPr>
                        <a:t>Status Meeting</a:t>
                      </a:r>
                      <a:endParaRPr sz="800"/>
                    </a:p>
                  </a:txBody>
                  <a:tcPr marT="9125" marB="9125" marR="91425" marL="91425" anchor="ctr">
                    <a:lnL cap="flat" cmpd="sng" w="9525">
                      <a:solidFill>
                        <a:srgbClr val="D9D9D9"/>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012251"/>
                      </a:solidFill>
                      <a:prstDash val="solid"/>
                      <a:round/>
                      <a:headEnd len="sm" w="sm" type="none"/>
                      <a:tailEnd len="sm" w="sm" type="none"/>
                    </a:lnB>
                    <a:solidFill>
                      <a:srgbClr val="D0EEFF"/>
                    </a:solidFill>
                  </a:tcPr>
                </a:tc>
              </a:tr>
            </a:tbl>
          </a:graphicData>
        </a:graphic>
      </p:graphicFrame>
      <p:sp>
        <p:nvSpPr>
          <p:cNvPr id="495" name="Google Shape;495;p27"/>
          <p:cNvSpPr/>
          <p:nvPr/>
        </p:nvSpPr>
        <p:spPr>
          <a:xfrm>
            <a:off x="5174425" y="175225"/>
            <a:ext cx="1608000" cy="381300"/>
          </a:xfrm>
          <a:prstGeom prst="ribbon2">
            <a:avLst>
              <a:gd fmla="val 16667" name="adj1"/>
              <a:gd fmla="val 50000" name="adj2"/>
            </a:avLst>
          </a:prstGeom>
          <a:solidFill>
            <a:srgbClr val="FFD966"/>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Sample</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8"/>
          <p:cNvSpPr txBox="1"/>
          <p:nvPr/>
        </p:nvSpPr>
        <p:spPr>
          <a:xfrm>
            <a:off x="1748433" y="3648195"/>
            <a:ext cx="2603700" cy="72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1" i="0" lang="en-US" sz="1000" u="none" cap="none" strike="noStrike">
                <a:solidFill>
                  <a:srgbClr val="FFFFFF"/>
                </a:solidFill>
                <a:latin typeface="Calibri"/>
                <a:ea typeface="Calibri"/>
                <a:cs typeface="Calibri"/>
                <a:sym typeface="Calibri"/>
              </a:rPr>
              <a:t>California - HQ</a:t>
            </a:r>
            <a:endParaRPr b="1" i="0" sz="100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691 S Milpitas Blvd, STE #203 Milpitas, CA 95035</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Tel: (408) 409.2567, Fax: (877) 410.0710</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Email: info@forsysinc.com</a:t>
            </a:r>
            <a:endParaRPr i="0" sz="750" u="none" cap="none" strike="noStrike">
              <a:solidFill>
                <a:srgbClr val="FFFFFF"/>
              </a:solidFill>
              <a:latin typeface="Calibri"/>
              <a:ea typeface="Calibri"/>
              <a:cs typeface="Calibri"/>
              <a:sym typeface="Calibri"/>
            </a:endParaRPr>
          </a:p>
        </p:txBody>
      </p:sp>
      <p:sp>
        <p:nvSpPr>
          <p:cNvPr id="502" name="Google Shape;502;p28"/>
          <p:cNvSpPr txBox="1"/>
          <p:nvPr/>
        </p:nvSpPr>
        <p:spPr>
          <a:xfrm>
            <a:off x="6653175" y="3648195"/>
            <a:ext cx="2764200" cy="72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1" i="0" lang="en-US" sz="1000" u="none" cap="none" strike="noStrike">
                <a:solidFill>
                  <a:srgbClr val="FFFFFF"/>
                </a:solidFill>
                <a:latin typeface="Calibri"/>
                <a:ea typeface="Calibri"/>
                <a:cs typeface="Calibri"/>
                <a:sym typeface="Calibri"/>
              </a:rPr>
              <a:t>India</a:t>
            </a:r>
            <a:endParaRPr b="1" i="0" sz="100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Sai Ganesh Towers, 3rd &amp; 5th Floor, 100 Feet Rd</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Madhapur Hyderabad, Telangana 500081</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Tel: +91-40-46300010</a:t>
            </a:r>
            <a:endParaRPr i="0" sz="750" u="none" cap="none" strike="noStrike">
              <a:solidFill>
                <a:srgbClr val="FFFFFF"/>
              </a:solidFill>
              <a:latin typeface="Calibri"/>
              <a:ea typeface="Calibri"/>
              <a:cs typeface="Calibri"/>
              <a:sym typeface="Calibri"/>
            </a:endParaRPr>
          </a:p>
        </p:txBody>
      </p:sp>
      <p:sp>
        <p:nvSpPr>
          <p:cNvPr id="503" name="Google Shape;503;p28"/>
          <p:cNvSpPr txBox="1"/>
          <p:nvPr/>
        </p:nvSpPr>
        <p:spPr>
          <a:xfrm>
            <a:off x="4220735" y="3648195"/>
            <a:ext cx="2624400" cy="72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1" i="0" lang="en-US" sz="1000" u="none" cap="none" strike="noStrike">
                <a:solidFill>
                  <a:srgbClr val="FFFFFF"/>
                </a:solidFill>
                <a:latin typeface="Calibri"/>
                <a:ea typeface="Calibri"/>
                <a:cs typeface="Calibri"/>
                <a:sym typeface="Calibri"/>
              </a:rPr>
              <a:t>Texas</a:t>
            </a:r>
            <a:endParaRPr b="1" i="0" sz="100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100"/>
              <a:buFont typeface="Arial"/>
              <a:buNone/>
            </a:pPr>
            <a:r>
              <a:rPr lang="en-US" sz="750">
                <a:solidFill>
                  <a:srgbClr val="FFFFFF"/>
                </a:solidFill>
                <a:latin typeface="Calibri"/>
                <a:ea typeface="Calibri"/>
                <a:cs typeface="Calibri"/>
                <a:sym typeface="Calibri"/>
              </a:rPr>
              <a:t>505 E. Palm Valley Blvd., Round Rock</a:t>
            </a:r>
            <a:r>
              <a:rPr i="0" lang="en-US" sz="750" u="none" cap="none" strike="noStrike">
                <a:solidFill>
                  <a:srgbClr val="FFFFFF"/>
                </a:solidFill>
                <a:latin typeface="Calibri"/>
                <a:ea typeface="Calibri"/>
                <a:cs typeface="Calibri"/>
                <a:sym typeface="Calibri"/>
              </a:rPr>
              <a:t>, TX 78</a:t>
            </a:r>
            <a:r>
              <a:rPr lang="en-US" sz="750">
                <a:solidFill>
                  <a:srgbClr val="FFFFFF"/>
                </a:solidFill>
                <a:latin typeface="Calibri"/>
                <a:ea typeface="Calibri"/>
                <a:cs typeface="Calibri"/>
                <a:sym typeface="Calibri"/>
              </a:rPr>
              <a:t>66</a:t>
            </a:r>
            <a:r>
              <a:rPr i="0" lang="en-US" sz="750" u="none" cap="none" strike="noStrike">
                <a:solidFill>
                  <a:srgbClr val="FFFFFF"/>
                </a:solidFill>
                <a:latin typeface="Calibri"/>
                <a:ea typeface="Calibri"/>
                <a:cs typeface="Calibri"/>
                <a:sym typeface="Calibri"/>
              </a:rPr>
              <a:t>4</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Tel: (408) 409.2567, Fax: (877) 410.0710</a:t>
            </a:r>
            <a:endParaRPr i="0" sz="75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700"/>
              <a:buFont typeface="Arial"/>
              <a:buNone/>
            </a:pPr>
            <a:r>
              <a:rPr i="0" lang="en-US" sz="750" u="none" cap="none" strike="noStrike">
                <a:solidFill>
                  <a:srgbClr val="FFFFFF"/>
                </a:solidFill>
                <a:latin typeface="Calibri"/>
                <a:ea typeface="Calibri"/>
                <a:cs typeface="Calibri"/>
                <a:sym typeface="Calibri"/>
              </a:rPr>
              <a:t>Email: info@forsysinc.com</a:t>
            </a:r>
            <a:endParaRPr i="0" sz="750" u="none" cap="none" strike="noStrike">
              <a:solidFill>
                <a:srgbClr val="FFFFFF"/>
              </a:solidFill>
              <a:latin typeface="Calibri"/>
              <a:ea typeface="Calibri"/>
              <a:cs typeface="Calibri"/>
              <a:sym typeface="Calibri"/>
            </a:endParaRPr>
          </a:p>
        </p:txBody>
      </p:sp>
      <p:pic>
        <p:nvPicPr>
          <p:cNvPr id="504" name="Google Shape;504;p28"/>
          <p:cNvPicPr preferRelativeResize="0"/>
          <p:nvPr/>
        </p:nvPicPr>
        <p:blipFill>
          <a:blip r:embed="rId3">
            <a:alphaModFix/>
          </a:blip>
          <a:stretch>
            <a:fillRect/>
          </a:stretch>
        </p:blipFill>
        <p:spPr>
          <a:xfrm>
            <a:off x="7414298" y="1096774"/>
            <a:ext cx="367234" cy="632464"/>
          </a:xfrm>
          <a:prstGeom prst="rect">
            <a:avLst/>
          </a:prstGeom>
          <a:noFill/>
          <a:ln>
            <a:noFill/>
          </a:ln>
        </p:spPr>
      </p:pic>
      <p:pic>
        <p:nvPicPr>
          <p:cNvPr id="505" name="Google Shape;505;p28"/>
          <p:cNvPicPr preferRelativeResize="0"/>
          <p:nvPr/>
        </p:nvPicPr>
        <p:blipFill>
          <a:blip r:embed="rId4">
            <a:alphaModFix/>
          </a:blip>
          <a:stretch>
            <a:fillRect/>
          </a:stretch>
        </p:blipFill>
        <p:spPr>
          <a:xfrm>
            <a:off x="8103607" y="1096774"/>
            <a:ext cx="505967" cy="505971"/>
          </a:xfrm>
          <a:prstGeom prst="rect">
            <a:avLst/>
          </a:prstGeom>
          <a:noFill/>
          <a:ln>
            <a:noFill/>
          </a:ln>
        </p:spPr>
      </p:pic>
      <p:pic>
        <p:nvPicPr>
          <p:cNvPr id="506" name="Google Shape;506;p28"/>
          <p:cNvPicPr preferRelativeResize="0"/>
          <p:nvPr/>
        </p:nvPicPr>
        <p:blipFill rotWithShape="1">
          <a:blip r:embed="rId5">
            <a:alphaModFix/>
          </a:blip>
          <a:srcRect b="2207" l="0" r="0" t="2207"/>
          <a:stretch/>
        </p:blipFill>
        <p:spPr>
          <a:xfrm>
            <a:off x="4550025" y="882500"/>
            <a:ext cx="2220105" cy="1061002"/>
          </a:xfrm>
          <a:prstGeom prst="rect">
            <a:avLst/>
          </a:prstGeom>
          <a:noFill/>
          <a:ln>
            <a:noFill/>
          </a:ln>
        </p:spPr>
      </p:pic>
      <p:cxnSp>
        <p:nvCxnSpPr>
          <p:cNvPr id="507" name="Google Shape;507;p28"/>
          <p:cNvCxnSpPr/>
          <p:nvPr/>
        </p:nvCxnSpPr>
        <p:spPr>
          <a:xfrm>
            <a:off x="7092207" y="882500"/>
            <a:ext cx="0" cy="1060800"/>
          </a:xfrm>
          <a:prstGeom prst="straightConnector1">
            <a:avLst/>
          </a:prstGeom>
          <a:noFill/>
          <a:ln cap="flat" cmpd="sng" w="9525">
            <a:solidFill>
              <a:srgbClr val="CCCCCC"/>
            </a:solidFill>
            <a:prstDash val="solid"/>
            <a:round/>
            <a:headEnd len="med" w="med" type="none"/>
            <a:tailEnd len="med" w="med" type="none"/>
          </a:ln>
        </p:spPr>
      </p:cxnSp>
      <p:sp>
        <p:nvSpPr>
          <p:cNvPr id="508" name="Google Shape;508;p28"/>
          <p:cNvSpPr txBox="1"/>
          <p:nvPr/>
        </p:nvSpPr>
        <p:spPr>
          <a:xfrm>
            <a:off x="4576819" y="2511105"/>
            <a:ext cx="4032900" cy="4101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2400"/>
              <a:buFont typeface="Arial"/>
              <a:buNone/>
            </a:pPr>
            <a:r>
              <a:rPr lang="en-US" sz="2400" u="none" cap="none" strike="noStrike">
                <a:solidFill>
                  <a:srgbClr val="21A0DD"/>
                </a:solidFill>
                <a:latin typeface="Montserrat"/>
                <a:ea typeface="Montserrat"/>
                <a:cs typeface="Montserrat"/>
                <a:sym typeface="Montserrat"/>
              </a:rPr>
              <a:t>THANK YOU</a:t>
            </a:r>
            <a:endParaRPr sz="2400" u="none" cap="none" strike="noStrike">
              <a:solidFill>
                <a:srgbClr val="21A0DD"/>
              </a:solidFill>
              <a:latin typeface="Montserrat"/>
              <a:ea typeface="Montserrat"/>
              <a:cs typeface="Montserrat"/>
              <a:sym typeface="Montserrat"/>
            </a:endParaRPr>
          </a:p>
        </p:txBody>
      </p:sp>
      <p:cxnSp>
        <p:nvCxnSpPr>
          <p:cNvPr id="509" name="Google Shape;509;p28"/>
          <p:cNvCxnSpPr/>
          <p:nvPr/>
        </p:nvCxnSpPr>
        <p:spPr>
          <a:xfrm rot="10800000">
            <a:off x="4576675" y="2399414"/>
            <a:ext cx="4032900" cy="0"/>
          </a:xfrm>
          <a:prstGeom prst="straightConnector1">
            <a:avLst/>
          </a:prstGeom>
          <a:noFill/>
          <a:ln cap="flat" cmpd="sng" w="9525">
            <a:solidFill>
              <a:srgbClr val="21A0DD"/>
            </a:solidFill>
            <a:prstDash val="dot"/>
            <a:round/>
            <a:headEnd len="sm" w="sm" type="none"/>
            <a:tailEnd len="sm" w="sm" type="none"/>
          </a:ln>
        </p:spPr>
      </p:cxnSp>
      <p:cxnSp>
        <p:nvCxnSpPr>
          <p:cNvPr id="510" name="Google Shape;510;p28"/>
          <p:cNvCxnSpPr/>
          <p:nvPr/>
        </p:nvCxnSpPr>
        <p:spPr>
          <a:xfrm rot="10800000">
            <a:off x="4576675" y="3033000"/>
            <a:ext cx="4032900" cy="0"/>
          </a:xfrm>
          <a:prstGeom prst="straightConnector1">
            <a:avLst/>
          </a:prstGeom>
          <a:noFill/>
          <a:ln cap="flat" cmpd="sng" w="9525">
            <a:solidFill>
              <a:srgbClr val="21A0DD"/>
            </a:solidFill>
            <a:prstDash val="dot"/>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9"/>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Business Architect (CPQ)</a:t>
            </a:r>
            <a:endParaRPr/>
          </a:p>
        </p:txBody>
      </p:sp>
      <p:graphicFrame>
        <p:nvGraphicFramePr>
          <p:cNvPr id="517" name="Google Shape;517;p29"/>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Srinivas Vemuri</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Hitachi Vantara : Transform its storage business to subscription; migrating 3 CPQ systems to one</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Hitachi Energy : Transforming its Complex Quoting and Commerce capabilities from Legacy to newer CPQ and DC systems</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Nasdaq: Enabling Quoting automation for its 5 lines of business including Market Data and Indexes</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Docusign : Transform its Subscription Renewal and Commerce capabilities to enable product led growth</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Garner : Transform its 30 yr OPI/Quoting applications to nextgen CPQ and contract management systems; enabled scalable architecture</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NetJets : Transform its 15 yr Contract management systems to newer, scalable Quoting/Contract systems</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RedHat : Transform its support subscription operations to next gen quoting and commerce capabilities including its OEM and Marketplace customers </a:t>
                      </a:r>
                      <a:endParaRPr sz="1000">
                        <a:solidFill>
                          <a:schemeClr val="dk1"/>
                        </a:solidFill>
                        <a:latin typeface="Calibri"/>
                        <a:ea typeface="Calibri"/>
                        <a:cs typeface="Calibri"/>
                        <a:sym typeface="Calibri"/>
                      </a:endParaRPr>
                    </a:p>
                    <a:p>
                      <a:pPr indent="-234950" lvl="0" marL="34290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Cisco : Transform its 50 B revenue operation into a custom build Quotina, Orderina, Renewal and Billing platform, Cisco Commerce Workspace that can support over 30K Sales. 70 K Partners and over 300 Distributors</a:t>
                      </a:r>
                      <a:endParaRPr sz="1000">
                        <a:solidFill>
                          <a:schemeClr val="dk1"/>
                        </a:solidFill>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FFFF"/>
                    </a:solidFill>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Revenue Life Cycle expert with detailed Business Process expertise in Campaign management, Lead Management, Opportunity Management, Quote Management, Contract Management, Order Management, Billing and Revenue</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Helped several Fortune 500 companies like Cisco, Hitachi, Nokia, RedHat, Gartner, Nasdaq, Docusign et al transform its Sales processes (CPO, Commerce): build scalable business and information architecture</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Developed Industry Best Practices for HiTech (including XaaS) Manufacturing and HealthCare companies</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Built new subscription monetization models for hardware and software companies</a:t>
                      </a:r>
                      <a:endParaRPr sz="13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18" name="Google Shape;518;p29"/>
          <p:cNvPicPr preferRelativeResize="0"/>
          <p:nvPr/>
        </p:nvPicPr>
        <p:blipFill>
          <a:blip r:embed="rId3">
            <a:alphaModFix/>
          </a:blip>
          <a:stretch>
            <a:fillRect/>
          </a:stretch>
        </p:blipFill>
        <p:spPr>
          <a:xfrm>
            <a:off x="4131099" y="831310"/>
            <a:ext cx="291925" cy="291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0"/>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UX Director</a:t>
            </a:r>
            <a:endParaRPr/>
          </a:p>
        </p:txBody>
      </p:sp>
      <p:graphicFrame>
        <p:nvGraphicFramePr>
          <p:cNvPr id="525" name="Google Shape;525;p30"/>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Rajiv Kaul </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Calibri"/>
                          <a:ea typeface="Calibri"/>
                          <a:cs typeface="Calibri"/>
                          <a:sym typeface="Calibri"/>
                        </a:rPr>
                        <a:t>Cisco Commerce Workspace (CCW), provided by Cisco to its partners and internal users for the purpose of generating quotes, configurations, and managing deals and orders. Ensuring the CPQ </a:t>
                      </a:r>
                      <a:r>
                        <a:rPr lang="en-US" sz="1000">
                          <a:solidFill>
                            <a:schemeClr val="dk1"/>
                          </a:solidFill>
                          <a:latin typeface="Calibri"/>
                          <a:ea typeface="Calibri"/>
                          <a:cs typeface="Calibri"/>
                          <a:sym typeface="Calibri"/>
                        </a:rPr>
                        <a:t>platform</a:t>
                      </a:r>
                      <a:r>
                        <a:rPr lang="en-US" sz="1000">
                          <a:solidFill>
                            <a:schemeClr val="dk1"/>
                          </a:solidFill>
                          <a:latin typeface="Calibri"/>
                          <a:ea typeface="Calibri"/>
                          <a:cs typeface="Calibri"/>
                          <a:sym typeface="Calibri"/>
                        </a:rPr>
                        <a:t> usability, functionality, and overall user satisfaction. Given the complexity of such platforms, a robust design approach is essential for user adoption and success.</a:t>
                      </a:r>
                      <a:endParaRPr sz="1000">
                        <a:solidFill>
                          <a:schemeClr val="dk1"/>
                        </a:solidFill>
                        <a:highlight>
                          <a:srgbClr val="FFFFFF"/>
                        </a:highlight>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latin typeface="Calibri"/>
                          <a:ea typeface="Calibri"/>
                          <a:cs typeface="Calibri"/>
                          <a:sym typeface="Calibri"/>
                        </a:rPr>
                        <a:t>Created an Art of Possible version called CommerceX to demonstrate potential future use cases.</a:t>
                      </a:r>
                      <a:endParaRPr sz="1000">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latin typeface="Calibri"/>
                          <a:ea typeface="Calibri"/>
                          <a:cs typeface="Calibri"/>
                          <a:sym typeface="Calibri"/>
                        </a:rPr>
                        <a:t>Dashboard of Quote progress visibility, simplification of Tiered Discounts, browse and search strategy for BOM, Order tracking, and reduction in support queries.</a:t>
                      </a:r>
                      <a:endParaRPr sz="1000">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latin typeface="Calibri"/>
                          <a:ea typeface="Calibri"/>
                          <a:cs typeface="Calibri"/>
                          <a:sym typeface="Calibri"/>
                        </a:rPr>
                        <a:t>Unified silos under uber categories - New Business and Repeat Business on the platform with global and contextual navigation patterns.</a:t>
                      </a:r>
                      <a:endParaRPr sz="1000">
                        <a:latin typeface="Calibri"/>
                        <a:ea typeface="Calibri"/>
                        <a:cs typeface="Calibri"/>
                        <a:sym typeface="Calibri"/>
                      </a:endParaRPr>
                    </a:p>
                    <a:p>
                      <a:pPr indent="0" lvl="0" marL="0" rtl="0" algn="l">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Design Skills: </a:t>
                      </a:r>
                      <a:r>
                        <a:rPr lang="en-US" sz="1000">
                          <a:solidFill>
                            <a:schemeClr val="dk1"/>
                          </a:solidFill>
                          <a:latin typeface="Calibri"/>
                          <a:ea typeface="Calibri"/>
                          <a:cs typeface="Calibri"/>
                          <a:sym typeface="Calibri"/>
                        </a:rPr>
                        <a:t>UX Strategy, Product Ideation and Realization, UX Mapping Workshops and Rapid Prototyping, Design Systems and Component Libraries</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Methodology: </a:t>
                      </a:r>
                      <a:r>
                        <a:rPr lang="en-US" sz="1000">
                          <a:solidFill>
                            <a:schemeClr val="dk1"/>
                          </a:solidFill>
                          <a:latin typeface="Calibri"/>
                          <a:ea typeface="Calibri"/>
                          <a:cs typeface="Calibri"/>
                          <a:sym typeface="Calibri"/>
                        </a:rPr>
                        <a:t>Agile/Scrum</a:t>
                      </a:r>
                      <a:endParaRPr b="1" sz="1000">
                        <a:solidFill>
                          <a:schemeClr val="dk1"/>
                        </a:solidFill>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A seasoned Design Leader with over two decades of experience. I've collaborated with Fortune 500 giants and agile startups alike, focusing on sectors like healthcare, e-commerce, and more. But what truly sets me apart? It's my ability to seamlessly blend design with business. Whether it's aligning design goals with your business objectives or transforming your product vision into a tangible strategy, I've got you covered.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Holding a Bachelor of Fine Arts, expertly led dynamic teams in User Experience Strategy, UX Mapping Workshops, User Interface Design, Product Ideation to Realization, Design Audit, Design Fiction, and Sketchnoting. </a:t>
                      </a:r>
                      <a:endParaRPr sz="13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26" name="Google Shape;526;p30"/>
          <p:cNvPicPr preferRelativeResize="0"/>
          <p:nvPr/>
        </p:nvPicPr>
        <p:blipFill>
          <a:blip r:embed="rId3">
            <a:alphaModFix/>
          </a:blip>
          <a:stretch>
            <a:fillRect/>
          </a:stretch>
        </p:blipFill>
        <p:spPr>
          <a:xfrm>
            <a:off x="4160097" y="838925"/>
            <a:ext cx="291200" cy="291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1"/>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Engagement Manager</a:t>
            </a:r>
            <a:endParaRPr/>
          </a:p>
        </p:txBody>
      </p:sp>
      <p:graphicFrame>
        <p:nvGraphicFramePr>
          <p:cNvPr id="533" name="Google Shape;533;p31"/>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Natasha Roy</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b="1" lang="en-US" sz="1000">
                          <a:solidFill>
                            <a:schemeClr val="dk1"/>
                          </a:solidFill>
                          <a:latin typeface="Calibri"/>
                          <a:ea typeface="Calibri"/>
                          <a:cs typeface="Calibri"/>
                          <a:sym typeface="Calibri"/>
                        </a:rPr>
                        <a:t>Engagement Manager/Program Manager, Quote-to-Cash &amp; ERP Solutions</a:t>
                      </a:r>
                      <a:endParaRPr b="1" sz="1000">
                        <a:solidFill>
                          <a:schemeClr val="dk1"/>
                        </a:solidFill>
                        <a:latin typeface="Calibri"/>
                        <a:ea typeface="Calibri"/>
                        <a:cs typeface="Calibri"/>
                        <a:sym typeface="Calibri"/>
                      </a:endParaRPr>
                    </a:p>
                    <a:p>
                      <a:pPr indent="0" lvl="0" marL="285750" marR="0" rtl="0" algn="l">
                        <a:lnSpc>
                          <a:spcPct val="100000"/>
                        </a:lnSpc>
                        <a:spcBef>
                          <a:spcPts val="0"/>
                        </a:spcBef>
                        <a:spcAft>
                          <a:spcPts val="0"/>
                        </a:spcAft>
                        <a:buNone/>
                      </a:pPr>
                      <a:r>
                        <a:rPr lang="en-US" sz="1000">
                          <a:solidFill>
                            <a:schemeClr val="dk1"/>
                          </a:solidFill>
                          <a:latin typeface="Calibri"/>
                          <a:ea typeface="Calibri"/>
                          <a:cs typeface="Calibri"/>
                          <a:sym typeface="Calibri"/>
                        </a:rPr>
                        <a:t>Manage business transformation programs spanning the full project lifecycle, owning the Customers’ Services</a:t>
                      </a:r>
                      <a:endParaRPr sz="1000">
                        <a:solidFill>
                          <a:schemeClr val="dk1"/>
                        </a:solidFill>
                        <a:latin typeface="Calibri"/>
                        <a:ea typeface="Calibri"/>
                        <a:cs typeface="Calibri"/>
                        <a:sym typeface="Calibri"/>
                      </a:endParaRPr>
                    </a:p>
                    <a:p>
                      <a:pPr indent="0" lvl="0" marL="285750" marR="0" rtl="0" algn="l">
                        <a:lnSpc>
                          <a:spcPct val="100000"/>
                        </a:lnSpc>
                        <a:spcBef>
                          <a:spcPts val="0"/>
                        </a:spcBef>
                        <a:spcAft>
                          <a:spcPts val="0"/>
                        </a:spcAft>
                        <a:buNone/>
                      </a:pPr>
                      <a:r>
                        <a:rPr lang="en-US" sz="1000">
                          <a:solidFill>
                            <a:schemeClr val="dk1"/>
                          </a:solidFill>
                          <a:latin typeface="Calibri"/>
                          <a:ea typeface="Calibri"/>
                          <a:cs typeface="Calibri"/>
                          <a:sym typeface="Calibri"/>
                        </a:rPr>
                        <a:t>journey from pre-sales to post-sales</a:t>
                      </a:r>
                      <a:endParaRPr sz="1000">
                        <a:solidFill>
                          <a:schemeClr val="dk1"/>
                        </a:solidFill>
                        <a:latin typeface="Calibri"/>
                        <a:ea typeface="Calibri"/>
                        <a:cs typeface="Calibri"/>
                        <a:sym typeface="Calibri"/>
                      </a:endParaRPr>
                    </a:p>
                    <a:p>
                      <a:pPr indent="-177800" lvl="0" marL="285750" rtl="0" algn="l">
                        <a:spcBef>
                          <a:spcPts val="0"/>
                        </a:spcBef>
                        <a:spcAft>
                          <a:spcPts val="0"/>
                        </a:spcAft>
                        <a:buClr>
                          <a:srgbClr val="1FA0DD"/>
                        </a:buClr>
                        <a:buSzPts val="1000"/>
                        <a:buFont typeface="Calibri"/>
                        <a:buChar char="→"/>
                      </a:pPr>
                      <a:r>
                        <a:rPr b="1" lang="en-US" sz="1000">
                          <a:solidFill>
                            <a:schemeClr val="dk1"/>
                          </a:solidFill>
                          <a:latin typeface="Calibri"/>
                          <a:ea typeface="Calibri"/>
                          <a:cs typeface="Calibri"/>
                          <a:sym typeface="Calibri"/>
                        </a:rPr>
                        <a:t>Business Analyst, Quote-to-Cash</a:t>
                      </a:r>
                      <a:endParaRPr b="1" sz="1000">
                        <a:solidFill>
                          <a:schemeClr val="dk1"/>
                        </a:solidFill>
                        <a:latin typeface="Calibri"/>
                        <a:ea typeface="Calibri"/>
                        <a:cs typeface="Calibri"/>
                        <a:sym typeface="Calibri"/>
                      </a:endParaRPr>
                    </a:p>
                    <a:p>
                      <a:pPr indent="0" lvl="0" marL="285750" rtl="0" algn="l">
                        <a:spcBef>
                          <a:spcPts val="0"/>
                        </a:spcBef>
                        <a:spcAft>
                          <a:spcPts val="0"/>
                        </a:spcAft>
                        <a:buNone/>
                      </a:pPr>
                      <a:r>
                        <a:rPr lang="en-US" sz="1000">
                          <a:solidFill>
                            <a:schemeClr val="dk1"/>
                          </a:solidFill>
                          <a:latin typeface="Calibri"/>
                          <a:ea typeface="Calibri"/>
                          <a:cs typeface="Calibri"/>
                          <a:sym typeface="Calibri"/>
                        </a:rPr>
                        <a:t>Engaged as part of the Apttus Professional Services team on Configure-Price-Quote (CPQ) implementation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Skills and Applications: </a:t>
                      </a:r>
                      <a:r>
                        <a:rPr lang="en-US" sz="1000">
                          <a:solidFill>
                            <a:schemeClr val="dk1"/>
                          </a:solidFill>
                          <a:latin typeface="Calibri"/>
                          <a:ea typeface="Calibri"/>
                          <a:cs typeface="Calibri"/>
                          <a:sym typeface="Calibri"/>
                        </a:rPr>
                        <a:t>Smartsheet, Jira/Confluence, Visio, Kanban, Google Suite, MS Office, Agile SAFe, Salesforce Administrator, Salesforce CPQ Specialist, Apttus (Conga) CPQ</a:t>
                      </a:r>
                      <a:endParaRPr sz="1000">
                        <a:solidFill>
                          <a:schemeClr val="dk1"/>
                        </a:solidFill>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Salesforce Administration experience, creating, maintaining roles, user profiles, and permissions</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Experience in CPQ configuration; Products, Pricing &amp; Discounts, General Shopping cart functionality, Quoting and Quote Proposal Templates using X-author Word</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Proficient in customizing </a:t>
                      </a:r>
                      <a:r>
                        <a:rPr lang="en-US" sz="1300">
                          <a:solidFill>
                            <a:schemeClr val="dk1"/>
                          </a:solidFill>
                          <a:latin typeface="Calibri"/>
                          <a:ea typeface="Calibri"/>
                          <a:cs typeface="Calibri"/>
                          <a:sym typeface="Calibri"/>
                        </a:rPr>
                        <a:t>Conga</a:t>
                      </a:r>
                      <a:r>
                        <a:rPr lang="en-US" sz="1300">
                          <a:latin typeface="Calibri"/>
                          <a:ea typeface="Calibri"/>
                          <a:cs typeface="Calibri"/>
                          <a:sym typeface="Calibri"/>
                        </a:rPr>
                        <a:t> product configurator and quote application per business needs</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Analyze existing systems, business processes, functionalities and future requirements to implement Conga CPQ tool for Customers</a:t>
                      </a:r>
                      <a:endParaRPr sz="10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34" name="Google Shape;534;p31"/>
          <p:cNvPicPr preferRelativeResize="0"/>
          <p:nvPr/>
        </p:nvPicPr>
        <p:blipFill>
          <a:blip r:embed="rId3">
            <a:alphaModFix/>
          </a:blip>
          <a:stretch>
            <a:fillRect/>
          </a:stretch>
        </p:blipFill>
        <p:spPr>
          <a:xfrm>
            <a:off x="4152625" y="829000"/>
            <a:ext cx="296200" cy="296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2"/>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Solution</a:t>
            </a:r>
            <a:r>
              <a:rPr lang="en-US"/>
              <a:t> Architect</a:t>
            </a:r>
            <a:endParaRPr/>
          </a:p>
        </p:txBody>
      </p:sp>
      <p:graphicFrame>
        <p:nvGraphicFramePr>
          <p:cNvPr id="541" name="Google Shape;541;p32"/>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Sudha Krishna Sunkavalli</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Docusign CPQ - Conga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Amagi CPQ - Salesforce CPQ &amp; Billing</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Pivotree CPQ -SAP (Calliduscloud)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Harmonic CPQ &amp; Billing Implementation - Conga CPQ &amp; Billing</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Redhat CPQ Advisory - Conga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Fruit of the Loom ECommerce - Conga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Insidesales ECommerce - Conga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Imprivata CPQ  - Conga CPQ</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Neopost CPQ - Conga CPQ</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000">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Significant Highlights:</a:t>
                      </a:r>
                      <a:endParaRPr sz="900">
                        <a:solidFill>
                          <a:schemeClr val="dk1"/>
                        </a:solidFill>
                        <a:latin typeface="Calibri"/>
                        <a:ea typeface="Calibri"/>
                        <a:cs typeface="Calibri"/>
                        <a:sym typeface="Calibri"/>
                      </a:endParaRPr>
                    </a:p>
                    <a:p>
                      <a:pPr indent="-177800" lvl="0" marL="285750" rtl="0" algn="l">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My role as a Solution Architect involves understanding the current business process, capturing the business requirements, creating a solution design to address the requirements and handle the overall implementation of the solution by coordinating with business, developers and configuration engineers. </a:t>
                      </a:r>
                      <a:endParaRPr b="1" sz="1200">
                        <a:solidFill>
                          <a:srgbClr val="01225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15 years’ experience in various roles that include Solutions Lead, Senior Solution Architect, Business Analyst, IT Analyst across the sales, channels &amp; finance functional areas.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Responsible for designing the solutions to configure and implement the Apttus CPQ product based on customer’s requirements. </a:t>
                      </a:r>
                      <a:endParaRPr sz="13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42" name="Google Shape;542;p32"/>
          <p:cNvPicPr preferRelativeResize="0"/>
          <p:nvPr/>
        </p:nvPicPr>
        <p:blipFill>
          <a:blip r:embed="rId3">
            <a:alphaModFix/>
          </a:blip>
          <a:stretch>
            <a:fillRect/>
          </a:stretch>
        </p:blipFill>
        <p:spPr>
          <a:xfrm>
            <a:off x="4145475" y="818810"/>
            <a:ext cx="314525" cy="314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3"/>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Business Analyst</a:t>
            </a:r>
            <a:endParaRPr/>
          </a:p>
        </p:txBody>
      </p:sp>
      <p:graphicFrame>
        <p:nvGraphicFramePr>
          <p:cNvPr id="549" name="Google Shape;549;p33"/>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Nishanth Ramesh</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NovAtel (part of Hexagon): Apttus Ecommerce</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CEB Global (Now Gartner): Apttus Ecommerce</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Inmar Analytics Inc.: Apttus CPQ &amp; Ecommerce</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WatchGuard Technologies, Inc: Apttus Ecommerce</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Fruit of the Loom International: Apttus CPQ &amp; Ecommerce</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Significant Highlights:</a:t>
                      </a:r>
                      <a:endParaRPr sz="900">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Understand customer organisation and departmental strategy and agree information systems solutions to meet needs. </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Designing, specifying and selecting information system solutions, considering functionality, data, security, integration, infrastructure and performance. </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Develop and maintain a model of future web architecture and design a structure that is stable, resilient and performant. </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Handle pre-sales activities to win projects and take it all the way to delivery. </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Estimate cost, and prepare business cases for IT solutions, considering infrastructure, licenses, development and support </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Work with the Project Managers and Business Analysts to develop high level project schedule resource plans for implementation projects.</a:t>
                      </a:r>
                      <a:endParaRPr sz="1000">
                        <a:solidFill>
                          <a:schemeClr val="dk1"/>
                        </a:solidFill>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9+ years of experience in Solution design, Business analysis, Project Management, Consultation and Implementation in CRM domain.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Requirement Gathering, Product Backlog Grooming and facilitating daily Scrum Calls.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Analyze and map processes (current state/future state) and improve business processes by gathering and defining business requirements &amp; needs.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Act as an interface between business teams and internal and external technical teams. </a:t>
                      </a:r>
                      <a:endParaRPr sz="1300">
                        <a:latin typeface="Calibri"/>
                        <a:ea typeface="Calibri"/>
                        <a:cs typeface="Calibri"/>
                        <a:sym typeface="Calibri"/>
                      </a:endParaRPr>
                    </a:p>
                    <a:p>
                      <a:pPr indent="-196850" lvl="0" marL="285750" rtl="0" algn="l">
                        <a:spcBef>
                          <a:spcPts val="0"/>
                        </a:spcBef>
                        <a:spcAft>
                          <a:spcPts val="0"/>
                        </a:spcAft>
                        <a:buClr>
                          <a:srgbClr val="1FA0DD"/>
                        </a:buClr>
                        <a:buSzPts val="1300"/>
                        <a:buFont typeface="Calibri"/>
                        <a:buChar char="→"/>
                      </a:pPr>
                      <a:r>
                        <a:rPr lang="en-US" sz="1300">
                          <a:latin typeface="Calibri"/>
                          <a:ea typeface="Calibri"/>
                          <a:cs typeface="Calibri"/>
                          <a:sym typeface="Calibri"/>
                        </a:rPr>
                        <a:t>Identifying and analysis of business processes and work practices. Provide key suggestions for Process improvements. </a:t>
                      </a:r>
                      <a:endParaRPr sz="13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50" name="Google Shape;550;p33"/>
          <p:cNvPicPr preferRelativeResize="0"/>
          <p:nvPr/>
        </p:nvPicPr>
        <p:blipFill>
          <a:blip r:embed="rId3">
            <a:alphaModFix/>
          </a:blip>
          <a:stretch>
            <a:fillRect/>
          </a:stretch>
        </p:blipFill>
        <p:spPr>
          <a:xfrm>
            <a:off x="4177350" y="847197"/>
            <a:ext cx="270300" cy="270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4"/>
          <p:cNvSpPr txBox="1"/>
          <p:nvPr>
            <p:ph type="title"/>
          </p:nvPr>
        </p:nvSpPr>
        <p:spPr>
          <a:xfrm>
            <a:off x="496851" y="-21263"/>
            <a:ext cx="7886700" cy="649200"/>
          </a:xfrm>
          <a:prstGeom prst="rect">
            <a:avLst/>
          </a:prstGeom>
        </p:spPr>
        <p:txBody>
          <a:bodyPr anchorCtr="0" anchor="ctr" bIns="25700" lIns="51425" spcFirstLastPara="1" rIns="51425" wrap="square" tIns="25700">
            <a:noAutofit/>
          </a:bodyPr>
          <a:lstStyle/>
          <a:p>
            <a:pPr indent="0" lvl="0" marL="0" rtl="0" algn="l">
              <a:spcBef>
                <a:spcPts val="0"/>
              </a:spcBef>
              <a:spcAft>
                <a:spcPts val="0"/>
              </a:spcAft>
              <a:buNone/>
            </a:pPr>
            <a:r>
              <a:rPr lang="en-US"/>
              <a:t>Technical Architect</a:t>
            </a:r>
            <a:endParaRPr/>
          </a:p>
        </p:txBody>
      </p:sp>
      <p:graphicFrame>
        <p:nvGraphicFramePr>
          <p:cNvPr id="557" name="Google Shape;557;p34"/>
          <p:cNvGraphicFramePr/>
          <p:nvPr/>
        </p:nvGraphicFramePr>
        <p:xfrm>
          <a:off x="572725" y="780325"/>
          <a:ext cx="3000000" cy="3000000"/>
        </p:xfrm>
        <a:graphic>
          <a:graphicData uri="http://schemas.openxmlformats.org/drawingml/2006/table">
            <a:tbl>
              <a:tblPr>
                <a:noFill/>
                <a:tableStyleId>{07876114-0284-437C-941D-8F7499022289}</a:tableStyleId>
              </a:tblPr>
              <a:tblGrid>
                <a:gridCol w="3938000"/>
                <a:gridCol w="4140950"/>
              </a:tblGrid>
              <a:tr h="296525">
                <a:tc>
                  <a:txBody>
                    <a:bodyPr/>
                    <a:lstStyle/>
                    <a:p>
                      <a:pPr indent="0" lvl="0" marL="0" rtl="0" algn="l">
                        <a:spcBef>
                          <a:spcPts val="0"/>
                        </a:spcBef>
                        <a:spcAft>
                          <a:spcPts val="0"/>
                        </a:spcAft>
                        <a:buNone/>
                      </a:pPr>
                      <a:r>
                        <a:rPr b="1" lang="en-US">
                          <a:solidFill>
                            <a:srgbClr val="FFFFFF"/>
                          </a:solidFill>
                          <a:latin typeface="Montserrat"/>
                          <a:ea typeface="Montserrat"/>
                          <a:cs typeface="Montserrat"/>
                          <a:sym typeface="Montserrat"/>
                        </a:rPr>
                        <a:t>Sudi Pitchaiah</a:t>
                      </a:r>
                      <a:endParaRPr b="1">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gradFill>
                      <a:gsLst>
                        <a:gs pos="0">
                          <a:srgbClr val="21A0DD"/>
                        </a:gs>
                        <a:gs pos="100000">
                          <a:srgbClr val="0B5394"/>
                        </a:gs>
                      </a:gsLst>
                      <a:lin ang="0" scaled="0"/>
                    </a:gradFill>
                  </a:tcPr>
                </a:tc>
                <a:tc rowSpan="2">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Recent Projects</a:t>
                      </a:r>
                      <a:endParaRPr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Provided technical solutions on Conga CPQ customizations for High tech, manufacture clients.</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Conga Harmony Project - Sales cloud , Service, Customer communities implementations.</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CPQ Gold Image -  Service console Custom product for consumer Goods case management and fulfilment.</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Implemented salesforce sales process application for quote create and proposal management.</a:t>
                      </a:r>
                      <a:endParaRPr sz="1000">
                        <a:solidFill>
                          <a:schemeClr val="dk1"/>
                        </a:solidFill>
                        <a:latin typeface="Calibri"/>
                        <a:ea typeface="Calibri"/>
                        <a:cs typeface="Calibri"/>
                        <a:sym typeface="Calibri"/>
                      </a:endParaRPr>
                    </a:p>
                    <a:p>
                      <a:pPr indent="-177800" lvl="0" marL="285750" marR="0" rtl="0" algn="l">
                        <a:lnSpc>
                          <a:spcPct val="100000"/>
                        </a:lnSpc>
                        <a:spcBef>
                          <a:spcPts val="0"/>
                        </a:spcBef>
                        <a:spcAft>
                          <a:spcPts val="0"/>
                        </a:spcAft>
                        <a:buClr>
                          <a:srgbClr val="1FA0DD"/>
                        </a:buClr>
                        <a:buSzPts val="1000"/>
                        <a:buFont typeface="Calibri"/>
                        <a:buChar char="→"/>
                      </a:pPr>
                      <a:r>
                        <a:rPr lang="en-US" sz="1000">
                          <a:solidFill>
                            <a:schemeClr val="dk1"/>
                          </a:solidFill>
                          <a:latin typeface="Calibri"/>
                          <a:ea typeface="Calibri"/>
                          <a:cs typeface="Calibri"/>
                          <a:sym typeface="Calibri"/>
                        </a:rPr>
                        <a:t>Implemented / maintain Cisco TAC application (Salesforce custom build Casemon application)</a:t>
                      </a:r>
                      <a:endParaRPr sz="1000">
                        <a:solidFill>
                          <a:schemeClr val="dk1"/>
                        </a:solidFill>
                        <a:latin typeface="Calibri"/>
                        <a:ea typeface="Calibri"/>
                        <a:cs typeface="Calibri"/>
                        <a:sym typeface="Calibri"/>
                      </a:endParaRPr>
                    </a:p>
                    <a:p>
                      <a:pPr indent="0" lvl="0" marL="28575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000">
                          <a:solidFill>
                            <a:schemeClr val="dk1"/>
                          </a:solidFill>
                          <a:latin typeface="Calibri"/>
                          <a:ea typeface="Calibri"/>
                          <a:cs typeface="Calibri"/>
                          <a:sym typeface="Calibri"/>
                        </a:rPr>
                        <a:t>Salesforce Skills</a:t>
                      </a:r>
                      <a:r>
                        <a:rPr lang="en-US" sz="1000">
                          <a:solidFill>
                            <a:schemeClr val="dk1"/>
                          </a:solidFill>
                          <a:latin typeface="Calibri"/>
                          <a:ea typeface="Calibri"/>
                          <a:cs typeface="Calibri"/>
                          <a:sym typeface="Calibri"/>
                        </a:rPr>
                        <a:t>:  Service cloud , Sales cloud, Conga CPQ,CLM, Experience cloud, Pardot, Conga Composer, Fulfilment process in Consumer goods.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000">
                          <a:solidFill>
                            <a:schemeClr val="dk1"/>
                          </a:solidFill>
                          <a:latin typeface="Calibri"/>
                          <a:ea typeface="Calibri"/>
                          <a:cs typeface="Calibri"/>
                          <a:sym typeface="Calibri"/>
                        </a:rPr>
                        <a:t>Technical Skills</a:t>
                      </a:r>
                      <a:r>
                        <a:rPr lang="en-US" sz="1000">
                          <a:solidFill>
                            <a:schemeClr val="dk1"/>
                          </a:solidFill>
                          <a:latin typeface="Calibri"/>
                          <a:ea typeface="Calibri"/>
                          <a:cs typeface="Calibri"/>
                          <a:sym typeface="Calibri"/>
                        </a:rPr>
                        <a:t>: Have a sound knowledge in salesforce, Apex,VF, LWC,Aura,Lightning,jQuery, ExtJs,REST,Streaming,Bulk,SOAP API, Javascript,SOQL,SOSL, Apex Web Services, AJAX, Canvas SDK, Publisher actions, Salesforce mobile implementation.</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000">
                          <a:solidFill>
                            <a:schemeClr val="dk1"/>
                          </a:solidFill>
                          <a:latin typeface="Calibri"/>
                          <a:ea typeface="Calibri"/>
                          <a:cs typeface="Calibri"/>
                          <a:sym typeface="Calibri"/>
                        </a:rPr>
                        <a:t>Tools:</a:t>
                      </a:r>
                      <a:r>
                        <a:rPr lang="en-US" sz="1000">
                          <a:solidFill>
                            <a:schemeClr val="dk1"/>
                          </a:solidFill>
                          <a:latin typeface="Calibri"/>
                          <a:ea typeface="Calibri"/>
                          <a:cs typeface="Calibri"/>
                          <a:sym typeface="Calibri"/>
                        </a:rPr>
                        <a:t> VsCoder,Eclipse, Force.com Eclipse IDE Plug-in, Force.com Data Loader, Force.com Platform, Melissa Address search, Conga composer,Visual Studio code, Ant, Jenkins, Bit bucket, Copado, Flosum</a:t>
                      </a:r>
                      <a:endParaRPr sz="1000">
                        <a:solidFill>
                          <a:schemeClr val="dk1"/>
                        </a:solidFill>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1850800">
                <a:tc>
                  <a:txBody>
                    <a:bodyPr/>
                    <a:lstStyle/>
                    <a:p>
                      <a:pPr indent="0" lvl="0" marL="0" rtl="0" algn="l">
                        <a:spcBef>
                          <a:spcPts val="0"/>
                        </a:spcBef>
                        <a:spcAft>
                          <a:spcPts val="0"/>
                        </a:spcAft>
                        <a:buNone/>
                      </a:pPr>
                      <a:r>
                        <a:rPr b="1" lang="en-US" sz="1200">
                          <a:solidFill>
                            <a:srgbClr val="012251"/>
                          </a:solidFill>
                          <a:latin typeface="Montserrat"/>
                          <a:ea typeface="Montserrat"/>
                          <a:cs typeface="Montserrat"/>
                          <a:sym typeface="Montserrat"/>
                        </a:rPr>
                        <a:t>Experience Summary</a:t>
                      </a:r>
                      <a:endParaRPr b="1" sz="1200">
                        <a:solidFill>
                          <a:srgbClr val="012251"/>
                        </a:solidFill>
                        <a:latin typeface="Montserrat"/>
                        <a:ea typeface="Montserrat"/>
                        <a:cs typeface="Montserrat"/>
                        <a:sym typeface="Montserrat"/>
                      </a:endParaRPr>
                    </a:p>
                    <a:p>
                      <a:pPr indent="0" lvl="0" marL="0" rtl="0" algn="l">
                        <a:spcBef>
                          <a:spcPts val="0"/>
                        </a:spcBef>
                        <a:spcAft>
                          <a:spcPts val="0"/>
                        </a:spcAft>
                        <a:buNone/>
                      </a:pPr>
                      <a:r>
                        <a:t/>
                      </a:r>
                      <a:endParaRPr sz="800">
                        <a:latin typeface="Montserrat"/>
                        <a:ea typeface="Montserrat"/>
                        <a:cs typeface="Montserrat"/>
                        <a:sym typeface="Montserrat"/>
                      </a:endParaRPr>
                    </a:p>
                    <a:p>
                      <a:pPr indent="-196850" lvl="0" marL="285750" marR="0" rtl="0" algn="l">
                        <a:lnSpc>
                          <a:spcPct val="100000"/>
                        </a:lnSpc>
                        <a:spcBef>
                          <a:spcPts val="0"/>
                        </a:spcBef>
                        <a:spcAft>
                          <a:spcPts val="0"/>
                        </a:spcAft>
                        <a:buClr>
                          <a:srgbClr val="1FA0DD"/>
                        </a:buClr>
                        <a:buSzPts val="1300"/>
                        <a:buFont typeface="Calibri"/>
                        <a:buChar char="→"/>
                      </a:pPr>
                      <a:r>
                        <a:rPr lang="en-US" sz="1300">
                          <a:latin typeface="Calibri"/>
                          <a:ea typeface="Calibri"/>
                          <a:cs typeface="Calibri"/>
                          <a:sym typeface="Calibri"/>
                        </a:rPr>
                        <a:t>Over all 17+ Years of IT experience that includes 13+ years’ experience in Salesforce.com CRM Platform Used the Agile methodology, 2+ as a scrum master role and 3+ years of experience with .Net technologies. Involved in various stages of Software Development Life Cycle (SDLC) including development, enhancements, deployment and maintenance of standalone object-oriented enterprise applications.</a:t>
                      </a:r>
                      <a:endParaRPr sz="1000">
                        <a:solidFill>
                          <a:schemeClr val="dk1"/>
                        </a:solidFill>
                        <a:latin typeface="Verdana"/>
                        <a:ea typeface="Verdana"/>
                        <a:cs typeface="Verdana"/>
                        <a:sym typeface="Verdana"/>
                      </a:endParaRPr>
                    </a:p>
                    <a:p>
                      <a:pPr indent="-196850" lvl="0" marL="285750" marR="0" rtl="0" algn="l">
                        <a:lnSpc>
                          <a:spcPct val="100000"/>
                        </a:lnSpc>
                        <a:spcBef>
                          <a:spcPts val="0"/>
                        </a:spcBef>
                        <a:spcAft>
                          <a:spcPts val="0"/>
                        </a:spcAft>
                        <a:buClr>
                          <a:srgbClr val="1FA0DD"/>
                        </a:buClr>
                        <a:buSzPts val="1300"/>
                        <a:buFont typeface="Calibri"/>
                        <a:buChar char="→"/>
                      </a:pPr>
                      <a:r>
                        <a:rPr lang="en-US" sz="1300">
                          <a:latin typeface="Calibri"/>
                          <a:ea typeface="Calibri"/>
                          <a:cs typeface="Calibri"/>
                          <a:sym typeface="Calibri"/>
                        </a:rPr>
                        <a:t>Release Manager using CI/CD tools  (Jenkins,BitBucket,Copado,Git,Flosum).</a:t>
                      </a:r>
                      <a:endParaRPr sz="1300">
                        <a:latin typeface="Calibri"/>
                        <a:ea typeface="Calibri"/>
                        <a:cs typeface="Calibri"/>
                        <a:sym typeface="Calibri"/>
                      </a:endParaRPr>
                    </a:p>
                    <a:p>
                      <a:pPr indent="-196850" lvl="0" marL="285750" marR="0" rtl="0" algn="l">
                        <a:lnSpc>
                          <a:spcPct val="100000"/>
                        </a:lnSpc>
                        <a:spcBef>
                          <a:spcPts val="0"/>
                        </a:spcBef>
                        <a:spcAft>
                          <a:spcPts val="0"/>
                        </a:spcAft>
                        <a:buClr>
                          <a:srgbClr val="1FA0DD"/>
                        </a:buClr>
                        <a:buSzPts val="1300"/>
                        <a:buFont typeface="Calibri"/>
                        <a:buChar char="→"/>
                      </a:pPr>
                      <a:r>
                        <a:rPr lang="en-US" sz="1300">
                          <a:latin typeface="Calibri"/>
                          <a:ea typeface="Calibri"/>
                          <a:cs typeface="Calibri"/>
                          <a:sym typeface="Calibri"/>
                        </a:rPr>
                        <a:t>Agile Scrum Master &amp; JIRA Admin.</a:t>
                      </a:r>
                      <a:endParaRPr sz="1000">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300">
                        <a:latin typeface="Calibri"/>
                        <a:ea typeface="Calibri"/>
                        <a:cs typeface="Calibri"/>
                        <a:sym typeface="Calibri"/>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r>
            </a:tbl>
          </a:graphicData>
        </a:graphic>
      </p:graphicFrame>
      <p:pic>
        <p:nvPicPr>
          <p:cNvPr id="558" name="Google Shape;558;p34"/>
          <p:cNvPicPr preferRelativeResize="0"/>
          <p:nvPr/>
        </p:nvPicPr>
        <p:blipFill>
          <a:blip r:embed="rId3">
            <a:alphaModFix/>
          </a:blip>
          <a:stretch>
            <a:fillRect/>
          </a:stretch>
        </p:blipFill>
        <p:spPr>
          <a:xfrm>
            <a:off x="4138675" y="837750"/>
            <a:ext cx="289900" cy="289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rsys">
  <a:themeElements>
    <a:clrScheme name="McD color scheme">
      <a:dk1>
        <a:srgbClr val="000000"/>
      </a:dk1>
      <a:lt1>
        <a:srgbClr val="FFFFFF"/>
      </a:lt1>
      <a:dk2>
        <a:srgbClr val="8EAFDE"/>
      </a:dk2>
      <a:lt2>
        <a:srgbClr val="E7E6E6"/>
      </a:lt2>
      <a:accent1>
        <a:srgbClr val="E31737"/>
      </a:accent1>
      <a:accent2>
        <a:srgbClr val="FFC427"/>
      </a:accent2>
      <a:accent3>
        <a:srgbClr val="B4D78E"/>
      </a:accent3>
      <a:accent4>
        <a:srgbClr val="749CD3"/>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